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0E37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425309" y="380"/>
            <a:ext cx="4763770" cy="6858000"/>
          </a:xfrm>
          <a:custGeom>
            <a:avLst/>
            <a:gdLst/>
            <a:ahLst/>
            <a:cxnLst/>
            <a:rect l="l" t="t" r="r" b="b"/>
            <a:pathLst>
              <a:path w="4763770" h="6858000">
                <a:moveTo>
                  <a:pt x="1946148" y="0"/>
                </a:moveTo>
                <a:lnTo>
                  <a:pt x="3165348" y="6857999"/>
                </a:lnTo>
              </a:path>
              <a:path w="4763770" h="6858000">
                <a:moveTo>
                  <a:pt x="4763516" y="3681222"/>
                </a:moveTo>
                <a:lnTo>
                  <a:pt x="0" y="6857808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181338" y="0"/>
            <a:ext cx="3007995" cy="6858000"/>
          </a:xfrm>
          <a:custGeom>
            <a:avLst/>
            <a:gdLst/>
            <a:ahLst/>
            <a:cxnLst/>
            <a:rect l="l" t="t" r="r" b="b"/>
            <a:pathLst>
              <a:path w="3007995" h="6858000">
                <a:moveTo>
                  <a:pt x="3007613" y="0"/>
                </a:moveTo>
                <a:lnTo>
                  <a:pt x="2043218" y="0"/>
                </a:lnTo>
                <a:lnTo>
                  <a:pt x="0" y="6858000"/>
                </a:lnTo>
                <a:lnTo>
                  <a:pt x="3007613" y="6858000"/>
                </a:lnTo>
                <a:lnTo>
                  <a:pt x="3007613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604962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37" y="0"/>
                </a:moveTo>
                <a:lnTo>
                  <a:pt x="0" y="0"/>
                </a:lnTo>
                <a:lnTo>
                  <a:pt x="1207944" y="6858000"/>
                </a:lnTo>
                <a:lnTo>
                  <a:pt x="2587037" y="6858000"/>
                </a:lnTo>
                <a:lnTo>
                  <a:pt x="2587037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37516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435" y="0"/>
                </a:moveTo>
                <a:lnTo>
                  <a:pt x="0" y="0"/>
                </a:lnTo>
                <a:lnTo>
                  <a:pt x="2467895" y="6858000"/>
                </a:lnTo>
                <a:lnTo>
                  <a:pt x="2851435" y="6858000"/>
                </a:lnTo>
                <a:lnTo>
                  <a:pt x="2851435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898886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66" y="0"/>
                </a:moveTo>
                <a:lnTo>
                  <a:pt x="1018438" y="0"/>
                </a:lnTo>
                <a:lnTo>
                  <a:pt x="0" y="6858000"/>
                </a:lnTo>
                <a:lnTo>
                  <a:pt x="1290066" y="6858000"/>
                </a:lnTo>
                <a:lnTo>
                  <a:pt x="1290066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940626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325" y="0"/>
                </a:moveTo>
                <a:lnTo>
                  <a:pt x="0" y="0"/>
                </a:lnTo>
                <a:lnTo>
                  <a:pt x="1107863" y="6858000"/>
                </a:lnTo>
                <a:lnTo>
                  <a:pt x="1248325" y="6858000"/>
                </a:lnTo>
                <a:lnTo>
                  <a:pt x="1248325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0371582" y="3589781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370" y="0"/>
                </a:moveTo>
                <a:lnTo>
                  <a:pt x="0" y="3268217"/>
                </a:lnTo>
                <a:lnTo>
                  <a:pt x="1817370" y="3268217"/>
                </a:lnTo>
                <a:lnTo>
                  <a:pt x="1817370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888" y="606551"/>
            <a:ext cx="2226564" cy="13335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888" y="1338071"/>
            <a:ext cx="3531870" cy="133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457" y="38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90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425309" y="3681602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181338" y="0"/>
            <a:ext cx="3007995" cy="6858000"/>
          </a:xfrm>
          <a:custGeom>
            <a:avLst/>
            <a:gdLst/>
            <a:ahLst/>
            <a:cxnLst/>
            <a:rect l="l" t="t" r="r" b="b"/>
            <a:pathLst>
              <a:path w="3007995" h="6858000">
                <a:moveTo>
                  <a:pt x="3007613" y="0"/>
                </a:moveTo>
                <a:lnTo>
                  <a:pt x="2043218" y="0"/>
                </a:lnTo>
                <a:lnTo>
                  <a:pt x="0" y="6858000"/>
                </a:lnTo>
                <a:lnTo>
                  <a:pt x="3007613" y="6858000"/>
                </a:lnTo>
                <a:lnTo>
                  <a:pt x="3007613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604962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37" y="0"/>
                </a:moveTo>
                <a:lnTo>
                  <a:pt x="0" y="0"/>
                </a:lnTo>
                <a:lnTo>
                  <a:pt x="1207944" y="6858000"/>
                </a:lnTo>
                <a:lnTo>
                  <a:pt x="2587037" y="6858000"/>
                </a:lnTo>
                <a:lnTo>
                  <a:pt x="2587037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37516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435" y="0"/>
                </a:moveTo>
                <a:lnTo>
                  <a:pt x="0" y="0"/>
                </a:lnTo>
                <a:lnTo>
                  <a:pt x="2467895" y="6858000"/>
                </a:lnTo>
                <a:lnTo>
                  <a:pt x="2851435" y="6858000"/>
                </a:lnTo>
                <a:lnTo>
                  <a:pt x="2851435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898886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66" y="0"/>
                </a:moveTo>
                <a:lnTo>
                  <a:pt x="1018438" y="0"/>
                </a:lnTo>
                <a:lnTo>
                  <a:pt x="0" y="6858000"/>
                </a:lnTo>
                <a:lnTo>
                  <a:pt x="1290066" y="6858000"/>
                </a:lnTo>
                <a:lnTo>
                  <a:pt x="1290066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940626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325" y="0"/>
                </a:moveTo>
                <a:lnTo>
                  <a:pt x="0" y="0"/>
                </a:lnTo>
                <a:lnTo>
                  <a:pt x="1107863" y="6858000"/>
                </a:lnTo>
                <a:lnTo>
                  <a:pt x="1248325" y="6858000"/>
                </a:lnTo>
                <a:lnTo>
                  <a:pt x="1248325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0371582" y="3589781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370" y="0"/>
                </a:moveTo>
                <a:lnTo>
                  <a:pt x="0" y="3268217"/>
                </a:lnTo>
                <a:lnTo>
                  <a:pt x="1817370" y="3268217"/>
                </a:lnTo>
                <a:lnTo>
                  <a:pt x="1817370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1569" y="1635638"/>
            <a:ext cx="2188828" cy="502345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043" y="2038349"/>
            <a:ext cx="3626357" cy="133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457" y="38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90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425309" y="3681602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181338" y="0"/>
            <a:ext cx="3007995" cy="6858000"/>
          </a:xfrm>
          <a:custGeom>
            <a:avLst/>
            <a:gdLst/>
            <a:ahLst/>
            <a:cxnLst/>
            <a:rect l="l" t="t" r="r" b="b"/>
            <a:pathLst>
              <a:path w="3007995" h="6858000">
                <a:moveTo>
                  <a:pt x="3007613" y="0"/>
                </a:moveTo>
                <a:lnTo>
                  <a:pt x="2043218" y="0"/>
                </a:lnTo>
                <a:lnTo>
                  <a:pt x="0" y="6858000"/>
                </a:lnTo>
                <a:lnTo>
                  <a:pt x="3007613" y="6858000"/>
                </a:lnTo>
                <a:lnTo>
                  <a:pt x="3007613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604962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37" y="0"/>
                </a:moveTo>
                <a:lnTo>
                  <a:pt x="0" y="0"/>
                </a:lnTo>
                <a:lnTo>
                  <a:pt x="1207944" y="6858000"/>
                </a:lnTo>
                <a:lnTo>
                  <a:pt x="2587037" y="6858000"/>
                </a:lnTo>
                <a:lnTo>
                  <a:pt x="2587037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37516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435" y="0"/>
                </a:moveTo>
                <a:lnTo>
                  <a:pt x="0" y="0"/>
                </a:lnTo>
                <a:lnTo>
                  <a:pt x="2467895" y="6858000"/>
                </a:lnTo>
                <a:lnTo>
                  <a:pt x="2851435" y="6858000"/>
                </a:lnTo>
                <a:lnTo>
                  <a:pt x="2851435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898886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66" y="0"/>
                </a:moveTo>
                <a:lnTo>
                  <a:pt x="1018438" y="0"/>
                </a:lnTo>
                <a:lnTo>
                  <a:pt x="0" y="6858000"/>
                </a:lnTo>
                <a:lnTo>
                  <a:pt x="1290066" y="6858000"/>
                </a:lnTo>
                <a:lnTo>
                  <a:pt x="1290066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940626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325" y="0"/>
                </a:moveTo>
                <a:lnTo>
                  <a:pt x="0" y="0"/>
                </a:lnTo>
                <a:lnTo>
                  <a:pt x="1107863" y="6858000"/>
                </a:lnTo>
                <a:lnTo>
                  <a:pt x="1248325" y="6858000"/>
                </a:lnTo>
                <a:lnTo>
                  <a:pt x="1248325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0371582" y="3589781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370" y="0"/>
                </a:moveTo>
                <a:lnTo>
                  <a:pt x="0" y="3268217"/>
                </a:lnTo>
                <a:lnTo>
                  <a:pt x="1817370" y="3268217"/>
                </a:lnTo>
                <a:lnTo>
                  <a:pt x="1817370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1457" y="380"/>
            <a:ext cx="1219200" cy="6858000"/>
          </a:xfrm>
          <a:custGeom>
            <a:avLst/>
            <a:gdLst/>
            <a:ahLst/>
            <a:cxnLst/>
            <a:rect l="l" t="t" r="r" b="b"/>
            <a:pathLst>
              <a:path w="1219200" h="6858000">
                <a:moveTo>
                  <a:pt x="0" y="0"/>
                </a:moveTo>
                <a:lnTo>
                  <a:pt x="1219200" y="6857999"/>
                </a:lnTo>
              </a:path>
            </a:pathLst>
          </a:custGeom>
          <a:ln w="990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7425309" y="3681602"/>
            <a:ext cx="4763770" cy="3176905"/>
          </a:xfrm>
          <a:custGeom>
            <a:avLst/>
            <a:gdLst/>
            <a:ahLst/>
            <a:cxnLst/>
            <a:rect l="l" t="t" r="r" b="b"/>
            <a:pathLst>
              <a:path w="4763770" h="3176904">
                <a:moveTo>
                  <a:pt x="4763516" y="0"/>
                </a:moveTo>
                <a:lnTo>
                  <a:pt x="0" y="3176586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181338" y="0"/>
            <a:ext cx="3007995" cy="6858000"/>
          </a:xfrm>
          <a:custGeom>
            <a:avLst/>
            <a:gdLst/>
            <a:ahLst/>
            <a:cxnLst/>
            <a:rect l="l" t="t" r="r" b="b"/>
            <a:pathLst>
              <a:path w="3007995" h="6858000">
                <a:moveTo>
                  <a:pt x="3007613" y="0"/>
                </a:moveTo>
                <a:lnTo>
                  <a:pt x="2043218" y="0"/>
                </a:lnTo>
                <a:lnTo>
                  <a:pt x="0" y="6858000"/>
                </a:lnTo>
                <a:lnTo>
                  <a:pt x="3007613" y="6858000"/>
                </a:lnTo>
                <a:lnTo>
                  <a:pt x="3007613" y="0"/>
                </a:lnTo>
                <a:close/>
              </a:path>
            </a:pathLst>
          </a:custGeom>
          <a:solidFill>
            <a:srgbClr val="90C225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604962" y="0"/>
            <a:ext cx="2587625" cy="6858000"/>
          </a:xfrm>
          <a:custGeom>
            <a:avLst/>
            <a:gdLst/>
            <a:ahLst/>
            <a:cxnLst/>
            <a:rect l="l" t="t" r="r" b="b"/>
            <a:pathLst>
              <a:path w="2587625" h="6858000">
                <a:moveTo>
                  <a:pt x="2587037" y="0"/>
                </a:moveTo>
                <a:lnTo>
                  <a:pt x="0" y="0"/>
                </a:lnTo>
                <a:lnTo>
                  <a:pt x="1207944" y="6858000"/>
                </a:lnTo>
                <a:lnTo>
                  <a:pt x="2587037" y="6858000"/>
                </a:lnTo>
                <a:lnTo>
                  <a:pt x="2587037" y="0"/>
                </a:lnTo>
                <a:close/>
              </a:path>
            </a:pathLst>
          </a:custGeom>
          <a:solidFill>
            <a:srgbClr val="90C225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932164" y="3048000"/>
            <a:ext cx="3260090" cy="3810000"/>
          </a:xfrm>
          <a:custGeom>
            <a:avLst/>
            <a:gdLst/>
            <a:ahLst/>
            <a:cxnLst/>
            <a:rect l="l" t="t" r="r" b="b"/>
            <a:pathLst>
              <a:path w="3260090" h="3810000">
                <a:moveTo>
                  <a:pt x="3259835" y="0"/>
                </a:moveTo>
                <a:lnTo>
                  <a:pt x="0" y="3809999"/>
                </a:lnTo>
                <a:lnTo>
                  <a:pt x="3259835" y="3809999"/>
                </a:lnTo>
                <a:lnTo>
                  <a:pt x="3259835" y="0"/>
                </a:lnTo>
                <a:close/>
              </a:path>
            </a:pathLst>
          </a:custGeom>
          <a:solidFill>
            <a:srgbClr val="539F20">
              <a:alpha val="7215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9337516" y="0"/>
            <a:ext cx="2851785" cy="6858000"/>
          </a:xfrm>
          <a:custGeom>
            <a:avLst/>
            <a:gdLst/>
            <a:ahLst/>
            <a:cxnLst/>
            <a:rect l="l" t="t" r="r" b="b"/>
            <a:pathLst>
              <a:path w="2851784" h="6858000">
                <a:moveTo>
                  <a:pt x="2851435" y="0"/>
                </a:moveTo>
                <a:lnTo>
                  <a:pt x="0" y="0"/>
                </a:lnTo>
                <a:lnTo>
                  <a:pt x="2467895" y="6858000"/>
                </a:lnTo>
                <a:lnTo>
                  <a:pt x="2851435" y="6858000"/>
                </a:lnTo>
                <a:lnTo>
                  <a:pt x="2851435" y="0"/>
                </a:lnTo>
                <a:close/>
              </a:path>
            </a:pathLst>
          </a:custGeom>
          <a:solidFill>
            <a:srgbClr val="3E7818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10898886" y="0"/>
            <a:ext cx="1290320" cy="6858000"/>
          </a:xfrm>
          <a:custGeom>
            <a:avLst/>
            <a:gdLst/>
            <a:ahLst/>
            <a:cxnLst/>
            <a:rect l="l" t="t" r="r" b="b"/>
            <a:pathLst>
              <a:path w="1290320" h="6858000">
                <a:moveTo>
                  <a:pt x="1290066" y="0"/>
                </a:moveTo>
                <a:lnTo>
                  <a:pt x="1018438" y="0"/>
                </a:lnTo>
                <a:lnTo>
                  <a:pt x="0" y="6858000"/>
                </a:lnTo>
                <a:lnTo>
                  <a:pt x="1290066" y="6858000"/>
                </a:lnTo>
                <a:lnTo>
                  <a:pt x="1290066" y="0"/>
                </a:lnTo>
                <a:close/>
              </a:path>
            </a:pathLst>
          </a:custGeom>
          <a:solidFill>
            <a:srgbClr val="C0E374">
              <a:alpha val="7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0940626" y="0"/>
            <a:ext cx="1248410" cy="6858000"/>
          </a:xfrm>
          <a:custGeom>
            <a:avLst/>
            <a:gdLst/>
            <a:ahLst/>
            <a:cxnLst/>
            <a:rect l="l" t="t" r="r" b="b"/>
            <a:pathLst>
              <a:path w="1248409" h="6858000">
                <a:moveTo>
                  <a:pt x="1248325" y="0"/>
                </a:moveTo>
                <a:lnTo>
                  <a:pt x="0" y="0"/>
                </a:lnTo>
                <a:lnTo>
                  <a:pt x="1107863" y="6858000"/>
                </a:lnTo>
                <a:lnTo>
                  <a:pt x="1248325" y="6858000"/>
                </a:lnTo>
                <a:lnTo>
                  <a:pt x="1248325" y="0"/>
                </a:lnTo>
                <a:close/>
              </a:path>
            </a:pathLst>
          </a:custGeom>
          <a:solidFill>
            <a:srgbClr val="90C225">
              <a:alpha val="6509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10371582" y="3589781"/>
            <a:ext cx="1817370" cy="3268345"/>
          </a:xfrm>
          <a:custGeom>
            <a:avLst/>
            <a:gdLst/>
            <a:ahLst/>
            <a:cxnLst/>
            <a:rect l="l" t="t" r="r" b="b"/>
            <a:pathLst>
              <a:path w="1817370" h="3268345">
                <a:moveTo>
                  <a:pt x="1817370" y="0"/>
                </a:moveTo>
                <a:lnTo>
                  <a:pt x="0" y="3268217"/>
                </a:lnTo>
                <a:lnTo>
                  <a:pt x="1817370" y="3268217"/>
                </a:lnTo>
                <a:lnTo>
                  <a:pt x="1817370" y="0"/>
                </a:lnTo>
                <a:close/>
              </a:path>
            </a:pathLst>
          </a:custGeom>
          <a:solidFill>
            <a:srgbClr val="90C225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8313" y="790194"/>
            <a:ext cx="763270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90C225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35320" y="3191763"/>
            <a:ext cx="5358130" cy="1773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image" Target="../media/image22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255895" cy="5666740"/>
            <a:chOff x="0" y="0"/>
            <a:chExt cx="5255895" cy="566674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843280" cy="5666740"/>
            </a:xfrm>
            <a:custGeom>
              <a:avLst/>
              <a:gdLst/>
              <a:ahLst/>
              <a:cxnLst/>
              <a:rect l="l" t="t" r="r" b="b"/>
              <a:pathLst>
                <a:path w="843280" h="5666740">
                  <a:moveTo>
                    <a:pt x="842772" y="0"/>
                  </a:moveTo>
                  <a:lnTo>
                    <a:pt x="0" y="0"/>
                  </a:lnTo>
                  <a:lnTo>
                    <a:pt x="0" y="5666232"/>
                  </a:lnTo>
                  <a:lnTo>
                    <a:pt x="842772" y="0"/>
                  </a:lnTo>
                  <a:close/>
                </a:path>
              </a:pathLst>
            </a:custGeom>
            <a:solidFill>
              <a:srgbClr val="90C225">
                <a:alpha val="85096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240" y="1684020"/>
              <a:ext cx="4859274" cy="14996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40" y="2506979"/>
              <a:ext cx="3356610" cy="14996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6240" y="3329940"/>
              <a:ext cx="3756660" cy="149961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240" y="4152912"/>
              <a:ext cx="3313176" cy="149961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16102" y="1877821"/>
            <a:ext cx="3789045" cy="3317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5400" spc="-10">
                <a:solidFill>
                  <a:srgbClr val="90C225"/>
                </a:solidFill>
                <a:latin typeface="Trebuchet MS"/>
                <a:cs typeface="Trebuchet MS"/>
              </a:rPr>
              <a:t>Spreadsheet Project:</a:t>
            </a:r>
            <a:endParaRPr sz="5400">
              <a:latin typeface="Trebuchet MS"/>
              <a:cs typeface="Trebuchet MS"/>
            </a:endParaRPr>
          </a:p>
          <a:p>
            <a:pPr marL="12700" marR="1101090">
              <a:lnSpc>
                <a:spcPct val="100000"/>
              </a:lnSpc>
            </a:pPr>
            <a:r>
              <a:rPr dirty="0" sz="5400">
                <a:solidFill>
                  <a:srgbClr val="90C225"/>
                </a:solidFill>
                <a:latin typeface="Trebuchet MS"/>
                <a:cs typeface="Trebuchet MS"/>
              </a:rPr>
              <a:t>IT</a:t>
            </a:r>
            <a:r>
              <a:rPr dirty="0" sz="5400" spc="-20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dirty="0" sz="5400" spc="-50">
                <a:solidFill>
                  <a:srgbClr val="90C225"/>
                </a:solidFill>
                <a:latin typeface="Trebuchet MS"/>
                <a:cs typeface="Trebuchet MS"/>
              </a:rPr>
              <a:t>Ticket </a:t>
            </a:r>
            <a:r>
              <a:rPr dirty="0" sz="5400" spc="-10">
                <a:solidFill>
                  <a:srgbClr val="90C225"/>
                </a:solidFill>
                <a:latin typeface="Trebuchet MS"/>
                <a:cs typeface="Trebuchet MS"/>
              </a:rPr>
              <a:t>Analysis</a:t>
            </a:r>
            <a:endParaRPr sz="5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831" y="6492240"/>
            <a:ext cx="3206115" cy="284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-10">
                <a:solidFill>
                  <a:srgbClr val="7E7E7E"/>
                </a:solidFill>
                <a:latin typeface="Trebuchet MS"/>
                <a:cs typeface="Trebuchet MS"/>
              </a:rPr>
              <a:t>Presented</a:t>
            </a:r>
            <a:r>
              <a:rPr dirty="0" sz="1700" spc="-4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7E7E7E"/>
                </a:solidFill>
                <a:latin typeface="Trebuchet MS"/>
                <a:cs typeface="Trebuchet MS"/>
              </a:rPr>
              <a:t>by</a:t>
            </a:r>
            <a:r>
              <a:rPr dirty="0" sz="1700" spc="-35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7E7E7E"/>
                </a:solidFill>
                <a:latin typeface="Trebuchet MS"/>
                <a:cs typeface="Trebuchet MS"/>
              </a:rPr>
              <a:t>:</a:t>
            </a:r>
            <a:r>
              <a:rPr dirty="0" sz="1700" spc="-3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7E7E7E"/>
                </a:solidFill>
                <a:latin typeface="Trebuchet MS"/>
                <a:cs typeface="Trebuchet MS"/>
              </a:rPr>
              <a:t>Shashwat</a:t>
            </a:r>
            <a:r>
              <a:rPr dirty="0" sz="1700" spc="-60">
                <a:solidFill>
                  <a:srgbClr val="7E7E7E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7E7E7E"/>
                </a:solidFill>
                <a:latin typeface="Trebuchet MS"/>
                <a:cs typeface="Trebuchet MS"/>
              </a:rPr>
              <a:t>Shankar</a:t>
            </a:r>
            <a:endParaRPr sz="1700">
              <a:latin typeface="Trebuchet MS"/>
              <a:cs typeface="Trebuchet MS"/>
            </a:endParaRPr>
          </a:p>
        </p:txBody>
      </p:sp>
      <p:pic>
        <p:nvPicPr>
          <p:cNvPr id="10" name="object 10" descr="Heat Ticketing System | Workflow Tickets Automation Software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87567" y="448818"/>
            <a:ext cx="5875782" cy="54117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3900" y="1478026"/>
            <a:ext cx="2865755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Problem 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35320" y="1478025"/>
            <a:ext cx="5348605" cy="404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2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objective</a:t>
            </a:r>
            <a:r>
              <a:rPr dirty="0" sz="22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22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2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analyze</a:t>
            </a:r>
            <a:r>
              <a:rPr dirty="0" sz="22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2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22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support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ticket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management</a:t>
            </a:r>
            <a:r>
              <a:rPr dirty="0" sz="22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dirty="0" sz="22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2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understand</a:t>
            </a:r>
            <a:r>
              <a:rPr dirty="0" sz="22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performance</a:t>
            </a:r>
            <a:r>
              <a:rPr dirty="0" sz="2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agents,</a:t>
            </a:r>
            <a:r>
              <a:rPr dirty="0" sz="22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efficiency</a:t>
            </a:r>
            <a:r>
              <a:rPr dirty="0" sz="2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ticket</a:t>
            </a:r>
            <a:r>
              <a:rPr dirty="0" sz="2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resolution,</a:t>
            </a:r>
            <a:r>
              <a:rPr dirty="0" sz="2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2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2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satisfaction</a:t>
            </a:r>
            <a:r>
              <a:rPr dirty="0" sz="22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levels</a:t>
            </a:r>
            <a:r>
              <a:rPr dirty="0" sz="2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employees.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2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analysis</a:t>
            </a:r>
            <a:r>
              <a:rPr dirty="0" sz="22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aims</a:t>
            </a:r>
            <a:r>
              <a:rPr dirty="0" sz="22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2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identify</a:t>
            </a:r>
            <a:r>
              <a:rPr dirty="0" sz="22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404040"/>
                </a:solidFill>
                <a:latin typeface="Calibri"/>
                <a:cs typeface="Calibri"/>
              </a:rPr>
              <a:t>high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2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low</a:t>
            </a:r>
            <a:r>
              <a:rPr dirty="0" sz="22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performers</a:t>
            </a:r>
            <a:r>
              <a:rPr dirty="0" sz="22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among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22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agents,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assess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2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overall</a:t>
            </a:r>
            <a:r>
              <a:rPr dirty="0" sz="2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effectiveness</a:t>
            </a:r>
            <a:r>
              <a:rPr dirty="0" sz="22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22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2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team,</a:t>
            </a:r>
            <a:r>
              <a:rPr dirty="0" sz="22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pinpoint</a:t>
            </a:r>
            <a:r>
              <a:rPr dirty="0" sz="22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areas</a:t>
            </a:r>
            <a:r>
              <a:rPr dirty="0" sz="2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improvement</a:t>
            </a:r>
            <a:r>
              <a:rPr dirty="0" sz="22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2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ticket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resolution</a:t>
            </a:r>
            <a:r>
              <a:rPr dirty="0" sz="22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process.</a:t>
            </a:r>
            <a:r>
              <a:rPr dirty="0" sz="22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ultimate</a:t>
            </a:r>
            <a:r>
              <a:rPr dirty="0" sz="2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goal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dirty="0" sz="22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informed</a:t>
            </a:r>
            <a:r>
              <a:rPr dirty="0" sz="22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staffing</a:t>
            </a:r>
            <a:r>
              <a:rPr dirty="0" sz="22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decisions,</a:t>
            </a:r>
            <a:r>
              <a:rPr dirty="0" sz="22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including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hiring,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firing,</a:t>
            </a:r>
            <a:r>
              <a:rPr dirty="0" sz="22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2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training,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2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enhance</a:t>
            </a:r>
            <a:r>
              <a:rPr dirty="0" sz="22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overall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service</a:t>
            </a:r>
            <a:r>
              <a:rPr dirty="0" sz="22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quality</a:t>
            </a:r>
            <a:r>
              <a:rPr dirty="0" sz="22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2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404040"/>
                </a:solidFill>
                <a:latin typeface="Calibri"/>
                <a:cs typeface="Calibri"/>
              </a:rPr>
              <a:t>team</a:t>
            </a:r>
            <a:r>
              <a:rPr dirty="0" sz="22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404040"/>
                </a:solidFill>
                <a:latin typeface="Calibri"/>
                <a:cs typeface="Calibri"/>
              </a:rPr>
              <a:t>performance.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6872" y="5237975"/>
            <a:ext cx="5872733" cy="13335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39235" y="5409691"/>
            <a:ext cx="511429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90C225"/>
                </a:solidFill>
                <a:latin typeface="Trebuchet MS"/>
                <a:cs typeface="Trebuchet MS"/>
              </a:rPr>
              <a:t>Tickets</a:t>
            </a:r>
            <a:r>
              <a:rPr dirty="0" sz="4800" spc="-140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dirty="0" sz="4800">
                <a:solidFill>
                  <a:srgbClr val="90C225"/>
                </a:solidFill>
                <a:latin typeface="Trebuchet MS"/>
                <a:cs typeface="Trebuchet MS"/>
              </a:rPr>
              <a:t>Sheet</a:t>
            </a:r>
            <a:r>
              <a:rPr dirty="0" sz="4800" spc="-135">
                <a:solidFill>
                  <a:srgbClr val="90C225"/>
                </a:solidFill>
                <a:latin typeface="Trebuchet MS"/>
                <a:cs typeface="Trebuchet MS"/>
              </a:rPr>
              <a:t> </a:t>
            </a:r>
            <a:r>
              <a:rPr dirty="0" sz="4800" spc="-20">
                <a:solidFill>
                  <a:srgbClr val="90C225"/>
                </a:solidFill>
                <a:latin typeface="Trebuchet MS"/>
                <a:cs typeface="Trebuchet MS"/>
              </a:rPr>
              <a:t>Data</a:t>
            </a:r>
            <a:endParaRPr sz="4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772" y="483869"/>
            <a:ext cx="1126845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1632" y="5243309"/>
            <a:ext cx="5903976" cy="13335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23996" y="5394705"/>
            <a:ext cx="51460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90C225"/>
                </a:solidFill>
                <a:latin typeface="Calibri"/>
                <a:cs typeface="Calibri"/>
              </a:rPr>
              <a:t>IT</a:t>
            </a:r>
            <a:r>
              <a:rPr dirty="0" sz="4800" spc="-110">
                <a:solidFill>
                  <a:srgbClr val="90C225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90C225"/>
                </a:solidFill>
                <a:latin typeface="Calibri"/>
                <a:cs typeface="Calibri"/>
              </a:rPr>
              <a:t>Agents</a:t>
            </a:r>
            <a:r>
              <a:rPr dirty="0" sz="4800" spc="-105">
                <a:solidFill>
                  <a:srgbClr val="90C225"/>
                </a:solidFill>
                <a:latin typeface="Calibri"/>
                <a:cs typeface="Calibri"/>
              </a:rPr>
              <a:t> </a:t>
            </a:r>
            <a:r>
              <a:rPr dirty="0" sz="4800">
                <a:solidFill>
                  <a:srgbClr val="90C225"/>
                </a:solidFill>
                <a:latin typeface="Calibri"/>
                <a:cs typeface="Calibri"/>
              </a:rPr>
              <a:t>Sheet</a:t>
            </a:r>
            <a:r>
              <a:rPr dirty="0" sz="4800" spc="-105">
                <a:solidFill>
                  <a:srgbClr val="90C225"/>
                </a:solidFill>
                <a:latin typeface="Calibri"/>
                <a:cs typeface="Calibri"/>
              </a:rPr>
              <a:t> </a:t>
            </a:r>
            <a:r>
              <a:rPr dirty="0" sz="4800" spc="-20">
                <a:solidFill>
                  <a:srgbClr val="90C225"/>
                </a:solidFill>
                <a:latin typeface="Calibri"/>
                <a:cs typeface="Calibri"/>
              </a:rPr>
              <a:t>Data</a:t>
            </a:r>
            <a:endParaRPr sz="4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645" y="595122"/>
            <a:ext cx="10998708" cy="46733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8998" y="777494"/>
            <a:ext cx="2774315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20">
                <a:solidFill>
                  <a:srgbClr val="000000"/>
                </a:solidFill>
              </a:rPr>
              <a:t>Data </a:t>
            </a:r>
            <a:r>
              <a:rPr dirty="0" spc="-10">
                <a:solidFill>
                  <a:srgbClr val="000000"/>
                </a:solidFill>
              </a:rPr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95444" y="790448"/>
            <a:ext cx="32651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latin typeface="Trebuchet MS"/>
                <a:cs typeface="Trebuchet MS"/>
              </a:rPr>
              <a:t>Tickets</a:t>
            </a:r>
            <a:r>
              <a:rPr dirty="0" sz="1400" spc="-5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Sheet:</a:t>
            </a:r>
            <a:r>
              <a:rPr dirty="0" sz="1400" spc="-70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Contains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information </a:t>
            </a:r>
            <a:r>
              <a:rPr dirty="0" sz="1400">
                <a:latin typeface="Trebuchet MS"/>
                <a:cs typeface="Trebuchet MS"/>
              </a:rPr>
              <a:t>about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IT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support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tickets.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95444" y="1685036"/>
            <a:ext cx="3632835" cy="5222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464184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latin typeface="Trebuchet MS"/>
                <a:cs typeface="Trebuchet MS"/>
              </a:rPr>
              <a:t>ID</a:t>
            </a:r>
            <a:r>
              <a:rPr dirty="0" sz="1400" spc="-70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Ticket:</a:t>
            </a:r>
            <a:r>
              <a:rPr dirty="0" sz="1400" spc="-60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Unique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identifier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the </a:t>
            </a:r>
            <a:r>
              <a:rPr dirty="0" sz="1400" spc="-10">
                <a:latin typeface="Trebuchet MS"/>
                <a:cs typeface="Trebuchet MS"/>
              </a:rPr>
              <a:t>ticket.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latin typeface="Trebuchet MS"/>
                <a:cs typeface="Trebuchet MS"/>
              </a:rPr>
              <a:t>Fecha:</a:t>
            </a:r>
            <a:r>
              <a:rPr dirty="0" sz="1400" spc="-45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Date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ticket.</a:t>
            </a:r>
            <a:endParaRPr sz="1400">
              <a:latin typeface="Trebuchet MS"/>
              <a:cs typeface="Trebuchet MS"/>
            </a:endParaRPr>
          </a:p>
          <a:p>
            <a:pPr marL="355600" marR="229870" indent="-3429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latin typeface="Trebuchet MS"/>
                <a:cs typeface="Trebuchet MS"/>
              </a:rPr>
              <a:t>Employee</a:t>
            </a:r>
            <a:r>
              <a:rPr dirty="0" sz="1400" spc="-30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ID:</a:t>
            </a:r>
            <a:r>
              <a:rPr dirty="0" sz="1400" spc="-10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ID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employee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who </a:t>
            </a:r>
            <a:r>
              <a:rPr dirty="0" sz="1400">
                <a:latin typeface="Trebuchet MS"/>
                <a:cs typeface="Trebuchet MS"/>
              </a:rPr>
              <a:t>raised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ticket.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latin typeface="Trebuchet MS"/>
                <a:cs typeface="Trebuchet MS"/>
              </a:rPr>
              <a:t>Agent</a:t>
            </a:r>
            <a:r>
              <a:rPr dirty="0" sz="1400" spc="-2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ID:</a:t>
            </a:r>
            <a:r>
              <a:rPr dirty="0" sz="1400" spc="-5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ID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agent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assigned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the</a:t>
            </a:r>
            <a:endParaRPr sz="14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ticket.</a:t>
            </a:r>
            <a:endParaRPr sz="1400">
              <a:latin typeface="Trebuchet MS"/>
              <a:cs typeface="Trebuchet MS"/>
            </a:endParaRPr>
          </a:p>
          <a:p>
            <a:pPr marL="355600" marR="454659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latin typeface="Trebuchet MS"/>
                <a:cs typeface="Trebuchet MS"/>
              </a:rPr>
              <a:t>Request</a:t>
            </a:r>
            <a:r>
              <a:rPr dirty="0" sz="1400" spc="-70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Category:</a:t>
            </a:r>
            <a:r>
              <a:rPr dirty="0" sz="1400" spc="-40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Category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the </a:t>
            </a:r>
            <a:r>
              <a:rPr dirty="0" sz="1400">
                <a:latin typeface="Trebuchet MS"/>
                <a:cs typeface="Trebuchet MS"/>
              </a:rPr>
              <a:t>request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(e.g.,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Login</a:t>
            </a:r>
            <a:r>
              <a:rPr dirty="0" sz="1400" spc="-8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Access, </a:t>
            </a:r>
            <a:r>
              <a:rPr dirty="0" sz="1400">
                <a:latin typeface="Trebuchet MS"/>
                <a:cs typeface="Trebuchet MS"/>
              </a:rPr>
              <a:t>System,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Software).</a:t>
            </a:r>
            <a:endParaRPr sz="1400">
              <a:latin typeface="Trebuchet MS"/>
              <a:cs typeface="Trebuchet MS"/>
            </a:endParaRPr>
          </a:p>
          <a:p>
            <a:pPr marL="355600" marR="82550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latin typeface="Trebuchet MS"/>
                <a:cs typeface="Trebuchet MS"/>
              </a:rPr>
              <a:t>Issue</a:t>
            </a:r>
            <a:r>
              <a:rPr dirty="0" sz="1400" spc="-55" b="1">
                <a:latin typeface="Trebuchet MS"/>
                <a:cs typeface="Trebuchet MS"/>
              </a:rPr>
              <a:t> </a:t>
            </a:r>
            <a:r>
              <a:rPr dirty="0" sz="1400" spc="-20" b="1">
                <a:latin typeface="Trebuchet MS"/>
                <a:cs typeface="Trebuchet MS"/>
              </a:rPr>
              <a:t>Type:</a:t>
            </a:r>
            <a:r>
              <a:rPr dirty="0" sz="1400" spc="-40" b="1">
                <a:latin typeface="Trebuchet MS"/>
                <a:cs typeface="Trebuchet MS"/>
              </a:rPr>
              <a:t> </a:t>
            </a:r>
            <a:r>
              <a:rPr dirty="0" sz="1400" spc="-30">
                <a:latin typeface="Trebuchet MS"/>
                <a:cs typeface="Trebuchet MS"/>
              </a:rPr>
              <a:t>Type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issue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(e.g.,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IT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30">
                <a:latin typeface="Trebuchet MS"/>
                <a:cs typeface="Trebuchet MS"/>
              </a:rPr>
              <a:t>Error, </a:t>
            </a:r>
            <a:r>
              <a:rPr dirty="0" sz="1400">
                <a:latin typeface="Trebuchet MS"/>
                <a:cs typeface="Trebuchet MS"/>
              </a:rPr>
              <a:t>IT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Request).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latin typeface="Trebuchet MS"/>
                <a:cs typeface="Trebuchet MS"/>
              </a:rPr>
              <a:t>Severity:</a:t>
            </a:r>
            <a:r>
              <a:rPr dirty="0" sz="1400" spc="-45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Severity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issue.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latin typeface="Trebuchet MS"/>
                <a:cs typeface="Trebuchet MS"/>
              </a:rPr>
              <a:t>Priority:</a:t>
            </a:r>
            <a:r>
              <a:rPr dirty="0" sz="1400" spc="-40" b="1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Priority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level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issue.</a:t>
            </a:r>
            <a:endParaRPr sz="1400">
              <a:latin typeface="Trebuchet MS"/>
              <a:cs typeface="Trebuchet MS"/>
            </a:endParaRPr>
          </a:p>
          <a:p>
            <a:pPr marL="355600" marR="147320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latin typeface="Trebuchet MS"/>
                <a:cs typeface="Trebuchet MS"/>
              </a:rPr>
              <a:t>Resolution</a:t>
            </a:r>
            <a:r>
              <a:rPr dirty="0" sz="1400" spc="-9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Time</a:t>
            </a:r>
            <a:r>
              <a:rPr dirty="0" sz="1400" spc="-5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(Days):</a:t>
            </a:r>
            <a:r>
              <a:rPr dirty="0" sz="1400" spc="-70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Time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taken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to </a:t>
            </a:r>
            <a:r>
              <a:rPr dirty="0" sz="1400">
                <a:latin typeface="Trebuchet MS"/>
                <a:cs typeface="Trebuchet MS"/>
              </a:rPr>
              <a:t>resolve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ticket.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latin typeface="Trebuchet MS"/>
                <a:cs typeface="Trebuchet MS"/>
              </a:rPr>
              <a:t>Satisfaction</a:t>
            </a:r>
            <a:r>
              <a:rPr dirty="0" sz="1400" spc="-70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Rate:</a:t>
            </a:r>
            <a:r>
              <a:rPr dirty="0" sz="1400" spc="-55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Satisfaction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rate</a:t>
            </a:r>
            <a:endParaRPr sz="1400">
              <a:latin typeface="Trebuchet MS"/>
              <a:cs typeface="Trebuchet MS"/>
            </a:endParaRPr>
          </a:p>
          <a:p>
            <a:pPr marL="355600" marR="11912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provided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by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employee (1-</a:t>
            </a:r>
            <a:r>
              <a:rPr dirty="0" sz="1400">
                <a:latin typeface="Trebuchet MS"/>
                <a:cs typeface="Trebuchet MS"/>
              </a:rPr>
              <a:t>5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scale).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78316" y="769112"/>
            <a:ext cx="2305050" cy="43053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5080" indent="227965">
              <a:lnSpc>
                <a:spcPts val="1510"/>
              </a:lnSpc>
              <a:spcBef>
                <a:spcPts val="29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400" spc="-10" b="1">
                <a:latin typeface="Trebuchet MS"/>
                <a:cs typeface="Trebuchet MS"/>
              </a:rPr>
              <a:t>IT</a:t>
            </a:r>
            <a:r>
              <a:rPr dirty="0" sz="1400" spc="-100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Agents:</a:t>
            </a:r>
            <a:r>
              <a:rPr dirty="0" sz="1400" spc="-25" b="1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Contains </a:t>
            </a:r>
            <a:r>
              <a:rPr dirty="0" sz="1400">
                <a:latin typeface="Trebuchet MS"/>
                <a:cs typeface="Trebuchet MS"/>
              </a:rPr>
              <a:t>information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about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IT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agents.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78316" y="1599691"/>
            <a:ext cx="2708275" cy="298577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241300" marR="5080" indent="-228600">
              <a:lnSpc>
                <a:spcPts val="1510"/>
              </a:lnSpc>
              <a:spcBef>
                <a:spcPts val="29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400" b="1">
                <a:latin typeface="Trebuchet MS"/>
                <a:cs typeface="Trebuchet MS"/>
              </a:rPr>
              <a:t>Agent</a:t>
            </a:r>
            <a:r>
              <a:rPr dirty="0" sz="1400" spc="-50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ID:</a:t>
            </a:r>
            <a:r>
              <a:rPr dirty="0" sz="1400" spc="-30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Unique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identifier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for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agent.</a:t>
            </a:r>
            <a:endParaRPr sz="1400">
              <a:latin typeface="Trebuchet MS"/>
              <a:cs typeface="Trebuchet MS"/>
            </a:endParaRPr>
          </a:p>
          <a:p>
            <a:pPr marL="241300" marR="196850" indent="-228600">
              <a:lnSpc>
                <a:spcPts val="151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400" b="1">
                <a:latin typeface="Trebuchet MS"/>
                <a:cs typeface="Trebuchet MS"/>
              </a:rPr>
              <a:t>Full</a:t>
            </a:r>
            <a:r>
              <a:rPr dirty="0" sz="1400" spc="-50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Name:</a:t>
            </a:r>
            <a:r>
              <a:rPr dirty="0" sz="1400" spc="-30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Full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name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the </a:t>
            </a:r>
            <a:r>
              <a:rPr dirty="0" sz="1400" spc="-10">
                <a:latin typeface="Trebuchet MS"/>
                <a:cs typeface="Trebuchet MS"/>
              </a:rPr>
              <a:t>agent.</a:t>
            </a:r>
            <a:endParaRPr sz="1400">
              <a:latin typeface="Trebuchet MS"/>
              <a:cs typeface="Trebuchet MS"/>
            </a:endParaRPr>
          </a:p>
          <a:p>
            <a:pPr marL="241300" marR="259715" indent="-228600">
              <a:lnSpc>
                <a:spcPts val="15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400" b="1">
                <a:latin typeface="Trebuchet MS"/>
                <a:cs typeface="Trebuchet MS"/>
              </a:rPr>
              <a:t>Email:</a:t>
            </a:r>
            <a:r>
              <a:rPr dirty="0" sz="1400" spc="-25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Email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address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of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the </a:t>
            </a:r>
            <a:r>
              <a:rPr dirty="0" sz="1400" spc="-10">
                <a:latin typeface="Trebuchet MS"/>
                <a:cs typeface="Trebuchet MS"/>
              </a:rPr>
              <a:t>agent.</a:t>
            </a:r>
            <a:endParaRPr sz="1400">
              <a:latin typeface="Trebuchet MS"/>
              <a:cs typeface="Trebuchet MS"/>
            </a:endParaRPr>
          </a:p>
          <a:p>
            <a:pPr marL="240665" indent="-227965">
              <a:lnSpc>
                <a:spcPts val="1595"/>
              </a:lnSpc>
              <a:spcBef>
                <a:spcPts val="81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400" spc="-20" b="1">
                <a:latin typeface="Trebuchet MS"/>
                <a:cs typeface="Trebuchet MS"/>
              </a:rPr>
              <a:t>Year</a:t>
            </a:r>
            <a:r>
              <a:rPr dirty="0" sz="1400" spc="-40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of</a:t>
            </a:r>
            <a:r>
              <a:rPr dirty="0" sz="1400" spc="-5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Birth:</a:t>
            </a:r>
            <a:r>
              <a:rPr dirty="0" sz="1400" spc="-65" b="1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Year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agent</a:t>
            </a:r>
            <a:endParaRPr sz="1400">
              <a:latin typeface="Trebuchet MS"/>
              <a:cs typeface="Trebuchet MS"/>
            </a:endParaRPr>
          </a:p>
          <a:p>
            <a:pPr marL="241300">
              <a:lnSpc>
                <a:spcPts val="1595"/>
              </a:lnSpc>
            </a:pPr>
            <a:r>
              <a:rPr dirty="0" sz="1400">
                <a:latin typeface="Trebuchet MS"/>
                <a:cs typeface="Trebuchet MS"/>
              </a:rPr>
              <a:t>was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born.</a:t>
            </a:r>
            <a:endParaRPr sz="1400">
              <a:latin typeface="Trebuchet MS"/>
              <a:cs typeface="Trebuchet MS"/>
            </a:endParaRPr>
          </a:p>
          <a:p>
            <a:pPr marL="241300" marR="344170" indent="-228600">
              <a:lnSpc>
                <a:spcPts val="151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400" b="1">
                <a:latin typeface="Trebuchet MS"/>
                <a:cs typeface="Trebuchet MS"/>
              </a:rPr>
              <a:t>Month</a:t>
            </a:r>
            <a:r>
              <a:rPr dirty="0" sz="1400" spc="-3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of</a:t>
            </a:r>
            <a:r>
              <a:rPr dirty="0" sz="1400" spc="-2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Birth:</a:t>
            </a:r>
            <a:r>
              <a:rPr dirty="0" sz="1400" spc="-20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Month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the </a:t>
            </a:r>
            <a:r>
              <a:rPr dirty="0" sz="1400">
                <a:latin typeface="Trebuchet MS"/>
                <a:cs typeface="Trebuchet MS"/>
              </a:rPr>
              <a:t>agent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was</a:t>
            </a:r>
            <a:r>
              <a:rPr dirty="0" sz="1400" spc="-10">
                <a:latin typeface="Trebuchet MS"/>
                <a:cs typeface="Trebuchet MS"/>
              </a:rPr>
              <a:t> born.</a:t>
            </a:r>
            <a:endParaRPr sz="1400">
              <a:latin typeface="Trebuchet MS"/>
              <a:cs typeface="Trebuchet MS"/>
            </a:endParaRPr>
          </a:p>
          <a:p>
            <a:pPr marL="241300" marR="244475" indent="-228600">
              <a:lnSpc>
                <a:spcPts val="15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400" b="1">
                <a:latin typeface="Trebuchet MS"/>
                <a:cs typeface="Trebuchet MS"/>
              </a:rPr>
              <a:t>Day</a:t>
            </a:r>
            <a:r>
              <a:rPr dirty="0" sz="1400" spc="-1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of</a:t>
            </a:r>
            <a:r>
              <a:rPr dirty="0" sz="1400" spc="-25" b="1">
                <a:latin typeface="Trebuchet MS"/>
                <a:cs typeface="Trebuchet MS"/>
              </a:rPr>
              <a:t> </a:t>
            </a:r>
            <a:r>
              <a:rPr dirty="0" sz="1400" b="1">
                <a:latin typeface="Trebuchet MS"/>
                <a:cs typeface="Trebuchet MS"/>
              </a:rPr>
              <a:t>Birth:</a:t>
            </a:r>
            <a:r>
              <a:rPr dirty="0" sz="1400" spc="-20" b="1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Day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the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agent </a:t>
            </a:r>
            <a:r>
              <a:rPr dirty="0" sz="1400">
                <a:latin typeface="Trebuchet MS"/>
                <a:cs typeface="Trebuchet MS"/>
              </a:rPr>
              <a:t>was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born.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6033" y="1158626"/>
            <a:ext cx="3473469" cy="62108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63980" y="1000505"/>
            <a:ext cx="347345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solidFill>
                  <a:srgbClr val="000000"/>
                </a:solidFill>
              </a:rPr>
              <a:t>Methodology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3980" y="1991106"/>
            <a:ext cx="4232910" cy="3302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187960" algn="l"/>
              </a:tabLst>
            </a:pP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dirty="0" sz="1400" spc="-6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Collection</a:t>
            </a:r>
            <a:endParaRPr sz="1400">
              <a:latin typeface="Calibri"/>
              <a:cs typeface="Calibri"/>
            </a:endParaRPr>
          </a:p>
          <a:p>
            <a:pPr lvl="1" marL="277495" indent="-95250">
              <a:lnSpc>
                <a:spcPct val="100000"/>
              </a:lnSpc>
              <a:spcBef>
                <a:spcPts val="1005"/>
              </a:spcBef>
              <a:buSzPct val="92857"/>
              <a:buChar char="•"/>
              <a:tabLst>
                <a:tab pos="277495" algn="l"/>
              </a:tabLst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Collected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raw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support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Excel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format.</a:t>
            </a:r>
            <a:endParaRPr sz="1400">
              <a:latin typeface="Calibri"/>
              <a:cs typeface="Calibri"/>
            </a:endParaRPr>
          </a:p>
          <a:p>
            <a:pPr lvl="1" marL="277495" indent="-95250">
              <a:lnSpc>
                <a:spcPct val="100000"/>
              </a:lnSpc>
              <a:spcBef>
                <a:spcPts val="1000"/>
              </a:spcBef>
              <a:buSzPct val="92857"/>
              <a:buChar char="•"/>
              <a:tabLst>
                <a:tab pos="277495" algn="l"/>
              </a:tabLst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Verified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structure,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types,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column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consistency.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404040"/>
              </a:buClr>
              <a:buFont typeface="Calibri"/>
              <a:buChar char="•"/>
            </a:pP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60"/>
              </a:spcBef>
              <a:buClr>
                <a:srgbClr val="404040"/>
              </a:buClr>
              <a:buFont typeface="Calibri"/>
              <a:buChar char="•"/>
            </a:pPr>
            <a:endParaRPr sz="1400">
              <a:latin typeface="Calibri"/>
              <a:cs typeface="Calibri"/>
            </a:endParaRPr>
          </a:p>
          <a:p>
            <a:pPr marL="187960" indent="-175260">
              <a:lnSpc>
                <a:spcPct val="100000"/>
              </a:lnSpc>
              <a:buAutoNum type="arabicPeriod"/>
              <a:tabLst>
                <a:tab pos="187960" algn="l"/>
              </a:tabLst>
            </a:pP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Cleaning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Preparation</a:t>
            </a:r>
            <a:endParaRPr sz="1400">
              <a:latin typeface="Calibri"/>
              <a:cs typeface="Calibri"/>
            </a:endParaRPr>
          </a:p>
          <a:p>
            <a:pPr lvl="1" marL="277495" indent="-95250">
              <a:lnSpc>
                <a:spcPct val="100000"/>
              </a:lnSpc>
              <a:spcBef>
                <a:spcPts val="1005"/>
              </a:spcBef>
              <a:buSzPct val="92857"/>
              <a:buChar char="•"/>
              <a:tabLst>
                <a:tab pos="277495" algn="l"/>
              </a:tabLst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Checked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missing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—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none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found.</a:t>
            </a:r>
            <a:endParaRPr sz="1400">
              <a:latin typeface="Calibri"/>
              <a:cs typeface="Calibri"/>
            </a:endParaRPr>
          </a:p>
          <a:p>
            <a:pPr lvl="1" marL="277495" indent="-95250">
              <a:lnSpc>
                <a:spcPct val="100000"/>
              </a:lnSpc>
              <a:spcBef>
                <a:spcPts val="994"/>
              </a:spcBef>
              <a:buSzPct val="92857"/>
              <a:buChar char="•"/>
              <a:tabLst>
                <a:tab pos="277495" algn="l"/>
              </a:tabLst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Find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Replace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correct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spelling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errors:</a:t>
            </a:r>
            <a:endParaRPr sz="1400">
              <a:latin typeface="Calibri"/>
              <a:cs typeface="Calibri"/>
            </a:endParaRPr>
          </a:p>
          <a:p>
            <a:pPr lvl="1" marL="277495" indent="-95250">
              <a:lnSpc>
                <a:spcPct val="100000"/>
              </a:lnSpc>
              <a:spcBef>
                <a:spcPts val="1000"/>
              </a:spcBef>
              <a:buSzPct val="92857"/>
              <a:buChar char="•"/>
              <a:tabLst>
                <a:tab pos="277495" algn="l"/>
              </a:tabLst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mayor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major</a:t>
            </a:r>
            <a:endParaRPr sz="1400">
              <a:latin typeface="Calibri"/>
              <a:cs typeface="Calibri"/>
            </a:endParaRPr>
          </a:p>
          <a:p>
            <a:pPr lvl="1" marL="277495" indent="-95250">
              <a:lnSpc>
                <a:spcPct val="100000"/>
              </a:lnSpc>
              <a:spcBef>
                <a:spcPts val="1005"/>
              </a:spcBef>
              <a:buSzPct val="92857"/>
              <a:buChar char="•"/>
              <a:tabLst>
                <a:tab pos="277495" algn="l"/>
              </a:tabLst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Unclasified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Unclassified</a:t>
            </a:r>
            <a:endParaRPr sz="1400">
              <a:latin typeface="Calibri"/>
              <a:cs typeface="Calibri"/>
            </a:endParaRPr>
          </a:p>
          <a:p>
            <a:pPr lvl="1" marL="277495" indent="-95250">
              <a:lnSpc>
                <a:spcPct val="100000"/>
              </a:lnSpc>
              <a:spcBef>
                <a:spcPts val="994"/>
              </a:spcBef>
              <a:buSzPct val="92857"/>
              <a:buChar char="•"/>
              <a:tabLst>
                <a:tab pos="277495" algn="l"/>
              </a:tabLst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Unassiged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Unassigned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352803" y="1742186"/>
            <a:ext cx="4978400" cy="3642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36220" indent="-223520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236220" algn="l"/>
              </a:tabLst>
            </a:pP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Data</a:t>
            </a:r>
            <a:r>
              <a:rPr dirty="0" sz="1400" spc="-10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Trebuchet MS"/>
                <a:cs typeface="Trebuchet MS"/>
              </a:rPr>
              <a:t>Analysis</a:t>
            </a:r>
            <a:endParaRPr sz="1400">
              <a:latin typeface="Trebuchet MS"/>
              <a:cs typeface="Trebuchet MS"/>
            </a:endParaRPr>
          </a:p>
          <a:p>
            <a:pPr lvl="1" marL="417830" indent="-69850">
              <a:lnSpc>
                <a:spcPct val="100000"/>
              </a:lnSpc>
              <a:spcBef>
                <a:spcPts val="1005"/>
              </a:spcBef>
              <a:buSzPct val="92857"/>
              <a:buFont typeface="Arial"/>
              <a:buChar char="•"/>
              <a:tabLst>
                <a:tab pos="417830" algn="l"/>
              </a:tabLst>
            </a:pP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Created</a:t>
            </a:r>
            <a:r>
              <a:rPr dirty="0" sz="14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Pivot</a:t>
            </a:r>
            <a:r>
              <a:rPr dirty="0" sz="1400" spc="-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404040"/>
                </a:solidFill>
                <a:latin typeface="Trebuchet MS"/>
                <a:cs typeface="Trebuchet MS"/>
              </a:rPr>
              <a:t>Tables</a:t>
            </a:r>
            <a:r>
              <a:rPr dirty="0" sz="14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to</a:t>
            </a:r>
            <a:r>
              <a:rPr dirty="0" sz="14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summarize</a:t>
            </a:r>
            <a:r>
              <a:rPr dirty="0" sz="14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key</a:t>
            </a:r>
            <a:r>
              <a:rPr dirty="0" sz="14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metrics</a:t>
            </a:r>
            <a:r>
              <a:rPr dirty="0" sz="14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such</a:t>
            </a:r>
            <a:r>
              <a:rPr dirty="0" sz="14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Trebuchet MS"/>
                <a:cs typeface="Trebuchet MS"/>
              </a:rPr>
              <a:t>as:</a:t>
            </a:r>
            <a:endParaRPr sz="1400">
              <a:latin typeface="Trebuchet MS"/>
              <a:cs typeface="Trebuchet MS"/>
            </a:endParaRPr>
          </a:p>
          <a:p>
            <a:pPr lvl="1" marL="417195" indent="-69850">
              <a:lnSpc>
                <a:spcPct val="100000"/>
              </a:lnSpc>
              <a:spcBef>
                <a:spcPts val="1005"/>
              </a:spcBef>
              <a:buSzPct val="92857"/>
              <a:buFont typeface="Arial"/>
              <a:buChar char="•"/>
              <a:tabLst>
                <a:tab pos="417195" algn="l"/>
              </a:tabLst>
            </a:pP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Tickets</a:t>
            </a:r>
            <a:r>
              <a:rPr dirty="0" sz="14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by</a:t>
            </a:r>
            <a:r>
              <a:rPr dirty="0" sz="14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Severity</a:t>
            </a:r>
            <a:r>
              <a:rPr dirty="0" sz="14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4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Priority</a:t>
            </a:r>
            <a:endParaRPr sz="1400">
              <a:latin typeface="Trebuchet MS"/>
              <a:cs typeface="Trebuchet MS"/>
            </a:endParaRPr>
          </a:p>
          <a:p>
            <a:pPr lvl="1" marL="417195" indent="-69850">
              <a:lnSpc>
                <a:spcPct val="100000"/>
              </a:lnSpc>
              <a:spcBef>
                <a:spcPts val="1000"/>
              </a:spcBef>
              <a:buSzPct val="92857"/>
              <a:buFont typeface="Arial"/>
              <a:buChar char="•"/>
              <a:tabLst>
                <a:tab pos="417195" algn="l"/>
              </a:tabLst>
            </a:pP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Ticket</a:t>
            </a:r>
            <a:r>
              <a:rPr dirty="0" sz="14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Resolution</a:t>
            </a:r>
            <a:r>
              <a:rPr dirty="0" sz="1400" spc="-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Trends</a:t>
            </a:r>
            <a:endParaRPr sz="1400">
              <a:latin typeface="Trebuchet MS"/>
              <a:cs typeface="Trebuchet MS"/>
            </a:endParaRPr>
          </a:p>
          <a:p>
            <a:pPr lvl="1" marL="417195" indent="-69850">
              <a:lnSpc>
                <a:spcPct val="100000"/>
              </a:lnSpc>
              <a:spcBef>
                <a:spcPts val="994"/>
              </a:spcBef>
              <a:buSzPct val="92857"/>
              <a:buFont typeface="Arial"/>
              <a:buChar char="•"/>
              <a:tabLst>
                <a:tab pos="417195" algn="l"/>
              </a:tabLst>
            </a:pPr>
            <a:r>
              <a:rPr dirty="0" sz="1400" spc="-45">
                <a:solidFill>
                  <a:srgbClr val="404040"/>
                </a:solidFill>
                <a:latin typeface="Trebuchet MS"/>
                <a:cs typeface="Trebuchet MS"/>
              </a:rPr>
              <a:t>Team</a:t>
            </a:r>
            <a:r>
              <a:rPr dirty="0" sz="14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Performance</a:t>
            </a:r>
            <a:r>
              <a:rPr dirty="0" sz="14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4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Category-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wise</a:t>
            </a:r>
            <a:r>
              <a:rPr dirty="0" sz="1400" spc="-10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Analysis</a:t>
            </a:r>
            <a:endParaRPr sz="1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endParaRPr sz="1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425"/>
              </a:spcBef>
              <a:buClr>
                <a:srgbClr val="404040"/>
              </a:buClr>
              <a:buFont typeface="Arial"/>
              <a:buChar char="•"/>
            </a:pPr>
            <a:endParaRPr sz="1400">
              <a:latin typeface="Trebuchet MS"/>
              <a:cs typeface="Trebuchet MS"/>
            </a:endParaRPr>
          </a:p>
          <a:p>
            <a:pPr marL="236220" indent="-223520">
              <a:lnSpc>
                <a:spcPct val="100000"/>
              </a:lnSpc>
              <a:buAutoNum type="arabicPeriod" startAt="3"/>
              <a:tabLst>
                <a:tab pos="236220" algn="l"/>
              </a:tabLst>
            </a:pP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Dashboard</a:t>
            </a:r>
            <a:r>
              <a:rPr dirty="0" sz="1400" spc="-7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Trebuchet MS"/>
                <a:cs typeface="Trebuchet MS"/>
              </a:rPr>
              <a:t>Development</a:t>
            </a:r>
            <a:endParaRPr sz="1400">
              <a:latin typeface="Trebuchet MS"/>
              <a:cs typeface="Trebuchet MS"/>
            </a:endParaRPr>
          </a:p>
          <a:p>
            <a:pPr lvl="1" marL="417195" indent="-69850">
              <a:lnSpc>
                <a:spcPct val="100000"/>
              </a:lnSpc>
              <a:spcBef>
                <a:spcPts val="1005"/>
              </a:spcBef>
              <a:buSzPct val="92857"/>
              <a:buFont typeface="Arial"/>
              <a:buChar char="•"/>
              <a:tabLst>
                <a:tab pos="417195" algn="l"/>
              </a:tabLst>
            </a:pP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Built</a:t>
            </a:r>
            <a:r>
              <a:rPr dirty="0" sz="14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an</a:t>
            </a:r>
            <a:r>
              <a:rPr dirty="0" sz="14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interactive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Excel</a:t>
            </a:r>
            <a:r>
              <a:rPr dirty="0" sz="14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Dashboard</a:t>
            </a:r>
            <a:endParaRPr sz="1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buClr>
                <a:srgbClr val="404040"/>
              </a:buClr>
              <a:buFont typeface="Arial"/>
              <a:buChar char="•"/>
            </a:pPr>
            <a:endParaRPr sz="14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425"/>
              </a:spcBef>
              <a:buClr>
                <a:srgbClr val="404040"/>
              </a:buClr>
              <a:buFont typeface="Arial"/>
              <a:buChar char="•"/>
            </a:pPr>
            <a:endParaRPr sz="1400">
              <a:latin typeface="Trebuchet MS"/>
              <a:cs typeface="Trebuchet MS"/>
            </a:endParaRPr>
          </a:p>
          <a:p>
            <a:pPr marL="236220" indent="-223520">
              <a:lnSpc>
                <a:spcPct val="100000"/>
              </a:lnSpc>
              <a:buAutoNum type="arabicPeriod" startAt="3"/>
              <a:tabLst>
                <a:tab pos="236220" algn="l"/>
              </a:tabLst>
            </a:pP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Insights</a:t>
            </a:r>
            <a:r>
              <a:rPr dirty="0" sz="1400" spc="-4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&amp;</a:t>
            </a:r>
            <a:r>
              <a:rPr dirty="0" sz="1400" spc="-2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Trebuchet MS"/>
                <a:cs typeface="Trebuchet MS"/>
              </a:rPr>
              <a:t>Reporting</a:t>
            </a:r>
            <a:endParaRPr sz="1400">
              <a:latin typeface="Trebuchet MS"/>
              <a:cs typeface="Trebuchet MS"/>
            </a:endParaRPr>
          </a:p>
          <a:p>
            <a:pPr lvl="1" marL="417195" indent="-69850">
              <a:lnSpc>
                <a:spcPct val="100000"/>
              </a:lnSpc>
              <a:spcBef>
                <a:spcPts val="1005"/>
              </a:spcBef>
              <a:buSzPct val="92857"/>
              <a:buFont typeface="Arial"/>
              <a:buChar char="•"/>
              <a:tabLst>
                <a:tab pos="417195" algn="l"/>
              </a:tabLst>
            </a:pP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Derived</a:t>
            </a:r>
            <a:r>
              <a:rPr dirty="0" sz="14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actionable</a:t>
            </a:r>
            <a:r>
              <a:rPr dirty="0" sz="14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insights</a:t>
            </a:r>
            <a:r>
              <a:rPr dirty="0" sz="14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dirty="0" sz="14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ticket</a:t>
            </a:r>
            <a:r>
              <a:rPr dirty="0" sz="14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resolution</a:t>
            </a:r>
            <a:r>
              <a:rPr dirty="0" sz="14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patterns.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346" y="947552"/>
            <a:ext cx="6785092" cy="50234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2430">
              <a:lnSpc>
                <a:spcPct val="100000"/>
              </a:lnSpc>
              <a:spcBef>
                <a:spcPts val="100"/>
              </a:spcBef>
            </a:pPr>
            <a:r>
              <a:rPr dirty="0"/>
              <a:t>Ticket</a:t>
            </a:r>
            <a:r>
              <a:rPr dirty="0" spc="-210"/>
              <a:t> </a:t>
            </a:r>
            <a:r>
              <a:rPr dirty="0"/>
              <a:t>Volume</a:t>
            </a:r>
            <a:r>
              <a:rPr dirty="0" spc="-210"/>
              <a:t> </a:t>
            </a:r>
            <a:r>
              <a:rPr dirty="0"/>
              <a:t>Over</a:t>
            </a:r>
            <a:r>
              <a:rPr dirty="0" spc="-200"/>
              <a:t> </a:t>
            </a:r>
            <a:r>
              <a:rPr dirty="0" spc="-2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09105" y="2781757"/>
            <a:ext cx="4396105" cy="136779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3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Ticket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volume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increased consistently</a:t>
            </a:r>
            <a:r>
              <a:rPr dirty="0" sz="14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across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years.</a:t>
            </a:r>
            <a:endParaRPr sz="1400">
              <a:latin typeface="Calibri"/>
              <a:cs typeface="Calibri"/>
            </a:endParaRPr>
          </a:p>
          <a:p>
            <a:pPr marL="241300" marR="233679" indent="-228600">
              <a:lnSpc>
                <a:spcPts val="151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Significant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growth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2020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(~35%</a:t>
            </a:r>
            <a:r>
              <a:rPr dirty="0" sz="14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YoY)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possibly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due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increased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usage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/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load.</a:t>
            </a:r>
            <a:endParaRPr sz="1400">
              <a:latin typeface="Calibri"/>
              <a:cs typeface="Calibri"/>
            </a:endParaRPr>
          </a:p>
          <a:p>
            <a:pPr marL="241300" marR="5080" indent="-228600">
              <a:lnSpc>
                <a:spcPts val="15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Indicates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higher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support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demand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increasing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platform adoption.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79295" y="3889628"/>
            <a:ext cx="3099435" cy="0"/>
          </a:xfrm>
          <a:custGeom>
            <a:avLst/>
            <a:gdLst/>
            <a:ahLst/>
            <a:cxnLst/>
            <a:rect l="l" t="t" r="r" b="b"/>
            <a:pathLst>
              <a:path w="3099435" h="0">
                <a:moveTo>
                  <a:pt x="0" y="0"/>
                </a:moveTo>
                <a:lnTo>
                  <a:pt x="3099054" y="0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79295" y="3731895"/>
            <a:ext cx="3099435" cy="0"/>
          </a:xfrm>
          <a:custGeom>
            <a:avLst/>
            <a:gdLst/>
            <a:ahLst/>
            <a:cxnLst/>
            <a:rect l="l" t="t" r="r" b="b"/>
            <a:pathLst>
              <a:path w="3099435" h="0">
                <a:moveTo>
                  <a:pt x="0" y="0"/>
                </a:moveTo>
                <a:lnTo>
                  <a:pt x="3099054" y="0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979295" y="2782061"/>
            <a:ext cx="3099435" cy="797560"/>
            <a:chOff x="1979295" y="2782061"/>
            <a:chExt cx="3099435" cy="797560"/>
          </a:xfrm>
        </p:grpSpPr>
        <p:sp>
          <p:nvSpPr>
            <p:cNvPr id="8" name="object 8"/>
            <p:cNvSpPr/>
            <p:nvPr/>
          </p:nvSpPr>
          <p:spPr>
            <a:xfrm>
              <a:off x="1979295" y="2787014"/>
              <a:ext cx="3099435" cy="787400"/>
            </a:xfrm>
            <a:custGeom>
              <a:avLst/>
              <a:gdLst/>
              <a:ahLst/>
              <a:cxnLst/>
              <a:rect l="l" t="t" r="r" b="b"/>
              <a:pathLst>
                <a:path w="3099435" h="787400">
                  <a:moveTo>
                    <a:pt x="0" y="787146"/>
                  </a:moveTo>
                  <a:lnTo>
                    <a:pt x="3099054" y="787146"/>
                  </a:lnTo>
                </a:path>
                <a:path w="3099435" h="787400">
                  <a:moveTo>
                    <a:pt x="0" y="630174"/>
                  </a:moveTo>
                  <a:lnTo>
                    <a:pt x="3099054" y="630174"/>
                  </a:lnTo>
                </a:path>
                <a:path w="3099435" h="787400">
                  <a:moveTo>
                    <a:pt x="0" y="472439"/>
                  </a:moveTo>
                  <a:lnTo>
                    <a:pt x="3099054" y="472439"/>
                  </a:lnTo>
                </a:path>
                <a:path w="3099435" h="787400">
                  <a:moveTo>
                    <a:pt x="0" y="314706"/>
                  </a:moveTo>
                  <a:lnTo>
                    <a:pt x="3099054" y="314706"/>
                  </a:lnTo>
                </a:path>
                <a:path w="3099435" h="787400">
                  <a:moveTo>
                    <a:pt x="0" y="157734"/>
                  </a:moveTo>
                  <a:lnTo>
                    <a:pt x="3099054" y="157734"/>
                  </a:lnTo>
                </a:path>
                <a:path w="3099435" h="787400">
                  <a:moveTo>
                    <a:pt x="0" y="0"/>
                  </a:moveTo>
                  <a:lnTo>
                    <a:pt x="3099054" y="0"/>
                  </a:lnTo>
                </a:path>
              </a:pathLst>
            </a:custGeom>
            <a:ln w="990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056638" y="2836925"/>
              <a:ext cx="2944495" cy="698500"/>
            </a:xfrm>
            <a:custGeom>
              <a:avLst/>
              <a:gdLst/>
              <a:ahLst/>
              <a:cxnLst/>
              <a:rect l="l" t="t" r="r" b="b"/>
              <a:pathLst>
                <a:path w="2944495" h="698500">
                  <a:moveTo>
                    <a:pt x="0" y="694182"/>
                  </a:moveTo>
                  <a:lnTo>
                    <a:pt x="155448" y="695706"/>
                  </a:lnTo>
                  <a:lnTo>
                    <a:pt x="310134" y="697991"/>
                  </a:lnTo>
                  <a:lnTo>
                    <a:pt x="464819" y="697229"/>
                  </a:lnTo>
                  <a:lnTo>
                    <a:pt x="620268" y="649224"/>
                  </a:lnTo>
                  <a:lnTo>
                    <a:pt x="774954" y="606551"/>
                  </a:lnTo>
                  <a:lnTo>
                    <a:pt x="929639" y="624839"/>
                  </a:lnTo>
                  <a:lnTo>
                    <a:pt x="1085088" y="611124"/>
                  </a:lnTo>
                  <a:lnTo>
                    <a:pt x="1239774" y="537972"/>
                  </a:lnTo>
                  <a:lnTo>
                    <a:pt x="1394460" y="432815"/>
                  </a:lnTo>
                  <a:lnTo>
                    <a:pt x="1549908" y="434339"/>
                  </a:lnTo>
                  <a:lnTo>
                    <a:pt x="1704594" y="450341"/>
                  </a:lnTo>
                  <a:lnTo>
                    <a:pt x="1859279" y="404622"/>
                  </a:lnTo>
                  <a:lnTo>
                    <a:pt x="2014727" y="398525"/>
                  </a:lnTo>
                  <a:lnTo>
                    <a:pt x="2169414" y="320801"/>
                  </a:lnTo>
                  <a:lnTo>
                    <a:pt x="2324100" y="331470"/>
                  </a:lnTo>
                  <a:lnTo>
                    <a:pt x="2479548" y="83058"/>
                  </a:lnTo>
                  <a:lnTo>
                    <a:pt x="2634234" y="105918"/>
                  </a:lnTo>
                  <a:lnTo>
                    <a:pt x="2788920" y="70103"/>
                  </a:lnTo>
                  <a:lnTo>
                    <a:pt x="2944367" y="0"/>
                  </a:lnTo>
                </a:path>
              </a:pathLst>
            </a:custGeom>
            <a:ln w="28956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/>
          <p:nvPr/>
        </p:nvSpPr>
        <p:spPr>
          <a:xfrm>
            <a:off x="1979295" y="2629280"/>
            <a:ext cx="3099435" cy="0"/>
          </a:xfrm>
          <a:custGeom>
            <a:avLst/>
            <a:gdLst/>
            <a:ahLst/>
            <a:cxnLst/>
            <a:rect l="l" t="t" r="r" b="b"/>
            <a:pathLst>
              <a:path w="3099435" h="0">
                <a:moveTo>
                  <a:pt x="0" y="0"/>
                </a:moveTo>
                <a:lnTo>
                  <a:pt x="3099054" y="0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79295" y="4047363"/>
            <a:ext cx="3099435" cy="521334"/>
          </a:xfrm>
          <a:custGeom>
            <a:avLst/>
            <a:gdLst/>
            <a:ahLst/>
            <a:cxnLst/>
            <a:rect l="l" t="t" r="r" b="b"/>
            <a:pathLst>
              <a:path w="3099435" h="521335">
                <a:moveTo>
                  <a:pt x="0" y="0"/>
                </a:moveTo>
                <a:lnTo>
                  <a:pt x="3099054" y="0"/>
                </a:lnTo>
              </a:path>
              <a:path w="3099435" h="521335">
                <a:moveTo>
                  <a:pt x="0" y="0"/>
                </a:moveTo>
                <a:lnTo>
                  <a:pt x="0" y="307848"/>
                </a:lnTo>
              </a:path>
              <a:path w="3099435" h="521335">
                <a:moveTo>
                  <a:pt x="619506" y="0"/>
                </a:moveTo>
                <a:lnTo>
                  <a:pt x="619506" y="307848"/>
                </a:lnTo>
              </a:path>
              <a:path w="3099435" h="521335">
                <a:moveTo>
                  <a:pt x="1239774" y="0"/>
                </a:moveTo>
                <a:lnTo>
                  <a:pt x="1239774" y="307848"/>
                </a:lnTo>
              </a:path>
              <a:path w="3099435" h="521335">
                <a:moveTo>
                  <a:pt x="1859280" y="0"/>
                </a:moveTo>
                <a:lnTo>
                  <a:pt x="1859280" y="307848"/>
                </a:lnTo>
              </a:path>
              <a:path w="3099435" h="521335">
                <a:moveTo>
                  <a:pt x="2478785" y="0"/>
                </a:moveTo>
                <a:lnTo>
                  <a:pt x="2478785" y="307848"/>
                </a:lnTo>
              </a:path>
              <a:path w="3099435" h="521335">
                <a:moveTo>
                  <a:pt x="3099054" y="0"/>
                </a:moveTo>
                <a:lnTo>
                  <a:pt x="3099054" y="307848"/>
                </a:lnTo>
              </a:path>
              <a:path w="3099435" h="521335">
                <a:moveTo>
                  <a:pt x="0" y="307848"/>
                </a:moveTo>
                <a:lnTo>
                  <a:pt x="0" y="521207"/>
                </a:lnTo>
              </a:path>
              <a:path w="3099435" h="521335">
                <a:moveTo>
                  <a:pt x="619506" y="307848"/>
                </a:moveTo>
                <a:lnTo>
                  <a:pt x="619506" y="521207"/>
                </a:lnTo>
              </a:path>
              <a:path w="3099435" h="521335">
                <a:moveTo>
                  <a:pt x="1239774" y="307848"/>
                </a:moveTo>
                <a:lnTo>
                  <a:pt x="1239774" y="521207"/>
                </a:lnTo>
              </a:path>
              <a:path w="3099435" h="521335">
                <a:moveTo>
                  <a:pt x="1859280" y="307848"/>
                </a:moveTo>
                <a:lnTo>
                  <a:pt x="1859280" y="521207"/>
                </a:lnTo>
              </a:path>
              <a:path w="3099435" h="521335">
                <a:moveTo>
                  <a:pt x="2478785" y="307848"/>
                </a:moveTo>
                <a:lnTo>
                  <a:pt x="2478785" y="521207"/>
                </a:lnTo>
              </a:path>
              <a:path w="3099435" h="521335">
                <a:moveTo>
                  <a:pt x="3099054" y="307848"/>
                </a:moveTo>
                <a:lnTo>
                  <a:pt x="3099054" y="521207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24838" y="2518918"/>
            <a:ext cx="265430" cy="160083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59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9000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16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8000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16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7000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16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6000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16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5000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16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4000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16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3000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16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2000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16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1000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160"/>
              </a:spcBef>
            </a:pPr>
            <a:r>
              <a:rPr dirty="0" sz="900" spc="-5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78016" y="4106375"/>
            <a:ext cx="3102610" cy="252729"/>
          </a:xfrm>
          <a:prstGeom prst="rect">
            <a:avLst/>
          </a:prstGeom>
        </p:spPr>
        <p:txBody>
          <a:bodyPr wrap="square" lIns="0" tIns="571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Qtr1</a:t>
            </a:r>
            <a:endParaRPr sz="900">
              <a:latin typeface="Trebuchet MS"/>
              <a:cs typeface="Trebuchet MS"/>
            </a:endParaRPr>
          </a:p>
          <a:p>
            <a:pPr algn="just" marL="12700" marR="5080">
              <a:lnSpc>
                <a:spcPct val="112999"/>
              </a:lnSpc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Qtr2 Qtr3 Qtr4 Qtr1 Qtr2 Qtr3 Qtr4 Qtr1 Qtr2 Qtr3 Qtr4 Qtr1 Qtr2 Qtr3 Qtr4 Qtr1 Qtr2 Qtr3 Qtr4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6714" y="4407407"/>
            <a:ext cx="265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2016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76727" y="4407407"/>
            <a:ext cx="265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2017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96488" y="4407407"/>
            <a:ext cx="265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2018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16247" y="4407407"/>
            <a:ext cx="265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2019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36008" y="4407407"/>
            <a:ext cx="265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2020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21788" y="2256027"/>
            <a:ext cx="199517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Ticket</a:t>
            </a:r>
            <a:r>
              <a:rPr dirty="0" sz="1400" spc="-6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rebuchet MS"/>
                <a:cs typeface="Trebuchet MS"/>
              </a:rPr>
              <a:t>Volume</a:t>
            </a:r>
            <a:r>
              <a:rPr dirty="0" sz="1400" spc="-6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over</a:t>
            </a:r>
            <a:r>
              <a:rPr dirty="0" sz="1400" spc="-9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585858"/>
                </a:solidFill>
                <a:latin typeface="Trebuchet MS"/>
                <a:cs typeface="Trebuchet MS"/>
              </a:rPr>
              <a:t>Time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41214" y="3581400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956">
            <a:solidFill>
              <a:srgbClr val="90C2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398008" y="3490976"/>
            <a:ext cx="2927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Total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933" y="957833"/>
            <a:ext cx="10429494" cy="133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86789" y="1128776"/>
            <a:ext cx="966787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Ticket</a:t>
            </a:r>
            <a:r>
              <a:rPr dirty="0" spc="-220"/>
              <a:t> </a:t>
            </a:r>
            <a:r>
              <a:rPr dirty="0"/>
              <a:t>Volume</a:t>
            </a:r>
            <a:r>
              <a:rPr dirty="0" spc="-220"/>
              <a:t> </a:t>
            </a:r>
            <a:r>
              <a:rPr dirty="0"/>
              <a:t>by</a:t>
            </a:r>
            <a:r>
              <a:rPr dirty="0" spc="-204"/>
              <a:t> </a:t>
            </a:r>
            <a:r>
              <a:rPr dirty="0"/>
              <a:t>Request</a:t>
            </a:r>
            <a:r>
              <a:rPr dirty="0" spc="-220"/>
              <a:t> </a:t>
            </a:r>
            <a:r>
              <a:rPr dirty="0" spc="-10"/>
              <a:t>Category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72961" y="3175507"/>
            <a:ext cx="40633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System-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related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issues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largest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share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(40%),</a:t>
            </a:r>
            <a:endParaRPr sz="14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indicating</a:t>
            </a:r>
            <a:r>
              <a:rPr dirty="0" sz="14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recurring</a:t>
            </a:r>
            <a:r>
              <a:rPr dirty="0" sz="14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technical</a:t>
            </a:r>
            <a:r>
              <a:rPr dirty="0" sz="14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stability</a:t>
            </a:r>
            <a:r>
              <a:rPr dirty="0" sz="14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concerns.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2961" y="3729482"/>
            <a:ext cx="4608195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Login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access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issues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account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30%,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suggesting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high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dependency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authentication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potential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need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access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workflow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optimization.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2961" y="4496815"/>
            <a:ext cx="39052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Software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issues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represent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20%,</a:t>
            </a:r>
            <a:r>
              <a:rPr dirty="0" sz="14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reflecting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regular</a:t>
            </a:r>
            <a:endParaRPr sz="14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</a:pP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application-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level</a:t>
            </a:r>
            <a:r>
              <a:rPr dirty="0" sz="1400" spc="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troubleshooting.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2961" y="5050282"/>
            <a:ext cx="47212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Hardware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10%,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meaning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physical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device failures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relatively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low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compared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system-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related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cases.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15652" y="3447415"/>
            <a:ext cx="1610995" cy="1823720"/>
            <a:chOff x="2215652" y="3447415"/>
            <a:chExt cx="1610995" cy="1823720"/>
          </a:xfrm>
        </p:grpSpPr>
        <p:sp>
          <p:nvSpPr>
            <p:cNvPr id="9" name="object 9"/>
            <p:cNvSpPr/>
            <p:nvPr/>
          </p:nvSpPr>
          <p:spPr>
            <a:xfrm>
              <a:off x="3131438" y="3447415"/>
              <a:ext cx="417195" cy="710565"/>
            </a:xfrm>
            <a:custGeom>
              <a:avLst/>
              <a:gdLst/>
              <a:ahLst/>
              <a:cxnLst/>
              <a:rect l="l" t="t" r="r" b="b"/>
              <a:pathLst>
                <a:path w="417195" h="710564">
                  <a:moveTo>
                    <a:pt x="0" y="0"/>
                  </a:moveTo>
                  <a:lnTo>
                    <a:pt x="0" y="710438"/>
                  </a:lnTo>
                  <a:lnTo>
                    <a:pt x="417068" y="135255"/>
                  </a:lnTo>
                  <a:lnTo>
                    <a:pt x="375755" y="107470"/>
                  </a:lnTo>
                  <a:lnTo>
                    <a:pt x="332788" y="82742"/>
                  </a:lnTo>
                  <a:lnTo>
                    <a:pt x="288337" y="61129"/>
                  </a:lnTo>
                  <a:lnTo>
                    <a:pt x="242571" y="42686"/>
                  </a:lnTo>
                  <a:lnTo>
                    <a:pt x="195662" y="27469"/>
                  </a:lnTo>
                  <a:lnTo>
                    <a:pt x="147780" y="15536"/>
                  </a:lnTo>
                  <a:lnTo>
                    <a:pt x="99096" y="6942"/>
                  </a:lnTo>
                  <a:lnTo>
                    <a:pt x="49779" y="17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06674" y="3812286"/>
              <a:ext cx="710565" cy="1148080"/>
            </a:xfrm>
            <a:custGeom>
              <a:avLst/>
              <a:gdLst/>
              <a:ahLst/>
              <a:cxnLst/>
              <a:rect l="l" t="t" r="r" b="b"/>
              <a:pathLst>
                <a:path w="710564" h="1148079">
                  <a:moveTo>
                    <a:pt x="416940" y="0"/>
                  </a:moveTo>
                  <a:lnTo>
                    <a:pt x="0" y="575182"/>
                  </a:lnTo>
                  <a:lnTo>
                    <a:pt x="420370" y="1148080"/>
                  </a:lnTo>
                  <a:lnTo>
                    <a:pt x="463510" y="1113694"/>
                  </a:lnTo>
                  <a:lnTo>
                    <a:pt x="503840" y="1076166"/>
                  </a:lnTo>
                  <a:lnTo>
                    <a:pt x="541170" y="1035637"/>
                  </a:lnTo>
                  <a:lnTo>
                    <a:pt x="575310" y="992251"/>
                  </a:lnTo>
                  <a:lnTo>
                    <a:pt x="602526" y="951897"/>
                  </a:lnTo>
                  <a:lnTo>
                    <a:pt x="626630" y="910374"/>
                  </a:lnTo>
                  <a:lnTo>
                    <a:pt x="647645" y="867828"/>
                  </a:lnTo>
                  <a:lnTo>
                    <a:pt x="665593" y="824409"/>
                  </a:lnTo>
                  <a:lnTo>
                    <a:pt x="680499" y="780263"/>
                  </a:lnTo>
                  <a:lnTo>
                    <a:pt x="692386" y="735538"/>
                  </a:lnTo>
                  <a:lnTo>
                    <a:pt x="701277" y="690382"/>
                  </a:lnTo>
                  <a:lnTo>
                    <a:pt x="707197" y="644943"/>
                  </a:lnTo>
                  <a:lnTo>
                    <a:pt x="710168" y="599369"/>
                  </a:lnTo>
                  <a:lnTo>
                    <a:pt x="710214" y="553807"/>
                  </a:lnTo>
                  <a:lnTo>
                    <a:pt x="707359" y="508405"/>
                  </a:lnTo>
                  <a:lnTo>
                    <a:pt x="701627" y="463311"/>
                  </a:lnTo>
                  <a:lnTo>
                    <a:pt x="693040" y="418673"/>
                  </a:lnTo>
                  <a:lnTo>
                    <a:pt x="681623" y="374639"/>
                  </a:lnTo>
                  <a:lnTo>
                    <a:pt x="667398" y="331356"/>
                  </a:lnTo>
                  <a:lnTo>
                    <a:pt x="650390" y="288972"/>
                  </a:lnTo>
                  <a:lnTo>
                    <a:pt x="630622" y="247634"/>
                  </a:lnTo>
                  <a:lnTo>
                    <a:pt x="608117" y="207492"/>
                  </a:lnTo>
                  <a:lnTo>
                    <a:pt x="582900" y="168692"/>
                  </a:lnTo>
                  <a:lnTo>
                    <a:pt x="554992" y="131382"/>
                  </a:lnTo>
                  <a:lnTo>
                    <a:pt x="524419" y="95710"/>
                  </a:lnTo>
                  <a:lnTo>
                    <a:pt x="491204" y="61823"/>
                  </a:lnTo>
                  <a:lnTo>
                    <a:pt x="455370" y="29871"/>
                  </a:lnTo>
                  <a:lnTo>
                    <a:pt x="416940" y="0"/>
                  </a:lnTo>
                  <a:close/>
                </a:path>
              </a:pathLst>
            </a:custGeom>
            <a:solidFill>
              <a:srgbClr val="539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06674" y="3812286"/>
              <a:ext cx="710565" cy="1148080"/>
            </a:xfrm>
            <a:custGeom>
              <a:avLst/>
              <a:gdLst/>
              <a:ahLst/>
              <a:cxnLst/>
              <a:rect l="l" t="t" r="r" b="b"/>
              <a:pathLst>
                <a:path w="710564" h="1148079">
                  <a:moveTo>
                    <a:pt x="416940" y="0"/>
                  </a:moveTo>
                  <a:lnTo>
                    <a:pt x="455370" y="29871"/>
                  </a:lnTo>
                  <a:lnTo>
                    <a:pt x="491204" y="61823"/>
                  </a:lnTo>
                  <a:lnTo>
                    <a:pt x="524419" y="95710"/>
                  </a:lnTo>
                  <a:lnTo>
                    <a:pt x="554992" y="131382"/>
                  </a:lnTo>
                  <a:lnTo>
                    <a:pt x="582900" y="168692"/>
                  </a:lnTo>
                  <a:lnTo>
                    <a:pt x="608117" y="207492"/>
                  </a:lnTo>
                  <a:lnTo>
                    <a:pt x="630622" y="247634"/>
                  </a:lnTo>
                  <a:lnTo>
                    <a:pt x="650390" y="288972"/>
                  </a:lnTo>
                  <a:lnTo>
                    <a:pt x="667398" y="331356"/>
                  </a:lnTo>
                  <a:lnTo>
                    <a:pt x="681623" y="374639"/>
                  </a:lnTo>
                  <a:lnTo>
                    <a:pt x="693040" y="418673"/>
                  </a:lnTo>
                  <a:lnTo>
                    <a:pt x="701627" y="463311"/>
                  </a:lnTo>
                  <a:lnTo>
                    <a:pt x="707359" y="508405"/>
                  </a:lnTo>
                  <a:lnTo>
                    <a:pt x="710214" y="553807"/>
                  </a:lnTo>
                  <a:lnTo>
                    <a:pt x="710168" y="599369"/>
                  </a:lnTo>
                  <a:lnTo>
                    <a:pt x="707197" y="644943"/>
                  </a:lnTo>
                  <a:lnTo>
                    <a:pt x="701277" y="690382"/>
                  </a:lnTo>
                  <a:lnTo>
                    <a:pt x="692386" y="735538"/>
                  </a:lnTo>
                  <a:lnTo>
                    <a:pt x="680499" y="780263"/>
                  </a:lnTo>
                  <a:lnTo>
                    <a:pt x="665593" y="824409"/>
                  </a:lnTo>
                  <a:lnTo>
                    <a:pt x="647645" y="867828"/>
                  </a:lnTo>
                  <a:lnTo>
                    <a:pt x="626630" y="910374"/>
                  </a:lnTo>
                  <a:lnTo>
                    <a:pt x="602526" y="951897"/>
                  </a:lnTo>
                  <a:lnTo>
                    <a:pt x="575310" y="992251"/>
                  </a:lnTo>
                  <a:lnTo>
                    <a:pt x="541170" y="1035637"/>
                  </a:lnTo>
                  <a:lnTo>
                    <a:pt x="503840" y="1076166"/>
                  </a:lnTo>
                  <a:lnTo>
                    <a:pt x="463510" y="1113694"/>
                  </a:lnTo>
                  <a:lnTo>
                    <a:pt x="420370" y="1148080"/>
                  </a:lnTo>
                  <a:lnTo>
                    <a:pt x="0" y="575182"/>
                  </a:lnTo>
                  <a:lnTo>
                    <a:pt x="416940" y="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639822" y="4551045"/>
              <a:ext cx="838200" cy="710565"/>
            </a:xfrm>
            <a:custGeom>
              <a:avLst/>
              <a:gdLst/>
              <a:ahLst/>
              <a:cxnLst/>
              <a:rect l="l" t="t" r="r" b="b"/>
              <a:pathLst>
                <a:path w="838200" h="710564">
                  <a:moveTo>
                    <a:pt x="417575" y="0"/>
                  </a:moveTo>
                  <a:lnTo>
                    <a:pt x="0" y="574928"/>
                  </a:lnTo>
                  <a:lnTo>
                    <a:pt x="40194" y="602069"/>
                  </a:lnTo>
                  <a:lnTo>
                    <a:pt x="81705" y="626181"/>
                  </a:lnTo>
                  <a:lnTo>
                    <a:pt x="124379" y="647264"/>
                  </a:lnTo>
                  <a:lnTo>
                    <a:pt x="168057" y="665319"/>
                  </a:lnTo>
                  <a:lnTo>
                    <a:pt x="212585" y="680344"/>
                  </a:lnTo>
                  <a:lnTo>
                    <a:pt x="257806" y="692342"/>
                  </a:lnTo>
                  <a:lnTo>
                    <a:pt x="303565" y="701311"/>
                  </a:lnTo>
                  <a:lnTo>
                    <a:pt x="349705" y="707252"/>
                  </a:lnTo>
                  <a:lnTo>
                    <a:pt x="396071" y="710164"/>
                  </a:lnTo>
                  <a:lnTo>
                    <a:pt x="442507" y="710049"/>
                  </a:lnTo>
                  <a:lnTo>
                    <a:pt x="488856" y="706906"/>
                  </a:lnTo>
                  <a:lnTo>
                    <a:pt x="534962" y="700735"/>
                  </a:lnTo>
                  <a:lnTo>
                    <a:pt x="580670" y="691536"/>
                  </a:lnTo>
                  <a:lnTo>
                    <a:pt x="625824" y="679310"/>
                  </a:lnTo>
                  <a:lnTo>
                    <a:pt x="670268" y="664056"/>
                  </a:lnTo>
                  <a:lnTo>
                    <a:pt x="713845" y="645775"/>
                  </a:lnTo>
                  <a:lnTo>
                    <a:pt x="756400" y="624467"/>
                  </a:lnTo>
                  <a:lnTo>
                    <a:pt x="797776" y="600132"/>
                  </a:lnTo>
                  <a:lnTo>
                    <a:pt x="837818" y="572769"/>
                  </a:lnTo>
                  <a:lnTo>
                    <a:pt x="417575" y="0"/>
                  </a:lnTo>
                  <a:close/>
                </a:path>
              </a:pathLst>
            </a:custGeom>
            <a:solidFill>
              <a:srgbClr val="E6B8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639822" y="4551045"/>
              <a:ext cx="838200" cy="710565"/>
            </a:xfrm>
            <a:custGeom>
              <a:avLst/>
              <a:gdLst/>
              <a:ahLst/>
              <a:cxnLst/>
              <a:rect l="l" t="t" r="r" b="b"/>
              <a:pathLst>
                <a:path w="838200" h="710564">
                  <a:moveTo>
                    <a:pt x="837818" y="572769"/>
                  </a:moveTo>
                  <a:lnTo>
                    <a:pt x="797776" y="600132"/>
                  </a:lnTo>
                  <a:lnTo>
                    <a:pt x="756400" y="624467"/>
                  </a:lnTo>
                  <a:lnTo>
                    <a:pt x="713845" y="645775"/>
                  </a:lnTo>
                  <a:lnTo>
                    <a:pt x="670268" y="664056"/>
                  </a:lnTo>
                  <a:lnTo>
                    <a:pt x="625824" y="679310"/>
                  </a:lnTo>
                  <a:lnTo>
                    <a:pt x="580670" y="691536"/>
                  </a:lnTo>
                  <a:lnTo>
                    <a:pt x="534962" y="700735"/>
                  </a:lnTo>
                  <a:lnTo>
                    <a:pt x="488856" y="706906"/>
                  </a:lnTo>
                  <a:lnTo>
                    <a:pt x="442507" y="710049"/>
                  </a:lnTo>
                  <a:lnTo>
                    <a:pt x="396071" y="710164"/>
                  </a:lnTo>
                  <a:lnTo>
                    <a:pt x="349705" y="707252"/>
                  </a:lnTo>
                  <a:lnTo>
                    <a:pt x="303565" y="701311"/>
                  </a:lnTo>
                  <a:lnTo>
                    <a:pt x="257806" y="692342"/>
                  </a:lnTo>
                  <a:lnTo>
                    <a:pt x="212585" y="680344"/>
                  </a:lnTo>
                  <a:lnTo>
                    <a:pt x="168057" y="665319"/>
                  </a:lnTo>
                  <a:lnTo>
                    <a:pt x="124379" y="647264"/>
                  </a:lnTo>
                  <a:lnTo>
                    <a:pt x="81705" y="626181"/>
                  </a:lnTo>
                  <a:lnTo>
                    <a:pt x="40194" y="602069"/>
                  </a:lnTo>
                  <a:lnTo>
                    <a:pt x="0" y="574928"/>
                  </a:lnTo>
                  <a:lnTo>
                    <a:pt x="417575" y="0"/>
                  </a:lnTo>
                  <a:lnTo>
                    <a:pt x="837818" y="57276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25177" y="3637661"/>
              <a:ext cx="710565" cy="1285875"/>
            </a:xfrm>
            <a:custGeom>
              <a:avLst/>
              <a:gdLst/>
              <a:ahLst/>
              <a:cxnLst/>
              <a:rect l="l" t="t" r="r" b="b"/>
              <a:pathLst>
                <a:path w="710564" h="1285875">
                  <a:moveTo>
                    <a:pt x="710173" y="0"/>
                  </a:moveTo>
                  <a:lnTo>
                    <a:pt x="661667" y="1655"/>
                  </a:lnTo>
                  <a:lnTo>
                    <a:pt x="613725" y="6572"/>
                  </a:lnTo>
                  <a:lnTo>
                    <a:pt x="566494" y="14676"/>
                  </a:lnTo>
                  <a:lnTo>
                    <a:pt x="520118" y="25894"/>
                  </a:lnTo>
                  <a:lnTo>
                    <a:pt x="474744" y="40151"/>
                  </a:lnTo>
                  <a:lnTo>
                    <a:pt x="430515" y="57373"/>
                  </a:lnTo>
                  <a:lnTo>
                    <a:pt x="387577" y="77485"/>
                  </a:lnTo>
                  <a:lnTo>
                    <a:pt x="346077" y="100415"/>
                  </a:lnTo>
                  <a:lnTo>
                    <a:pt x="306157" y="126086"/>
                  </a:lnTo>
                  <a:lnTo>
                    <a:pt x="267965" y="154427"/>
                  </a:lnTo>
                  <a:lnTo>
                    <a:pt x="231645" y="185361"/>
                  </a:lnTo>
                  <a:lnTo>
                    <a:pt x="197343" y="218816"/>
                  </a:lnTo>
                  <a:lnTo>
                    <a:pt x="165203" y="254716"/>
                  </a:lnTo>
                  <a:lnTo>
                    <a:pt x="135371" y="292988"/>
                  </a:lnTo>
                  <a:lnTo>
                    <a:pt x="108107" y="333312"/>
                  </a:lnTo>
                  <a:lnTo>
                    <a:pt x="83955" y="374807"/>
                  </a:lnTo>
                  <a:lnTo>
                    <a:pt x="62894" y="417327"/>
                  </a:lnTo>
                  <a:lnTo>
                    <a:pt x="44898" y="460725"/>
                  </a:lnTo>
                  <a:lnTo>
                    <a:pt x="29945" y="504852"/>
                  </a:lnTo>
                  <a:lnTo>
                    <a:pt x="18011" y="549560"/>
                  </a:lnTo>
                  <a:lnTo>
                    <a:pt x="9074" y="594703"/>
                  </a:lnTo>
                  <a:lnTo>
                    <a:pt x="3108" y="640131"/>
                  </a:lnTo>
                  <a:lnTo>
                    <a:pt x="91" y="685698"/>
                  </a:lnTo>
                  <a:lnTo>
                    <a:pt x="0" y="731256"/>
                  </a:lnTo>
                  <a:lnTo>
                    <a:pt x="2810" y="776657"/>
                  </a:lnTo>
                  <a:lnTo>
                    <a:pt x="8498" y="821753"/>
                  </a:lnTo>
                  <a:lnTo>
                    <a:pt x="17042" y="866397"/>
                  </a:lnTo>
                  <a:lnTo>
                    <a:pt x="28417" y="910440"/>
                  </a:lnTo>
                  <a:lnTo>
                    <a:pt x="42599" y="953736"/>
                  </a:lnTo>
                  <a:lnTo>
                    <a:pt x="59566" y="996136"/>
                  </a:lnTo>
                  <a:lnTo>
                    <a:pt x="79295" y="1037492"/>
                  </a:lnTo>
                  <a:lnTo>
                    <a:pt x="101760" y="1077658"/>
                  </a:lnTo>
                  <a:lnTo>
                    <a:pt x="126939" y="1116485"/>
                  </a:lnTo>
                  <a:lnTo>
                    <a:pt x="154809" y="1153825"/>
                  </a:lnTo>
                  <a:lnTo>
                    <a:pt x="185346" y="1189531"/>
                  </a:lnTo>
                  <a:lnTo>
                    <a:pt x="218527" y="1223455"/>
                  </a:lnTo>
                  <a:lnTo>
                    <a:pt x="254327" y="1255450"/>
                  </a:lnTo>
                  <a:lnTo>
                    <a:pt x="292724" y="1285366"/>
                  </a:lnTo>
                  <a:lnTo>
                    <a:pt x="710173" y="710564"/>
                  </a:lnTo>
                  <a:lnTo>
                    <a:pt x="710173" y="0"/>
                  </a:lnTo>
                  <a:close/>
                </a:path>
              </a:pathLst>
            </a:custGeom>
            <a:solidFill>
              <a:srgbClr val="E766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225177" y="3637661"/>
              <a:ext cx="710565" cy="1285875"/>
            </a:xfrm>
            <a:custGeom>
              <a:avLst/>
              <a:gdLst/>
              <a:ahLst/>
              <a:cxnLst/>
              <a:rect l="l" t="t" r="r" b="b"/>
              <a:pathLst>
                <a:path w="710564" h="1285875">
                  <a:moveTo>
                    <a:pt x="292724" y="1285366"/>
                  </a:moveTo>
                  <a:lnTo>
                    <a:pt x="254327" y="1255450"/>
                  </a:lnTo>
                  <a:lnTo>
                    <a:pt x="218527" y="1223455"/>
                  </a:lnTo>
                  <a:lnTo>
                    <a:pt x="185346" y="1189531"/>
                  </a:lnTo>
                  <a:lnTo>
                    <a:pt x="154809" y="1153825"/>
                  </a:lnTo>
                  <a:lnTo>
                    <a:pt x="126939" y="1116485"/>
                  </a:lnTo>
                  <a:lnTo>
                    <a:pt x="101760" y="1077658"/>
                  </a:lnTo>
                  <a:lnTo>
                    <a:pt x="79295" y="1037492"/>
                  </a:lnTo>
                  <a:lnTo>
                    <a:pt x="59566" y="996136"/>
                  </a:lnTo>
                  <a:lnTo>
                    <a:pt x="42599" y="953736"/>
                  </a:lnTo>
                  <a:lnTo>
                    <a:pt x="28417" y="910440"/>
                  </a:lnTo>
                  <a:lnTo>
                    <a:pt x="17042" y="866397"/>
                  </a:lnTo>
                  <a:lnTo>
                    <a:pt x="8498" y="821753"/>
                  </a:lnTo>
                  <a:lnTo>
                    <a:pt x="2810" y="776657"/>
                  </a:lnTo>
                  <a:lnTo>
                    <a:pt x="0" y="731256"/>
                  </a:lnTo>
                  <a:lnTo>
                    <a:pt x="91" y="685698"/>
                  </a:lnTo>
                  <a:lnTo>
                    <a:pt x="3108" y="640131"/>
                  </a:lnTo>
                  <a:lnTo>
                    <a:pt x="9074" y="594703"/>
                  </a:lnTo>
                  <a:lnTo>
                    <a:pt x="18011" y="549560"/>
                  </a:lnTo>
                  <a:lnTo>
                    <a:pt x="29945" y="504852"/>
                  </a:lnTo>
                  <a:lnTo>
                    <a:pt x="44898" y="460725"/>
                  </a:lnTo>
                  <a:lnTo>
                    <a:pt x="62894" y="417327"/>
                  </a:lnTo>
                  <a:lnTo>
                    <a:pt x="83955" y="374807"/>
                  </a:lnTo>
                  <a:lnTo>
                    <a:pt x="108107" y="333312"/>
                  </a:lnTo>
                  <a:lnTo>
                    <a:pt x="135371" y="292988"/>
                  </a:lnTo>
                  <a:lnTo>
                    <a:pt x="165203" y="254716"/>
                  </a:lnTo>
                  <a:lnTo>
                    <a:pt x="197343" y="218816"/>
                  </a:lnTo>
                  <a:lnTo>
                    <a:pt x="231645" y="185361"/>
                  </a:lnTo>
                  <a:lnTo>
                    <a:pt x="267965" y="154427"/>
                  </a:lnTo>
                  <a:lnTo>
                    <a:pt x="306157" y="126086"/>
                  </a:lnTo>
                  <a:lnTo>
                    <a:pt x="346077" y="100415"/>
                  </a:lnTo>
                  <a:lnTo>
                    <a:pt x="387577" y="77485"/>
                  </a:lnTo>
                  <a:lnTo>
                    <a:pt x="430515" y="57373"/>
                  </a:lnTo>
                  <a:lnTo>
                    <a:pt x="474744" y="40151"/>
                  </a:lnTo>
                  <a:lnTo>
                    <a:pt x="520118" y="25894"/>
                  </a:lnTo>
                  <a:lnTo>
                    <a:pt x="566494" y="14676"/>
                  </a:lnTo>
                  <a:lnTo>
                    <a:pt x="613725" y="6572"/>
                  </a:lnTo>
                  <a:lnTo>
                    <a:pt x="661667" y="1655"/>
                  </a:lnTo>
                  <a:lnTo>
                    <a:pt x="710173" y="0"/>
                  </a:lnTo>
                  <a:lnTo>
                    <a:pt x="710173" y="710564"/>
                  </a:lnTo>
                  <a:lnTo>
                    <a:pt x="292724" y="128536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068829" y="2818860"/>
            <a:ext cx="2888615" cy="628015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Ticket</a:t>
            </a:r>
            <a:r>
              <a:rPr dirty="0" sz="1400" spc="-6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rebuchet MS"/>
                <a:cs typeface="Trebuchet MS"/>
              </a:rPr>
              <a:t>Volume</a:t>
            </a:r>
            <a:r>
              <a:rPr dirty="0" sz="1400" spc="-6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by</a:t>
            </a:r>
            <a:r>
              <a:rPr dirty="0" sz="1400" spc="-7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Request</a:t>
            </a:r>
            <a:r>
              <a:rPr dirty="0" sz="1400" spc="-6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rebuchet MS"/>
                <a:cs typeface="Trebuchet MS"/>
              </a:rPr>
              <a:t>Categoryl</a:t>
            </a:r>
            <a:endParaRPr sz="1400">
              <a:latin typeface="Trebuchet MS"/>
              <a:cs typeface="Trebuchet MS"/>
            </a:endParaRPr>
          </a:p>
          <a:p>
            <a:pPr algn="ctr" marL="1328420" marR="1056640">
              <a:lnSpc>
                <a:spcPts val="1040"/>
              </a:lnSpc>
              <a:spcBef>
                <a:spcPts val="434"/>
              </a:spcBef>
            </a:pPr>
            <a:r>
              <a:rPr dirty="0" sz="900" spc="-10">
                <a:solidFill>
                  <a:srgbClr val="404040"/>
                </a:solidFill>
                <a:latin typeface="Trebuchet MS"/>
                <a:cs typeface="Trebuchet MS"/>
              </a:rPr>
              <a:t>Hardware </a:t>
            </a:r>
            <a:r>
              <a:rPr dirty="0" sz="900" spc="-25">
                <a:solidFill>
                  <a:srgbClr val="404040"/>
                </a:solidFill>
                <a:latin typeface="Trebuchet MS"/>
                <a:cs typeface="Trebuchet MS"/>
              </a:rPr>
              <a:t>10%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85691" y="4233164"/>
            <a:ext cx="666750" cy="2952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238760" marR="5080" indent="-226695">
              <a:lnSpc>
                <a:spcPts val="1040"/>
              </a:lnSpc>
              <a:spcBef>
                <a:spcPts val="165"/>
              </a:spcBef>
            </a:pPr>
            <a:r>
              <a:rPr dirty="0" sz="900">
                <a:solidFill>
                  <a:srgbClr val="404040"/>
                </a:solidFill>
                <a:latin typeface="Trebuchet MS"/>
                <a:cs typeface="Trebuchet MS"/>
              </a:rPr>
              <a:t>Login</a:t>
            </a:r>
            <a:r>
              <a:rPr dirty="0" sz="900" spc="-1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Trebuchet MS"/>
                <a:cs typeface="Trebuchet MS"/>
              </a:rPr>
              <a:t>Access </a:t>
            </a:r>
            <a:r>
              <a:rPr dirty="0" sz="900" spc="-25">
                <a:solidFill>
                  <a:srgbClr val="404040"/>
                </a:solidFill>
                <a:latin typeface="Trebuchet MS"/>
                <a:cs typeface="Trebuchet MS"/>
              </a:rPr>
              <a:t>30%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21432" y="5290058"/>
            <a:ext cx="480695" cy="2952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44780" marR="5080" indent="-132715">
              <a:lnSpc>
                <a:spcPts val="1040"/>
              </a:lnSpc>
              <a:spcBef>
                <a:spcPts val="165"/>
              </a:spcBef>
            </a:pPr>
            <a:r>
              <a:rPr dirty="0" sz="900" spc="-10">
                <a:solidFill>
                  <a:srgbClr val="404040"/>
                </a:solidFill>
                <a:latin typeface="Trebuchet MS"/>
                <a:cs typeface="Trebuchet MS"/>
              </a:rPr>
              <a:t>Software </a:t>
            </a:r>
            <a:r>
              <a:rPr dirty="0" sz="900" spc="-25">
                <a:solidFill>
                  <a:srgbClr val="404040"/>
                </a:solidFill>
                <a:latin typeface="Trebuchet MS"/>
                <a:cs typeface="Trebuchet MS"/>
              </a:rPr>
              <a:t>20%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10004" y="3918711"/>
            <a:ext cx="386080" cy="29527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97790" marR="5080" indent="-85725">
              <a:lnSpc>
                <a:spcPts val="1040"/>
              </a:lnSpc>
              <a:spcBef>
                <a:spcPts val="165"/>
              </a:spcBef>
            </a:pPr>
            <a:r>
              <a:rPr dirty="0" sz="900" spc="-10">
                <a:solidFill>
                  <a:srgbClr val="404040"/>
                </a:solidFill>
                <a:latin typeface="Trebuchet MS"/>
                <a:cs typeface="Trebuchet MS"/>
              </a:rPr>
              <a:t>System </a:t>
            </a:r>
            <a:r>
              <a:rPr dirty="0" sz="900" spc="-25">
                <a:solidFill>
                  <a:srgbClr val="404040"/>
                </a:solidFill>
                <a:latin typeface="Trebuchet MS"/>
                <a:cs typeface="Trebuchet MS"/>
              </a:rPr>
              <a:t>40%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881753" y="4046601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436" y="0"/>
                </a:moveTo>
                <a:lnTo>
                  <a:pt x="0" y="0"/>
                </a:lnTo>
                <a:lnTo>
                  <a:pt x="0" y="59436"/>
                </a:lnTo>
                <a:lnTo>
                  <a:pt x="59436" y="59436"/>
                </a:lnTo>
                <a:lnTo>
                  <a:pt x="59436" y="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954015" y="3986276"/>
            <a:ext cx="520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Hardware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881753" y="4253865"/>
            <a:ext cx="59690" cy="60325"/>
          </a:xfrm>
          <a:custGeom>
            <a:avLst/>
            <a:gdLst/>
            <a:ahLst/>
            <a:cxnLst/>
            <a:rect l="l" t="t" r="r" b="b"/>
            <a:pathLst>
              <a:path w="59689" h="60325">
                <a:moveTo>
                  <a:pt x="59436" y="0"/>
                </a:moveTo>
                <a:lnTo>
                  <a:pt x="0" y="0"/>
                </a:lnTo>
                <a:lnTo>
                  <a:pt x="0" y="60198"/>
                </a:lnTo>
                <a:lnTo>
                  <a:pt x="59436" y="60198"/>
                </a:lnTo>
                <a:lnTo>
                  <a:pt x="59436" y="0"/>
                </a:lnTo>
                <a:close/>
              </a:path>
            </a:pathLst>
          </a:custGeom>
          <a:solidFill>
            <a:srgbClr val="539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954015" y="4123435"/>
            <a:ext cx="666750" cy="648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1400"/>
              </a:lnSpc>
              <a:spcBef>
                <a:spcPts val="95"/>
              </a:spcBef>
            </a:pP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Login</a:t>
            </a: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Access Software System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881753" y="446189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436" y="0"/>
                </a:moveTo>
                <a:lnTo>
                  <a:pt x="0" y="0"/>
                </a:lnTo>
                <a:lnTo>
                  <a:pt x="0" y="59436"/>
                </a:lnTo>
                <a:lnTo>
                  <a:pt x="59436" y="59436"/>
                </a:lnTo>
                <a:lnTo>
                  <a:pt x="59436" y="0"/>
                </a:lnTo>
                <a:close/>
              </a:path>
            </a:pathLst>
          </a:custGeom>
          <a:solidFill>
            <a:srgbClr val="E6B8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881753" y="4669154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436" y="0"/>
                </a:moveTo>
                <a:lnTo>
                  <a:pt x="0" y="0"/>
                </a:lnTo>
                <a:lnTo>
                  <a:pt x="0" y="59436"/>
                </a:lnTo>
                <a:lnTo>
                  <a:pt x="59436" y="59436"/>
                </a:lnTo>
                <a:lnTo>
                  <a:pt x="59436" y="0"/>
                </a:lnTo>
                <a:close/>
              </a:path>
            </a:pathLst>
          </a:custGeom>
          <a:solidFill>
            <a:srgbClr val="E7661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222" y="948314"/>
            <a:ext cx="7608663" cy="50234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Satisfaction</a:t>
            </a:r>
            <a:r>
              <a:rPr dirty="0" spc="-95"/>
              <a:t> </a:t>
            </a:r>
            <a:r>
              <a:rPr dirty="0"/>
              <a:t>Rate</a:t>
            </a:r>
            <a:r>
              <a:rPr dirty="0" spc="-110"/>
              <a:t> </a:t>
            </a:r>
            <a:r>
              <a:rPr dirty="0"/>
              <a:t>Over</a:t>
            </a:r>
            <a:r>
              <a:rPr dirty="0" spc="-190"/>
              <a:t> </a:t>
            </a:r>
            <a:r>
              <a:rPr dirty="0" spc="-20"/>
              <a:t>Time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072378" y="2608325"/>
            <a:ext cx="49415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2016: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Avg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satisfaction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3.98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—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baseline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year,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lower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compared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later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performance.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72378" y="3162300"/>
            <a:ext cx="48158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2017: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Improved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4.07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(+2.2%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growth</a:t>
            </a:r>
            <a:r>
              <a:rPr dirty="0" sz="14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dirty="0" sz="14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2016)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indicating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positive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support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changes.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2378" y="3716273"/>
            <a:ext cx="499681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2018:</a:t>
            </a:r>
            <a:r>
              <a:rPr dirty="0" sz="14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Slight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increase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4.09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showing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stability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service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quality.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72378" y="4056126"/>
            <a:ext cx="42405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2019: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Rose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further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4.12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signaling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stronger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support performance.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2378" y="4610100"/>
            <a:ext cx="47682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2020:</a:t>
            </a:r>
            <a:r>
              <a:rPr dirty="0" sz="14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Highest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satisfaction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4.16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showing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continuous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year-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on-</a:t>
            </a:r>
            <a:endParaRPr sz="1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year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improvement.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2378" y="5164328"/>
            <a:ext cx="453009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→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Overall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satisfaction</a:t>
            </a:r>
            <a:r>
              <a:rPr dirty="0" sz="1400" spc="-1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improved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~4.5%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2016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2020.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499997" y="4919090"/>
            <a:ext cx="3133090" cy="0"/>
          </a:xfrm>
          <a:custGeom>
            <a:avLst/>
            <a:gdLst/>
            <a:ahLst/>
            <a:cxnLst/>
            <a:rect l="l" t="t" r="r" b="b"/>
            <a:pathLst>
              <a:path w="3133090" h="0">
                <a:moveTo>
                  <a:pt x="0" y="0"/>
                </a:moveTo>
                <a:lnTo>
                  <a:pt x="3132581" y="0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99997" y="4676013"/>
            <a:ext cx="3133090" cy="0"/>
          </a:xfrm>
          <a:custGeom>
            <a:avLst/>
            <a:gdLst/>
            <a:ahLst/>
            <a:cxnLst/>
            <a:rect l="l" t="t" r="r" b="b"/>
            <a:pathLst>
              <a:path w="3133090" h="0">
                <a:moveTo>
                  <a:pt x="0" y="0"/>
                </a:moveTo>
                <a:lnTo>
                  <a:pt x="3132581" y="0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1499997" y="3208782"/>
            <a:ext cx="3133090" cy="1245235"/>
            <a:chOff x="1499997" y="3208782"/>
            <a:chExt cx="3133090" cy="1245235"/>
          </a:xfrm>
        </p:grpSpPr>
        <p:sp>
          <p:nvSpPr>
            <p:cNvPr id="13" name="object 13"/>
            <p:cNvSpPr/>
            <p:nvPr/>
          </p:nvSpPr>
          <p:spPr>
            <a:xfrm>
              <a:off x="1499997" y="3213735"/>
              <a:ext cx="3133090" cy="1218565"/>
            </a:xfrm>
            <a:custGeom>
              <a:avLst/>
              <a:gdLst/>
              <a:ahLst/>
              <a:cxnLst/>
              <a:rect l="l" t="t" r="r" b="b"/>
              <a:pathLst>
                <a:path w="3133090" h="1218564">
                  <a:moveTo>
                    <a:pt x="0" y="1218438"/>
                  </a:moveTo>
                  <a:lnTo>
                    <a:pt x="3132581" y="1218438"/>
                  </a:lnTo>
                </a:path>
                <a:path w="3133090" h="1218564">
                  <a:moveTo>
                    <a:pt x="0" y="974597"/>
                  </a:moveTo>
                  <a:lnTo>
                    <a:pt x="3132581" y="974597"/>
                  </a:lnTo>
                </a:path>
                <a:path w="3133090" h="1218564">
                  <a:moveTo>
                    <a:pt x="0" y="730757"/>
                  </a:moveTo>
                  <a:lnTo>
                    <a:pt x="3132581" y="730757"/>
                  </a:lnTo>
                </a:path>
                <a:path w="3133090" h="1218564">
                  <a:moveTo>
                    <a:pt x="0" y="486917"/>
                  </a:moveTo>
                  <a:lnTo>
                    <a:pt x="3132581" y="486917"/>
                  </a:lnTo>
                </a:path>
                <a:path w="3133090" h="1218564">
                  <a:moveTo>
                    <a:pt x="0" y="243077"/>
                  </a:moveTo>
                  <a:lnTo>
                    <a:pt x="3132581" y="243077"/>
                  </a:lnTo>
                </a:path>
                <a:path w="3133090" h="1218564">
                  <a:moveTo>
                    <a:pt x="0" y="0"/>
                  </a:moveTo>
                  <a:lnTo>
                    <a:pt x="3132581" y="0"/>
                  </a:lnTo>
                </a:path>
              </a:pathLst>
            </a:custGeom>
            <a:ln w="990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78102" y="3252216"/>
              <a:ext cx="2976880" cy="1187450"/>
            </a:xfrm>
            <a:custGeom>
              <a:avLst/>
              <a:gdLst/>
              <a:ahLst/>
              <a:cxnLst/>
              <a:rect l="l" t="t" r="r" b="b"/>
              <a:pathLst>
                <a:path w="2976879" h="1187450">
                  <a:moveTo>
                    <a:pt x="0" y="1187196"/>
                  </a:moveTo>
                  <a:lnTo>
                    <a:pt x="156972" y="1101852"/>
                  </a:lnTo>
                  <a:lnTo>
                    <a:pt x="313181" y="1011174"/>
                  </a:lnTo>
                  <a:lnTo>
                    <a:pt x="470153" y="838962"/>
                  </a:lnTo>
                  <a:lnTo>
                    <a:pt x="626364" y="617982"/>
                  </a:lnTo>
                  <a:lnTo>
                    <a:pt x="783335" y="640842"/>
                  </a:lnTo>
                  <a:lnTo>
                    <a:pt x="940308" y="613410"/>
                  </a:lnTo>
                  <a:lnTo>
                    <a:pt x="1096517" y="544068"/>
                  </a:lnTo>
                  <a:lnTo>
                    <a:pt x="1253490" y="310896"/>
                  </a:lnTo>
                  <a:lnTo>
                    <a:pt x="1409699" y="582168"/>
                  </a:lnTo>
                  <a:lnTo>
                    <a:pt x="1566672" y="509016"/>
                  </a:lnTo>
                  <a:lnTo>
                    <a:pt x="1722882" y="528066"/>
                  </a:lnTo>
                  <a:lnTo>
                    <a:pt x="1879853" y="293370"/>
                  </a:lnTo>
                  <a:lnTo>
                    <a:pt x="2036064" y="245363"/>
                  </a:lnTo>
                  <a:lnTo>
                    <a:pt x="2193036" y="318516"/>
                  </a:lnTo>
                  <a:lnTo>
                    <a:pt x="2349246" y="489204"/>
                  </a:lnTo>
                  <a:lnTo>
                    <a:pt x="2506218" y="263651"/>
                  </a:lnTo>
                  <a:lnTo>
                    <a:pt x="2663190" y="0"/>
                  </a:lnTo>
                  <a:lnTo>
                    <a:pt x="2819400" y="35813"/>
                  </a:lnTo>
                  <a:lnTo>
                    <a:pt x="2976372" y="288036"/>
                  </a:lnTo>
                </a:path>
              </a:pathLst>
            </a:custGeom>
            <a:ln w="28956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1499997" y="2969895"/>
            <a:ext cx="3133090" cy="0"/>
          </a:xfrm>
          <a:custGeom>
            <a:avLst/>
            <a:gdLst/>
            <a:ahLst/>
            <a:cxnLst/>
            <a:rect l="l" t="t" r="r" b="b"/>
            <a:pathLst>
              <a:path w="3133090" h="0">
                <a:moveTo>
                  <a:pt x="0" y="0"/>
                </a:moveTo>
                <a:lnTo>
                  <a:pt x="3132581" y="0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99997" y="5162930"/>
            <a:ext cx="3133090" cy="521970"/>
          </a:xfrm>
          <a:custGeom>
            <a:avLst/>
            <a:gdLst/>
            <a:ahLst/>
            <a:cxnLst/>
            <a:rect l="l" t="t" r="r" b="b"/>
            <a:pathLst>
              <a:path w="3133090" h="521970">
                <a:moveTo>
                  <a:pt x="0" y="0"/>
                </a:moveTo>
                <a:lnTo>
                  <a:pt x="3132581" y="0"/>
                </a:lnTo>
              </a:path>
              <a:path w="3133090" h="521970">
                <a:moveTo>
                  <a:pt x="0" y="0"/>
                </a:moveTo>
                <a:lnTo>
                  <a:pt x="0" y="308610"/>
                </a:lnTo>
              </a:path>
              <a:path w="3133090" h="521970">
                <a:moveTo>
                  <a:pt x="626364" y="0"/>
                </a:moveTo>
                <a:lnTo>
                  <a:pt x="626364" y="308610"/>
                </a:lnTo>
              </a:path>
              <a:path w="3133090" h="521970">
                <a:moveTo>
                  <a:pt x="1252728" y="0"/>
                </a:moveTo>
                <a:lnTo>
                  <a:pt x="1252728" y="308610"/>
                </a:lnTo>
              </a:path>
              <a:path w="3133090" h="521970">
                <a:moveTo>
                  <a:pt x="1879853" y="0"/>
                </a:moveTo>
                <a:lnTo>
                  <a:pt x="1879853" y="308610"/>
                </a:lnTo>
              </a:path>
              <a:path w="3133090" h="521970">
                <a:moveTo>
                  <a:pt x="2506217" y="0"/>
                </a:moveTo>
                <a:lnTo>
                  <a:pt x="2506217" y="308610"/>
                </a:lnTo>
              </a:path>
              <a:path w="3133090" h="521970">
                <a:moveTo>
                  <a:pt x="3132581" y="0"/>
                </a:moveTo>
                <a:lnTo>
                  <a:pt x="3132581" y="308610"/>
                </a:lnTo>
              </a:path>
              <a:path w="3133090" h="521970">
                <a:moveTo>
                  <a:pt x="0" y="308610"/>
                </a:moveTo>
                <a:lnTo>
                  <a:pt x="0" y="521970"/>
                </a:lnTo>
              </a:path>
              <a:path w="3133090" h="521970">
                <a:moveTo>
                  <a:pt x="626364" y="308610"/>
                </a:moveTo>
                <a:lnTo>
                  <a:pt x="626364" y="521970"/>
                </a:lnTo>
              </a:path>
              <a:path w="3133090" h="521970">
                <a:moveTo>
                  <a:pt x="1252728" y="308610"/>
                </a:moveTo>
                <a:lnTo>
                  <a:pt x="1252728" y="521970"/>
                </a:lnTo>
              </a:path>
              <a:path w="3133090" h="521970">
                <a:moveTo>
                  <a:pt x="1879853" y="308610"/>
                </a:moveTo>
                <a:lnTo>
                  <a:pt x="1879853" y="521970"/>
                </a:lnTo>
              </a:path>
              <a:path w="3133090" h="521970">
                <a:moveTo>
                  <a:pt x="2506217" y="308610"/>
                </a:moveTo>
                <a:lnTo>
                  <a:pt x="2506217" y="521970"/>
                </a:lnTo>
              </a:path>
              <a:path w="3133090" h="521970">
                <a:moveTo>
                  <a:pt x="3132581" y="308610"/>
                </a:moveTo>
                <a:lnTo>
                  <a:pt x="3132581" y="521970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163319" y="4585716"/>
            <a:ext cx="24765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39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3.9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3.85</a:t>
            </a:r>
            <a:endParaRPr sz="900">
              <a:latin typeface="Trebuchet MS"/>
              <a:cs typeface="Trebuchet MS"/>
            </a:endParaRPr>
          </a:p>
          <a:p>
            <a:pPr marL="72390">
              <a:lnSpc>
                <a:spcPct val="100000"/>
              </a:lnSpc>
              <a:spcBef>
                <a:spcPts val="840"/>
              </a:spcBef>
            </a:pP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3.8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63319" y="3366516"/>
            <a:ext cx="247650" cy="1137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4.15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840"/>
              </a:spcBef>
            </a:pP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4.1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84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4.05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840"/>
              </a:spcBef>
            </a:pPr>
            <a:r>
              <a:rPr dirty="0" sz="900" spc="-50">
                <a:solidFill>
                  <a:srgbClr val="585858"/>
                </a:solidFill>
                <a:latin typeface="Trebuchet MS"/>
                <a:cs typeface="Trebuchet MS"/>
              </a:rPr>
              <a:t>4</a:t>
            </a:r>
            <a:endParaRPr sz="90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84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3.95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63319" y="2879344"/>
            <a:ext cx="24765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4.25</a:t>
            </a:r>
            <a:endParaRPr sz="900">
              <a:latin typeface="Trebuchet MS"/>
              <a:cs typeface="Trebuchet MS"/>
            </a:endParaRPr>
          </a:p>
          <a:p>
            <a:pPr marL="72390">
              <a:lnSpc>
                <a:spcPct val="100000"/>
              </a:lnSpc>
              <a:spcBef>
                <a:spcPts val="840"/>
              </a:spcBef>
            </a:pP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4.2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99480" y="5222833"/>
            <a:ext cx="3134360" cy="252729"/>
          </a:xfrm>
          <a:prstGeom prst="rect">
            <a:avLst/>
          </a:prstGeom>
        </p:spPr>
        <p:txBody>
          <a:bodyPr wrap="square" lIns="0" tIns="571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Qtr1</a:t>
            </a:r>
            <a:endParaRPr sz="900">
              <a:latin typeface="Trebuchet MS"/>
              <a:cs typeface="Trebuchet MS"/>
            </a:endParaRPr>
          </a:p>
          <a:p>
            <a:pPr algn="just" marL="12700" marR="5080">
              <a:lnSpc>
                <a:spcPct val="114199"/>
              </a:lnSpc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Qtr2 Qtr3 Qtr4 Qtr1 Qtr2 Qtr3 Qtr4 Qtr1 Qtr2 Qtr3 Qtr4 Qtr1 Qtr2 Qtr3 Qtr4 Qtr1 Qtr2 Qtr3 Qtr4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80717" y="5523738"/>
            <a:ext cx="265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2016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07335" y="5523738"/>
            <a:ext cx="265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2017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33954" y="5523738"/>
            <a:ext cx="265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2018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60317" y="5523738"/>
            <a:ext cx="265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2019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86935" y="5523738"/>
            <a:ext cx="2654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2020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85670" y="2581401"/>
            <a:ext cx="221805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Satisfaction</a:t>
            </a:r>
            <a:r>
              <a:rPr dirty="0" sz="1400" spc="-2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Rate</a:t>
            </a:r>
            <a:r>
              <a:rPr dirty="0" sz="1400" spc="-5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over</a:t>
            </a:r>
            <a:r>
              <a:rPr dirty="0" sz="1400" spc="-6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585858"/>
                </a:solidFill>
                <a:latin typeface="Trebuchet MS"/>
                <a:cs typeface="Trebuchet MS"/>
              </a:rPr>
              <a:t>Time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831079" y="4289297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28956">
            <a:solidFill>
              <a:srgbClr val="90C2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088635" y="4199128"/>
            <a:ext cx="2927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Total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753105"/>
            <a:ext cx="12192000" cy="4105275"/>
            <a:chOff x="0" y="2753105"/>
            <a:chExt cx="12192000" cy="4105275"/>
          </a:xfrm>
        </p:grpSpPr>
        <p:sp>
          <p:nvSpPr>
            <p:cNvPr id="3" name="object 3"/>
            <p:cNvSpPr/>
            <p:nvPr/>
          </p:nvSpPr>
          <p:spPr>
            <a:xfrm>
              <a:off x="0" y="4013453"/>
              <a:ext cx="448945" cy="2844800"/>
            </a:xfrm>
            <a:custGeom>
              <a:avLst/>
              <a:gdLst/>
              <a:ahLst/>
              <a:cxnLst/>
              <a:rect l="l" t="t" r="r" b="b"/>
              <a:pathLst>
                <a:path w="448945" h="2844800">
                  <a:moveTo>
                    <a:pt x="0" y="0"/>
                  </a:moveTo>
                  <a:lnTo>
                    <a:pt x="0" y="2844546"/>
                  </a:lnTo>
                  <a:lnTo>
                    <a:pt x="448818" y="28445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>
                <a:alpha val="8509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2753105"/>
              <a:ext cx="12192000" cy="3099435"/>
            </a:xfrm>
            <a:custGeom>
              <a:avLst/>
              <a:gdLst/>
              <a:ahLst/>
              <a:cxnLst/>
              <a:rect l="l" t="t" r="r" b="b"/>
              <a:pathLst>
                <a:path w="12192000" h="3099435">
                  <a:moveTo>
                    <a:pt x="12192000" y="0"/>
                  </a:moveTo>
                  <a:lnTo>
                    <a:pt x="0" y="0"/>
                  </a:lnTo>
                  <a:lnTo>
                    <a:pt x="0" y="3099054"/>
                  </a:lnTo>
                  <a:lnTo>
                    <a:pt x="12192000" y="309905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121155" y="3924300"/>
            <a:ext cx="7014845" cy="1259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0335" indent="-127635">
              <a:lnSpc>
                <a:spcPct val="100000"/>
              </a:lnSpc>
              <a:spcBef>
                <a:spcPts val="95"/>
              </a:spcBef>
              <a:buChar char="•"/>
              <a:tabLst>
                <a:tab pos="140335" algn="l"/>
              </a:tabLst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Hardware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consistently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highest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resolution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(~7.6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days)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140335" indent="-127635">
              <a:lnSpc>
                <a:spcPct val="100000"/>
              </a:lnSpc>
              <a:spcBef>
                <a:spcPts val="1005"/>
              </a:spcBef>
              <a:buChar char="•"/>
              <a:tabLst>
                <a:tab pos="140335" algn="l"/>
              </a:tabLst>
            </a:pP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Login</a:t>
            </a:r>
            <a:r>
              <a:rPr dirty="0" sz="14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Access</a:t>
            </a:r>
            <a:r>
              <a:rPr dirty="0" sz="14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issues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resolved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fastest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(~0.3</a:t>
            </a:r>
            <a:r>
              <a:rPr dirty="0" sz="1400" spc="-5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days)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indicating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strong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efficiency.</a:t>
            </a:r>
            <a:endParaRPr sz="1400">
              <a:latin typeface="Calibri"/>
              <a:cs typeface="Calibri"/>
            </a:endParaRPr>
          </a:p>
          <a:p>
            <a:pPr marL="140335" indent="-127635">
              <a:lnSpc>
                <a:spcPct val="100000"/>
              </a:lnSpc>
              <a:spcBef>
                <a:spcPts val="1000"/>
              </a:spcBef>
              <a:buChar char="•"/>
              <a:tabLst>
                <a:tab pos="140335" algn="l"/>
              </a:tabLst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Software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issues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show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moderate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resolution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times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(~5.2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~6.6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days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respectively)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140335" indent="-127635">
              <a:lnSpc>
                <a:spcPct val="100000"/>
              </a:lnSpc>
              <a:spcBef>
                <a:spcPts val="1000"/>
              </a:spcBef>
              <a:buChar char="•"/>
              <a:tabLst>
                <a:tab pos="140335" algn="l"/>
              </a:tabLst>
            </a:pP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Overall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resolution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remained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stable</a:t>
            </a:r>
            <a:r>
              <a:rPr dirty="0" sz="14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across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years,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minor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fluctuations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quarter.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56563" y="1047369"/>
            <a:ext cx="7423784" cy="0"/>
          </a:xfrm>
          <a:custGeom>
            <a:avLst/>
            <a:gdLst/>
            <a:ahLst/>
            <a:cxnLst/>
            <a:rect l="l" t="t" r="r" b="b"/>
            <a:pathLst>
              <a:path w="7423784" h="0">
                <a:moveTo>
                  <a:pt x="0" y="0"/>
                </a:moveTo>
                <a:lnTo>
                  <a:pt x="7423404" y="0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1451483" y="1235836"/>
            <a:ext cx="7433945" cy="1985010"/>
            <a:chOff x="1451483" y="1235836"/>
            <a:chExt cx="7433945" cy="1985010"/>
          </a:xfrm>
        </p:grpSpPr>
        <p:sp>
          <p:nvSpPr>
            <p:cNvPr id="8" name="object 8"/>
            <p:cNvSpPr/>
            <p:nvPr/>
          </p:nvSpPr>
          <p:spPr>
            <a:xfrm>
              <a:off x="1456563" y="1434464"/>
              <a:ext cx="7423784" cy="1160145"/>
            </a:xfrm>
            <a:custGeom>
              <a:avLst/>
              <a:gdLst/>
              <a:ahLst/>
              <a:cxnLst/>
              <a:rect l="l" t="t" r="r" b="b"/>
              <a:pathLst>
                <a:path w="7423784" h="1160145">
                  <a:moveTo>
                    <a:pt x="0" y="1159764"/>
                  </a:moveTo>
                  <a:lnTo>
                    <a:pt x="58293" y="1159764"/>
                  </a:lnTo>
                </a:path>
                <a:path w="7423784" h="1160145">
                  <a:moveTo>
                    <a:pt x="110871" y="1159764"/>
                  </a:moveTo>
                  <a:lnTo>
                    <a:pt x="193167" y="1159764"/>
                  </a:lnTo>
                </a:path>
                <a:path w="7423784" h="1160145">
                  <a:moveTo>
                    <a:pt x="312800" y="1159764"/>
                  </a:moveTo>
                  <a:lnTo>
                    <a:pt x="429387" y="1159764"/>
                  </a:lnTo>
                </a:path>
                <a:path w="7423784" h="1160145">
                  <a:moveTo>
                    <a:pt x="481964" y="1159764"/>
                  </a:moveTo>
                  <a:lnTo>
                    <a:pt x="564261" y="1159764"/>
                  </a:lnTo>
                </a:path>
                <a:path w="7423784" h="1160145">
                  <a:moveTo>
                    <a:pt x="684657" y="1159764"/>
                  </a:moveTo>
                  <a:lnTo>
                    <a:pt x="800481" y="1159764"/>
                  </a:lnTo>
                </a:path>
                <a:path w="7423784" h="1160145">
                  <a:moveTo>
                    <a:pt x="853820" y="1159764"/>
                  </a:moveTo>
                  <a:lnTo>
                    <a:pt x="935355" y="1159764"/>
                  </a:lnTo>
                </a:path>
                <a:path w="7423784" h="1160145">
                  <a:moveTo>
                    <a:pt x="1055751" y="1159764"/>
                  </a:moveTo>
                  <a:lnTo>
                    <a:pt x="1171575" y="1159764"/>
                  </a:lnTo>
                </a:path>
                <a:path w="7423784" h="1160145">
                  <a:moveTo>
                    <a:pt x="1224914" y="1159764"/>
                  </a:moveTo>
                  <a:lnTo>
                    <a:pt x="1306449" y="1159764"/>
                  </a:lnTo>
                </a:path>
                <a:path w="7423784" h="1160145">
                  <a:moveTo>
                    <a:pt x="1426845" y="1159764"/>
                  </a:moveTo>
                  <a:lnTo>
                    <a:pt x="1542669" y="1159764"/>
                  </a:lnTo>
                </a:path>
                <a:path w="7423784" h="1160145">
                  <a:moveTo>
                    <a:pt x="1596009" y="1159764"/>
                  </a:moveTo>
                  <a:lnTo>
                    <a:pt x="1677543" y="1159764"/>
                  </a:lnTo>
                </a:path>
                <a:path w="7423784" h="1160145">
                  <a:moveTo>
                    <a:pt x="1797939" y="1159764"/>
                  </a:moveTo>
                  <a:lnTo>
                    <a:pt x="1913763" y="1159764"/>
                  </a:lnTo>
                </a:path>
                <a:path w="7423784" h="1160145">
                  <a:moveTo>
                    <a:pt x="1967102" y="1159764"/>
                  </a:moveTo>
                  <a:lnTo>
                    <a:pt x="2048637" y="1159764"/>
                  </a:lnTo>
                </a:path>
                <a:path w="7423784" h="1160145">
                  <a:moveTo>
                    <a:pt x="2169033" y="1159764"/>
                  </a:moveTo>
                  <a:lnTo>
                    <a:pt x="2284857" y="1159764"/>
                  </a:lnTo>
                </a:path>
                <a:path w="7423784" h="1160145">
                  <a:moveTo>
                    <a:pt x="2338197" y="1159764"/>
                  </a:moveTo>
                  <a:lnTo>
                    <a:pt x="2419731" y="1159764"/>
                  </a:lnTo>
                </a:path>
                <a:path w="7423784" h="1160145">
                  <a:moveTo>
                    <a:pt x="2540127" y="1159764"/>
                  </a:moveTo>
                  <a:lnTo>
                    <a:pt x="2656713" y="1159764"/>
                  </a:lnTo>
                </a:path>
                <a:path w="7423784" h="1160145">
                  <a:moveTo>
                    <a:pt x="2709291" y="1159764"/>
                  </a:moveTo>
                  <a:lnTo>
                    <a:pt x="2790825" y="1159764"/>
                  </a:lnTo>
                </a:path>
                <a:path w="7423784" h="1160145">
                  <a:moveTo>
                    <a:pt x="2911221" y="1159764"/>
                  </a:moveTo>
                  <a:lnTo>
                    <a:pt x="3027807" y="1159764"/>
                  </a:lnTo>
                </a:path>
                <a:path w="7423784" h="1160145">
                  <a:moveTo>
                    <a:pt x="3080385" y="1159764"/>
                  </a:moveTo>
                  <a:lnTo>
                    <a:pt x="3161919" y="1159764"/>
                  </a:lnTo>
                </a:path>
                <a:path w="7423784" h="1160145">
                  <a:moveTo>
                    <a:pt x="3282315" y="1159764"/>
                  </a:moveTo>
                  <a:lnTo>
                    <a:pt x="3398901" y="1159764"/>
                  </a:lnTo>
                </a:path>
                <a:path w="7423784" h="1160145">
                  <a:moveTo>
                    <a:pt x="3451479" y="1159764"/>
                  </a:moveTo>
                  <a:lnTo>
                    <a:pt x="3533775" y="1159764"/>
                  </a:lnTo>
                </a:path>
                <a:path w="7423784" h="1160145">
                  <a:moveTo>
                    <a:pt x="3654171" y="1159764"/>
                  </a:moveTo>
                  <a:lnTo>
                    <a:pt x="3769995" y="1159764"/>
                  </a:lnTo>
                </a:path>
                <a:path w="7423784" h="1160145">
                  <a:moveTo>
                    <a:pt x="3823335" y="1159764"/>
                  </a:moveTo>
                  <a:lnTo>
                    <a:pt x="3904869" y="1159764"/>
                  </a:lnTo>
                </a:path>
                <a:path w="7423784" h="1160145">
                  <a:moveTo>
                    <a:pt x="4025265" y="1159764"/>
                  </a:moveTo>
                  <a:lnTo>
                    <a:pt x="4141089" y="1159764"/>
                  </a:lnTo>
                </a:path>
                <a:path w="7423784" h="1160145">
                  <a:moveTo>
                    <a:pt x="4194429" y="1159764"/>
                  </a:moveTo>
                  <a:lnTo>
                    <a:pt x="4275963" y="1159764"/>
                  </a:lnTo>
                </a:path>
                <a:path w="7423784" h="1160145">
                  <a:moveTo>
                    <a:pt x="4396359" y="1159764"/>
                  </a:moveTo>
                  <a:lnTo>
                    <a:pt x="4512183" y="1159764"/>
                  </a:lnTo>
                </a:path>
                <a:path w="7423784" h="1160145">
                  <a:moveTo>
                    <a:pt x="4565523" y="1159764"/>
                  </a:moveTo>
                  <a:lnTo>
                    <a:pt x="4647057" y="1159764"/>
                  </a:lnTo>
                </a:path>
                <a:path w="7423784" h="1160145">
                  <a:moveTo>
                    <a:pt x="4767453" y="1159764"/>
                  </a:moveTo>
                  <a:lnTo>
                    <a:pt x="4883277" y="1159764"/>
                  </a:lnTo>
                </a:path>
                <a:path w="7423784" h="1160145">
                  <a:moveTo>
                    <a:pt x="4936617" y="1159764"/>
                  </a:moveTo>
                  <a:lnTo>
                    <a:pt x="5018151" y="1159764"/>
                  </a:lnTo>
                </a:path>
                <a:path w="7423784" h="1160145">
                  <a:moveTo>
                    <a:pt x="5138546" y="1159764"/>
                  </a:moveTo>
                  <a:lnTo>
                    <a:pt x="5254370" y="1159764"/>
                  </a:lnTo>
                </a:path>
                <a:path w="7423784" h="1160145">
                  <a:moveTo>
                    <a:pt x="5307711" y="1159764"/>
                  </a:moveTo>
                  <a:lnTo>
                    <a:pt x="5389245" y="1159764"/>
                  </a:lnTo>
                </a:path>
                <a:path w="7423784" h="1160145">
                  <a:moveTo>
                    <a:pt x="5509641" y="1159764"/>
                  </a:moveTo>
                  <a:lnTo>
                    <a:pt x="5625465" y="1159764"/>
                  </a:lnTo>
                </a:path>
                <a:path w="7423784" h="1160145">
                  <a:moveTo>
                    <a:pt x="5678805" y="1159764"/>
                  </a:moveTo>
                  <a:lnTo>
                    <a:pt x="5760339" y="1159764"/>
                  </a:lnTo>
                </a:path>
                <a:path w="7423784" h="1160145">
                  <a:moveTo>
                    <a:pt x="5880735" y="1159764"/>
                  </a:moveTo>
                  <a:lnTo>
                    <a:pt x="5997320" y="1159764"/>
                  </a:lnTo>
                </a:path>
                <a:path w="7423784" h="1160145">
                  <a:moveTo>
                    <a:pt x="6049898" y="1159764"/>
                  </a:moveTo>
                  <a:lnTo>
                    <a:pt x="6131433" y="1159764"/>
                  </a:lnTo>
                </a:path>
                <a:path w="7423784" h="1160145">
                  <a:moveTo>
                    <a:pt x="6251829" y="1159764"/>
                  </a:moveTo>
                  <a:lnTo>
                    <a:pt x="6368415" y="1159764"/>
                  </a:lnTo>
                </a:path>
                <a:path w="7423784" h="1160145">
                  <a:moveTo>
                    <a:pt x="6420993" y="1159764"/>
                  </a:moveTo>
                  <a:lnTo>
                    <a:pt x="6502527" y="1159764"/>
                  </a:lnTo>
                </a:path>
                <a:path w="7423784" h="1160145">
                  <a:moveTo>
                    <a:pt x="6622923" y="1159764"/>
                  </a:moveTo>
                  <a:lnTo>
                    <a:pt x="6739509" y="1159764"/>
                  </a:lnTo>
                </a:path>
                <a:path w="7423784" h="1160145">
                  <a:moveTo>
                    <a:pt x="6792086" y="1159764"/>
                  </a:moveTo>
                  <a:lnTo>
                    <a:pt x="6874383" y="1159764"/>
                  </a:lnTo>
                </a:path>
                <a:path w="7423784" h="1160145">
                  <a:moveTo>
                    <a:pt x="6994779" y="1159764"/>
                  </a:moveTo>
                  <a:lnTo>
                    <a:pt x="7110603" y="1159764"/>
                  </a:lnTo>
                </a:path>
                <a:path w="7423784" h="1160145">
                  <a:moveTo>
                    <a:pt x="7163942" y="1159764"/>
                  </a:moveTo>
                  <a:lnTo>
                    <a:pt x="7245477" y="1159764"/>
                  </a:lnTo>
                </a:path>
                <a:path w="7423784" h="1160145">
                  <a:moveTo>
                    <a:pt x="245744" y="1159764"/>
                  </a:moveTo>
                  <a:lnTo>
                    <a:pt x="260223" y="1159764"/>
                  </a:lnTo>
                </a:path>
                <a:path w="7423784" h="1160145">
                  <a:moveTo>
                    <a:pt x="616838" y="1159764"/>
                  </a:moveTo>
                  <a:lnTo>
                    <a:pt x="631317" y="1159764"/>
                  </a:lnTo>
                </a:path>
                <a:path w="7423784" h="1160145">
                  <a:moveTo>
                    <a:pt x="987932" y="1159764"/>
                  </a:moveTo>
                  <a:lnTo>
                    <a:pt x="1002411" y="1159764"/>
                  </a:lnTo>
                </a:path>
                <a:path w="7423784" h="1160145">
                  <a:moveTo>
                    <a:pt x="1359027" y="1159764"/>
                  </a:moveTo>
                  <a:lnTo>
                    <a:pt x="1373505" y="1159764"/>
                  </a:lnTo>
                </a:path>
                <a:path w="7423784" h="1160145">
                  <a:moveTo>
                    <a:pt x="1730883" y="1159764"/>
                  </a:moveTo>
                  <a:lnTo>
                    <a:pt x="1744599" y="1159764"/>
                  </a:lnTo>
                </a:path>
                <a:path w="7423784" h="1160145">
                  <a:moveTo>
                    <a:pt x="2101977" y="1159764"/>
                  </a:moveTo>
                  <a:lnTo>
                    <a:pt x="2115692" y="1159764"/>
                  </a:lnTo>
                </a:path>
                <a:path w="7423784" h="1160145">
                  <a:moveTo>
                    <a:pt x="2473071" y="1159764"/>
                  </a:moveTo>
                  <a:lnTo>
                    <a:pt x="2487549" y="1159764"/>
                  </a:lnTo>
                </a:path>
                <a:path w="7423784" h="1160145">
                  <a:moveTo>
                    <a:pt x="2844165" y="1159764"/>
                  </a:moveTo>
                  <a:lnTo>
                    <a:pt x="2858642" y="1159764"/>
                  </a:lnTo>
                </a:path>
                <a:path w="7423784" h="1160145">
                  <a:moveTo>
                    <a:pt x="3215259" y="1159764"/>
                  </a:moveTo>
                  <a:lnTo>
                    <a:pt x="3229737" y="1159764"/>
                  </a:lnTo>
                </a:path>
                <a:path w="7423784" h="1160145">
                  <a:moveTo>
                    <a:pt x="3586353" y="1159764"/>
                  </a:moveTo>
                  <a:lnTo>
                    <a:pt x="3600831" y="1159764"/>
                  </a:lnTo>
                </a:path>
                <a:path w="7423784" h="1160145">
                  <a:moveTo>
                    <a:pt x="3957447" y="1159764"/>
                  </a:moveTo>
                  <a:lnTo>
                    <a:pt x="3971925" y="1159764"/>
                  </a:lnTo>
                </a:path>
                <a:path w="7423784" h="1160145">
                  <a:moveTo>
                    <a:pt x="4328541" y="1159764"/>
                  </a:moveTo>
                  <a:lnTo>
                    <a:pt x="4343019" y="1159764"/>
                  </a:lnTo>
                </a:path>
                <a:path w="7423784" h="1160145">
                  <a:moveTo>
                    <a:pt x="4699635" y="1159764"/>
                  </a:moveTo>
                  <a:lnTo>
                    <a:pt x="4714113" y="1159764"/>
                  </a:lnTo>
                </a:path>
                <a:path w="7423784" h="1160145">
                  <a:moveTo>
                    <a:pt x="5071491" y="1159764"/>
                  </a:moveTo>
                  <a:lnTo>
                    <a:pt x="5085207" y="1159764"/>
                  </a:lnTo>
                </a:path>
                <a:path w="7423784" h="1160145">
                  <a:moveTo>
                    <a:pt x="5442585" y="1159764"/>
                  </a:moveTo>
                  <a:lnTo>
                    <a:pt x="5457063" y="1159764"/>
                  </a:lnTo>
                </a:path>
                <a:path w="7423784" h="1160145">
                  <a:moveTo>
                    <a:pt x="5813679" y="1159764"/>
                  </a:moveTo>
                  <a:lnTo>
                    <a:pt x="5828157" y="1159764"/>
                  </a:lnTo>
                </a:path>
                <a:path w="7423784" h="1160145">
                  <a:moveTo>
                    <a:pt x="6184772" y="1159764"/>
                  </a:moveTo>
                  <a:lnTo>
                    <a:pt x="6199251" y="1159764"/>
                  </a:lnTo>
                </a:path>
                <a:path w="7423784" h="1160145">
                  <a:moveTo>
                    <a:pt x="6555867" y="1159764"/>
                  </a:moveTo>
                  <a:lnTo>
                    <a:pt x="6570344" y="1159764"/>
                  </a:lnTo>
                </a:path>
                <a:path w="7423784" h="1160145">
                  <a:moveTo>
                    <a:pt x="6926961" y="1159764"/>
                  </a:moveTo>
                  <a:lnTo>
                    <a:pt x="6941438" y="1159764"/>
                  </a:lnTo>
                </a:path>
                <a:path w="7423784" h="1160145">
                  <a:moveTo>
                    <a:pt x="7298055" y="1159764"/>
                  </a:moveTo>
                  <a:lnTo>
                    <a:pt x="7312533" y="1159764"/>
                  </a:lnTo>
                </a:path>
                <a:path w="7423784" h="1160145">
                  <a:moveTo>
                    <a:pt x="7365873" y="1159764"/>
                  </a:moveTo>
                  <a:lnTo>
                    <a:pt x="7423404" y="1159764"/>
                  </a:lnTo>
                </a:path>
                <a:path w="7423784" h="1160145">
                  <a:moveTo>
                    <a:pt x="2709291" y="966215"/>
                  </a:moveTo>
                  <a:lnTo>
                    <a:pt x="2790825" y="966215"/>
                  </a:lnTo>
                </a:path>
                <a:path w="7423784" h="1160145">
                  <a:moveTo>
                    <a:pt x="5509641" y="966215"/>
                  </a:moveTo>
                  <a:lnTo>
                    <a:pt x="5625465" y="966215"/>
                  </a:lnTo>
                </a:path>
                <a:path w="7423784" h="1160145">
                  <a:moveTo>
                    <a:pt x="5678805" y="966215"/>
                  </a:moveTo>
                  <a:lnTo>
                    <a:pt x="5760339" y="966215"/>
                  </a:lnTo>
                </a:path>
                <a:path w="7423784" h="1160145">
                  <a:moveTo>
                    <a:pt x="312800" y="966215"/>
                  </a:moveTo>
                  <a:lnTo>
                    <a:pt x="429387" y="966215"/>
                  </a:lnTo>
                </a:path>
                <a:path w="7423784" h="1160145">
                  <a:moveTo>
                    <a:pt x="481964" y="966215"/>
                  </a:moveTo>
                  <a:lnTo>
                    <a:pt x="564261" y="966215"/>
                  </a:lnTo>
                </a:path>
                <a:path w="7423784" h="1160145">
                  <a:moveTo>
                    <a:pt x="5880735" y="966215"/>
                  </a:moveTo>
                  <a:lnTo>
                    <a:pt x="5997320" y="966215"/>
                  </a:lnTo>
                </a:path>
                <a:path w="7423784" h="1160145">
                  <a:moveTo>
                    <a:pt x="6049898" y="966215"/>
                  </a:moveTo>
                  <a:lnTo>
                    <a:pt x="6131433" y="966215"/>
                  </a:lnTo>
                </a:path>
                <a:path w="7423784" h="1160145">
                  <a:moveTo>
                    <a:pt x="2911221" y="966215"/>
                  </a:moveTo>
                  <a:lnTo>
                    <a:pt x="3027807" y="966215"/>
                  </a:lnTo>
                </a:path>
                <a:path w="7423784" h="1160145">
                  <a:moveTo>
                    <a:pt x="3080385" y="966215"/>
                  </a:moveTo>
                  <a:lnTo>
                    <a:pt x="3161919" y="966215"/>
                  </a:lnTo>
                </a:path>
                <a:path w="7423784" h="1160145">
                  <a:moveTo>
                    <a:pt x="6251829" y="966215"/>
                  </a:moveTo>
                  <a:lnTo>
                    <a:pt x="6368415" y="966215"/>
                  </a:lnTo>
                </a:path>
                <a:path w="7423784" h="1160145">
                  <a:moveTo>
                    <a:pt x="6420993" y="966215"/>
                  </a:moveTo>
                  <a:lnTo>
                    <a:pt x="6502527" y="966215"/>
                  </a:lnTo>
                </a:path>
                <a:path w="7423784" h="1160145">
                  <a:moveTo>
                    <a:pt x="1055751" y="966215"/>
                  </a:moveTo>
                  <a:lnTo>
                    <a:pt x="1171575" y="966215"/>
                  </a:lnTo>
                </a:path>
                <a:path w="7423784" h="1160145">
                  <a:moveTo>
                    <a:pt x="1596009" y="966215"/>
                  </a:moveTo>
                  <a:lnTo>
                    <a:pt x="1677543" y="966215"/>
                  </a:lnTo>
                </a:path>
                <a:path w="7423784" h="1160145">
                  <a:moveTo>
                    <a:pt x="6622923" y="966215"/>
                  </a:moveTo>
                  <a:lnTo>
                    <a:pt x="6739509" y="966215"/>
                  </a:lnTo>
                </a:path>
                <a:path w="7423784" h="1160145">
                  <a:moveTo>
                    <a:pt x="6792086" y="966215"/>
                  </a:moveTo>
                  <a:lnTo>
                    <a:pt x="6874383" y="966215"/>
                  </a:lnTo>
                </a:path>
                <a:path w="7423784" h="1160145">
                  <a:moveTo>
                    <a:pt x="3282315" y="966215"/>
                  </a:moveTo>
                  <a:lnTo>
                    <a:pt x="3398901" y="966215"/>
                  </a:lnTo>
                </a:path>
                <a:path w="7423784" h="1160145">
                  <a:moveTo>
                    <a:pt x="3451479" y="966215"/>
                  </a:moveTo>
                  <a:lnTo>
                    <a:pt x="3533775" y="966215"/>
                  </a:lnTo>
                </a:path>
                <a:path w="7423784" h="1160145">
                  <a:moveTo>
                    <a:pt x="6994779" y="966215"/>
                  </a:moveTo>
                  <a:lnTo>
                    <a:pt x="7110603" y="966215"/>
                  </a:lnTo>
                </a:path>
                <a:path w="7423784" h="1160145">
                  <a:moveTo>
                    <a:pt x="7163942" y="966215"/>
                  </a:moveTo>
                  <a:lnTo>
                    <a:pt x="7245477" y="966215"/>
                  </a:lnTo>
                </a:path>
                <a:path w="7423784" h="1160145">
                  <a:moveTo>
                    <a:pt x="684657" y="966215"/>
                  </a:moveTo>
                  <a:lnTo>
                    <a:pt x="800481" y="966215"/>
                  </a:lnTo>
                </a:path>
                <a:path w="7423784" h="1160145">
                  <a:moveTo>
                    <a:pt x="245744" y="966215"/>
                  </a:moveTo>
                  <a:lnTo>
                    <a:pt x="260223" y="966215"/>
                  </a:lnTo>
                </a:path>
                <a:path w="7423784" h="1160145">
                  <a:moveTo>
                    <a:pt x="853820" y="966215"/>
                  </a:moveTo>
                  <a:lnTo>
                    <a:pt x="935355" y="966215"/>
                  </a:lnTo>
                </a:path>
                <a:path w="7423784" h="1160145">
                  <a:moveTo>
                    <a:pt x="616838" y="966215"/>
                  </a:moveTo>
                  <a:lnTo>
                    <a:pt x="631317" y="966215"/>
                  </a:lnTo>
                </a:path>
                <a:path w="7423784" h="1160145">
                  <a:moveTo>
                    <a:pt x="3654171" y="966215"/>
                  </a:moveTo>
                  <a:lnTo>
                    <a:pt x="3769995" y="966215"/>
                  </a:lnTo>
                </a:path>
                <a:path w="7423784" h="1160145">
                  <a:moveTo>
                    <a:pt x="987932" y="966215"/>
                  </a:moveTo>
                  <a:lnTo>
                    <a:pt x="1002411" y="966215"/>
                  </a:lnTo>
                </a:path>
                <a:path w="7423784" h="1160145">
                  <a:moveTo>
                    <a:pt x="3823335" y="966215"/>
                  </a:moveTo>
                  <a:lnTo>
                    <a:pt x="3904869" y="966215"/>
                  </a:lnTo>
                </a:path>
                <a:path w="7423784" h="1160145">
                  <a:moveTo>
                    <a:pt x="1359027" y="966215"/>
                  </a:moveTo>
                  <a:lnTo>
                    <a:pt x="1373505" y="966215"/>
                  </a:lnTo>
                </a:path>
                <a:path w="7423784" h="1160145">
                  <a:moveTo>
                    <a:pt x="1797939" y="966215"/>
                  </a:moveTo>
                  <a:lnTo>
                    <a:pt x="1913763" y="966215"/>
                  </a:lnTo>
                </a:path>
                <a:path w="7423784" h="1160145">
                  <a:moveTo>
                    <a:pt x="1730883" y="966215"/>
                  </a:moveTo>
                  <a:lnTo>
                    <a:pt x="1744599" y="966215"/>
                  </a:lnTo>
                </a:path>
                <a:path w="7423784" h="1160145">
                  <a:moveTo>
                    <a:pt x="1967102" y="966215"/>
                  </a:moveTo>
                  <a:lnTo>
                    <a:pt x="2048637" y="966215"/>
                  </a:lnTo>
                </a:path>
                <a:path w="7423784" h="1160145">
                  <a:moveTo>
                    <a:pt x="2101977" y="966215"/>
                  </a:moveTo>
                  <a:lnTo>
                    <a:pt x="2115692" y="966215"/>
                  </a:lnTo>
                </a:path>
                <a:path w="7423784" h="1160145">
                  <a:moveTo>
                    <a:pt x="4025265" y="966215"/>
                  </a:moveTo>
                  <a:lnTo>
                    <a:pt x="4141089" y="966215"/>
                  </a:lnTo>
                </a:path>
                <a:path w="7423784" h="1160145">
                  <a:moveTo>
                    <a:pt x="2473071" y="966215"/>
                  </a:moveTo>
                  <a:lnTo>
                    <a:pt x="2487549" y="966215"/>
                  </a:lnTo>
                </a:path>
                <a:path w="7423784" h="1160145">
                  <a:moveTo>
                    <a:pt x="4194429" y="966215"/>
                  </a:moveTo>
                  <a:lnTo>
                    <a:pt x="4275963" y="966215"/>
                  </a:lnTo>
                </a:path>
                <a:path w="7423784" h="1160145">
                  <a:moveTo>
                    <a:pt x="2844165" y="966215"/>
                  </a:moveTo>
                  <a:lnTo>
                    <a:pt x="2858642" y="966215"/>
                  </a:lnTo>
                </a:path>
                <a:path w="7423784" h="1160145">
                  <a:moveTo>
                    <a:pt x="1224914" y="966215"/>
                  </a:moveTo>
                  <a:lnTo>
                    <a:pt x="1306449" y="966215"/>
                  </a:lnTo>
                </a:path>
                <a:path w="7423784" h="1160145">
                  <a:moveTo>
                    <a:pt x="3215259" y="966215"/>
                  </a:moveTo>
                  <a:lnTo>
                    <a:pt x="3229737" y="966215"/>
                  </a:lnTo>
                </a:path>
                <a:path w="7423784" h="1160145">
                  <a:moveTo>
                    <a:pt x="1426845" y="966215"/>
                  </a:moveTo>
                  <a:lnTo>
                    <a:pt x="1542669" y="966215"/>
                  </a:lnTo>
                </a:path>
                <a:path w="7423784" h="1160145">
                  <a:moveTo>
                    <a:pt x="3586353" y="966215"/>
                  </a:moveTo>
                  <a:lnTo>
                    <a:pt x="3600831" y="966215"/>
                  </a:lnTo>
                </a:path>
                <a:path w="7423784" h="1160145">
                  <a:moveTo>
                    <a:pt x="4396359" y="966215"/>
                  </a:moveTo>
                  <a:lnTo>
                    <a:pt x="4512183" y="966215"/>
                  </a:lnTo>
                </a:path>
                <a:path w="7423784" h="1160145">
                  <a:moveTo>
                    <a:pt x="3957447" y="966215"/>
                  </a:moveTo>
                  <a:lnTo>
                    <a:pt x="3971925" y="966215"/>
                  </a:lnTo>
                </a:path>
                <a:path w="7423784" h="1160145">
                  <a:moveTo>
                    <a:pt x="4565523" y="966215"/>
                  </a:moveTo>
                  <a:lnTo>
                    <a:pt x="4647057" y="966215"/>
                  </a:lnTo>
                </a:path>
                <a:path w="7423784" h="1160145">
                  <a:moveTo>
                    <a:pt x="4328541" y="966215"/>
                  </a:moveTo>
                  <a:lnTo>
                    <a:pt x="4343019" y="966215"/>
                  </a:lnTo>
                </a:path>
                <a:path w="7423784" h="1160145">
                  <a:moveTo>
                    <a:pt x="2169033" y="966215"/>
                  </a:moveTo>
                  <a:lnTo>
                    <a:pt x="2284857" y="966215"/>
                  </a:lnTo>
                </a:path>
                <a:path w="7423784" h="1160145">
                  <a:moveTo>
                    <a:pt x="4699635" y="966215"/>
                  </a:moveTo>
                  <a:lnTo>
                    <a:pt x="4714113" y="966215"/>
                  </a:lnTo>
                </a:path>
                <a:path w="7423784" h="1160145">
                  <a:moveTo>
                    <a:pt x="2338197" y="966215"/>
                  </a:moveTo>
                  <a:lnTo>
                    <a:pt x="2419731" y="966215"/>
                  </a:lnTo>
                </a:path>
                <a:path w="7423784" h="1160145">
                  <a:moveTo>
                    <a:pt x="5071491" y="966215"/>
                  </a:moveTo>
                  <a:lnTo>
                    <a:pt x="5085207" y="966215"/>
                  </a:lnTo>
                </a:path>
                <a:path w="7423784" h="1160145">
                  <a:moveTo>
                    <a:pt x="4767453" y="966215"/>
                  </a:moveTo>
                  <a:lnTo>
                    <a:pt x="4883277" y="966215"/>
                  </a:lnTo>
                </a:path>
                <a:path w="7423784" h="1160145">
                  <a:moveTo>
                    <a:pt x="5442585" y="966215"/>
                  </a:moveTo>
                  <a:lnTo>
                    <a:pt x="5457063" y="966215"/>
                  </a:lnTo>
                </a:path>
                <a:path w="7423784" h="1160145">
                  <a:moveTo>
                    <a:pt x="4936617" y="966215"/>
                  </a:moveTo>
                  <a:lnTo>
                    <a:pt x="5018151" y="966215"/>
                  </a:lnTo>
                </a:path>
                <a:path w="7423784" h="1160145">
                  <a:moveTo>
                    <a:pt x="5813679" y="966215"/>
                  </a:moveTo>
                  <a:lnTo>
                    <a:pt x="5828157" y="966215"/>
                  </a:lnTo>
                </a:path>
                <a:path w="7423784" h="1160145">
                  <a:moveTo>
                    <a:pt x="0" y="966215"/>
                  </a:moveTo>
                  <a:lnTo>
                    <a:pt x="58293" y="966215"/>
                  </a:lnTo>
                </a:path>
                <a:path w="7423784" h="1160145">
                  <a:moveTo>
                    <a:pt x="6184772" y="966215"/>
                  </a:moveTo>
                  <a:lnTo>
                    <a:pt x="6199251" y="966215"/>
                  </a:lnTo>
                </a:path>
                <a:path w="7423784" h="1160145">
                  <a:moveTo>
                    <a:pt x="110871" y="966215"/>
                  </a:moveTo>
                  <a:lnTo>
                    <a:pt x="193167" y="966215"/>
                  </a:lnTo>
                </a:path>
                <a:path w="7423784" h="1160145">
                  <a:moveTo>
                    <a:pt x="6555867" y="966215"/>
                  </a:moveTo>
                  <a:lnTo>
                    <a:pt x="6570344" y="966215"/>
                  </a:lnTo>
                </a:path>
                <a:path w="7423784" h="1160145">
                  <a:moveTo>
                    <a:pt x="5138546" y="966215"/>
                  </a:moveTo>
                  <a:lnTo>
                    <a:pt x="5254370" y="966215"/>
                  </a:lnTo>
                </a:path>
                <a:path w="7423784" h="1160145">
                  <a:moveTo>
                    <a:pt x="6926961" y="966215"/>
                  </a:moveTo>
                  <a:lnTo>
                    <a:pt x="6941438" y="966215"/>
                  </a:lnTo>
                </a:path>
                <a:path w="7423784" h="1160145">
                  <a:moveTo>
                    <a:pt x="5307711" y="966215"/>
                  </a:moveTo>
                  <a:lnTo>
                    <a:pt x="5389245" y="966215"/>
                  </a:lnTo>
                </a:path>
                <a:path w="7423784" h="1160145">
                  <a:moveTo>
                    <a:pt x="7298055" y="966215"/>
                  </a:moveTo>
                  <a:lnTo>
                    <a:pt x="7312533" y="966215"/>
                  </a:lnTo>
                </a:path>
                <a:path w="7423784" h="1160145">
                  <a:moveTo>
                    <a:pt x="2540127" y="966215"/>
                  </a:moveTo>
                  <a:lnTo>
                    <a:pt x="2656713" y="966215"/>
                  </a:lnTo>
                </a:path>
                <a:path w="7423784" h="1160145">
                  <a:moveTo>
                    <a:pt x="7365873" y="966215"/>
                  </a:moveTo>
                  <a:lnTo>
                    <a:pt x="7423404" y="966215"/>
                  </a:lnTo>
                </a:path>
                <a:path w="7423784" h="1160145">
                  <a:moveTo>
                    <a:pt x="1055751" y="772668"/>
                  </a:moveTo>
                  <a:lnTo>
                    <a:pt x="1171575" y="772668"/>
                  </a:lnTo>
                </a:path>
                <a:path w="7423784" h="1160145">
                  <a:moveTo>
                    <a:pt x="3451479" y="772668"/>
                  </a:moveTo>
                  <a:lnTo>
                    <a:pt x="3533775" y="772668"/>
                  </a:lnTo>
                </a:path>
                <a:path w="7423784" h="1160145">
                  <a:moveTo>
                    <a:pt x="2540127" y="772668"/>
                  </a:moveTo>
                  <a:lnTo>
                    <a:pt x="2656713" y="772668"/>
                  </a:lnTo>
                </a:path>
                <a:path w="7423784" h="1160145">
                  <a:moveTo>
                    <a:pt x="616838" y="772668"/>
                  </a:moveTo>
                  <a:lnTo>
                    <a:pt x="631317" y="772668"/>
                  </a:lnTo>
                </a:path>
                <a:path w="7423784" h="1160145">
                  <a:moveTo>
                    <a:pt x="2709291" y="772668"/>
                  </a:moveTo>
                  <a:lnTo>
                    <a:pt x="2790825" y="772668"/>
                  </a:lnTo>
                </a:path>
                <a:path w="7423784" h="1160145">
                  <a:moveTo>
                    <a:pt x="853820" y="772668"/>
                  </a:moveTo>
                  <a:lnTo>
                    <a:pt x="935355" y="772668"/>
                  </a:lnTo>
                </a:path>
                <a:path w="7423784" h="1160145">
                  <a:moveTo>
                    <a:pt x="987932" y="772668"/>
                  </a:moveTo>
                  <a:lnTo>
                    <a:pt x="1002411" y="772668"/>
                  </a:lnTo>
                </a:path>
                <a:path w="7423784" h="1160145">
                  <a:moveTo>
                    <a:pt x="3282315" y="772668"/>
                  </a:moveTo>
                  <a:lnTo>
                    <a:pt x="3398901" y="772668"/>
                  </a:lnTo>
                </a:path>
                <a:path w="7423784" h="1160145">
                  <a:moveTo>
                    <a:pt x="2911221" y="772668"/>
                  </a:moveTo>
                  <a:lnTo>
                    <a:pt x="3027807" y="772668"/>
                  </a:lnTo>
                </a:path>
                <a:path w="7423784" h="1160145">
                  <a:moveTo>
                    <a:pt x="1967102" y="772668"/>
                  </a:moveTo>
                  <a:lnTo>
                    <a:pt x="2048637" y="772668"/>
                  </a:lnTo>
                </a:path>
                <a:path w="7423784" h="1160145">
                  <a:moveTo>
                    <a:pt x="4936617" y="772668"/>
                  </a:moveTo>
                  <a:lnTo>
                    <a:pt x="5018151" y="772668"/>
                  </a:lnTo>
                </a:path>
                <a:path w="7423784" h="1160145">
                  <a:moveTo>
                    <a:pt x="1426845" y="772668"/>
                  </a:moveTo>
                  <a:lnTo>
                    <a:pt x="1542669" y="772668"/>
                  </a:lnTo>
                </a:path>
                <a:path w="7423784" h="1160145">
                  <a:moveTo>
                    <a:pt x="3654171" y="772668"/>
                  </a:moveTo>
                  <a:lnTo>
                    <a:pt x="3769995" y="772668"/>
                  </a:lnTo>
                </a:path>
                <a:path w="7423784" h="1160145">
                  <a:moveTo>
                    <a:pt x="4025265" y="772668"/>
                  </a:moveTo>
                  <a:lnTo>
                    <a:pt x="4141089" y="772668"/>
                  </a:lnTo>
                </a:path>
                <a:path w="7423784" h="1160145">
                  <a:moveTo>
                    <a:pt x="6420993" y="772668"/>
                  </a:moveTo>
                  <a:lnTo>
                    <a:pt x="6502527" y="772668"/>
                  </a:lnTo>
                </a:path>
                <a:path w="7423784" h="1160145">
                  <a:moveTo>
                    <a:pt x="5138546" y="772668"/>
                  </a:moveTo>
                  <a:lnTo>
                    <a:pt x="5254370" y="772668"/>
                  </a:lnTo>
                </a:path>
                <a:path w="7423784" h="1160145">
                  <a:moveTo>
                    <a:pt x="6251829" y="772668"/>
                  </a:moveTo>
                  <a:lnTo>
                    <a:pt x="6368415" y="772668"/>
                  </a:lnTo>
                </a:path>
                <a:path w="7423784" h="1160145">
                  <a:moveTo>
                    <a:pt x="110871" y="772668"/>
                  </a:moveTo>
                  <a:lnTo>
                    <a:pt x="193167" y="772668"/>
                  </a:lnTo>
                </a:path>
                <a:path w="7423784" h="1160145">
                  <a:moveTo>
                    <a:pt x="4194429" y="772668"/>
                  </a:moveTo>
                  <a:lnTo>
                    <a:pt x="4275963" y="772668"/>
                  </a:lnTo>
                </a:path>
                <a:path w="7423784" h="1160145">
                  <a:moveTo>
                    <a:pt x="5678805" y="772668"/>
                  </a:moveTo>
                  <a:lnTo>
                    <a:pt x="5760339" y="772668"/>
                  </a:lnTo>
                </a:path>
                <a:path w="7423784" h="1160145">
                  <a:moveTo>
                    <a:pt x="4565523" y="772668"/>
                  </a:moveTo>
                  <a:lnTo>
                    <a:pt x="4647057" y="772668"/>
                  </a:lnTo>
                </a:path>
                <a:path w="7423784" h="1160145">
                  <a:moveTo>
                    <a:pt x="0" y="772668"/>
                  </a:moveTo>
                  <a:lnTo>
                    <a:pt x="58293" y="772668"/>
                  </a:lnTo>
                </a:path>
                <a:path w="7423784" h="1160145">
                  <a:moveTo>
                    <a:pt x="2338197" y="772668"/>
                  </a:moveTo>
                  <a:lnTo>
                    <a:pt x="2419731" y="772668"/>
                  </a:lnTo>
                </a:path>
                <a:path w="7423784" h="1160145">
                  <a:moveTo>
                    <a:pt x="3080385" y="772668"/>
                  </a:moveTo>
                  <a:lnTo>
                    <a:pt x="3161919" y="772668"/>
                  </a:lnTo>
                </a:path>
                <a:path w="7423784" h="1160145">
                  <a:moveTo>
                    <a:pt x="3215259" y="772668"/>
                  </a:moveTo>
                  <a:lnTo>
                    <a:pt x="3229737" y="772668"/>
                  </a:lnTo>
                </a:path>
                <a:path w="7423784" h="1160145">
                  <a:moveTo>
                    <a:pt x="1224914" y="772668"/>
                  </a:moveTo>
                  <a:lnTo>
                    <a:pt x="1306449" y="772668"/>
                  </a:lnTo>
                </a:path>
                <a:path w="7423784" h="1160145">
                  <a:moveTo>
                    <a:pt x="5509641" y="772668"/>
                  </a:moveTo>
                  <a:lnTo>
                    <a:pt x="5625465" y="772668"/>
                  </a:lnTo>
                </a:path>
                <a:path w="7423784" h="1160145">
                  <a:moveTo>
                    <a:pt x="3586353" y="772668"/>
                  </a:moveTo>
                  <a:lnTo>
                    <a:pt x="3600831" y="772668"/>
                  </a:lnTo>
                </a:path>
                <a:path w="7423784" h="1160145">
                  <a:moveTo>
                    <a:pt x="1797939" y="772668"/>
                  </a:moveTo>
                  <a:lnTo>
                    <a:pt x="1913763" y="772668"/>
                  </a:lnTo>
                </a:path>
                <a:path w="7423784" h="1160145">
                  <a:moveTo>
                    <a:pt x="6622923" y="772668"/>
                  </a:moveTo>
                  <a:lnTo>
                    <a:pt x="6739509" y="772668"/>
                  </a:lnTo>
                </a:path>
                <a:path w="7423784" h="1160145">
                  <a:moveTo>
                    <a:pt x="481964" y="772668"/>
                  </a:moveTo>
                  <a:lnTo>
                    <a:pt x="564261" y="772668"/>
                  </a:lnTo>
                </a:path>
                <a:path w="7423784" h="1160145">
                  <a:moveTo>
                    <a:pt x="312800" y="772668"/>
                  </a:moveTo>
                  <a:lnTo>
                    <a:pt x="429387" y="772668"/>
                  </a:lnTo>
                </a:path>
                <a:path w="7423784" h="1160145">
                  <a:moveTo>
                    <a:pt x="6994779" y="772668"/>
                  </a:moveTo>
                  <a:lnTo>
                    <a:pt x="7110603" y="772668"/>
                  </a:lnTo>
                </a:path>
                <a:path w="7423784" h="1160145">
                  <a:moveTo>
                    <a:pt x="684657" y="772668"/>
                  </a:moveTo>
                  <a:lnTo>
                    <a:pt x="800481" y="772668"/>
                  </a:lnTo>
                </a:path>
                <a:path w="7423784" h="1160145">
                  <a:moveTo>
                    <a:pt x="6049898" y="772668"/>
                  </a:moveTo>
                  <a:lnTo>
                    <a:pt x="6131433" y="772668"/>
                  </a:lnTo>
                </a:path>
                <a:path w="7423784" h="1160145">
                  <a:moveTo>
                    <a:pt x="1596009" y="772668"/>
                  </a:moveTo>
                  <a:lnTo>
                    <a:pt x="1677543" y="772668"/>
                  </a:lnTo>
                </a:path>
                <a:path w="7423784" h="1160145">
                  <a:moveTo>
                    <a:pt x="4396359" y="772668"/>
                  </a:moveTo>
                  <a:lnTo>
                    <a:pt x="4512183" y="772668"/>
                  </a:lnTo>
                </a:path>
                <a:path w="7423784" h="1160145">
                  <a:moveTo>
                    <a:pt x="245744" y="772668"/>
                  </a:moveTo>
                  <a:lnTo>
                    <a:pt x="260223" y="772668"/>
                  </a:lnTo>
                </a:path>
                <a:path w="7423784" h="1160145">
                  <a:moveTo>
                    <a:pt x="2473071" y="772668"/>
                  </a:moveTo>
                  <a:lnTo>
                    <a:pt x="2487549" y="772668"/>
                  </a:lnTo>
                </a:path>
                <a:path w="7423784" h="1160145">
                  <a:moveTo>
                    <a:pt x="5071491" y="772668"/>
                  </a:moveTo>
                  <a:lnTo>
                    <a:pt x="5085207" y="772668"/>
                  </a:lnTo>
                </a:path>
                <a:path w="7423784" h="1160145">
                  <a:moveTo>
                    <a:pt x="4767453" y="772668"/>
                  </a:moveTo>
                  <a:lnTo>
                    <a:pt x="4883277" y="772668"/>
                  </a:lnTo>
                </a:path>
                <a:path w="7423784" h="1160145">
                  <a:moveTo>
                    <a:pt x="2844165" y="772668"/>
                  </a:moveTo>
                  <a:lnTo>
                    <a:pt x="2858642" y="772668"/>
                  </a:lnTo>
                </a:path>
                <a:path w="7423784" h="1160145">
                  <a:moveTo>
                    <a:pt x="5442585" y="772668"/>
                  </a:moveTo>
                  <a:lnTo>
                    <a:pt x="5457063" y="772668"/>
                  </a:lnTo>
                </a:path>
                <a:path w="7423784" h="1160145">
                  <a:moveTo>
                    <a:pt x="3823335" y="772668"/>
                  </a:moveTo>
                  <a:lnTo>
                    <a:pt x="3904869" y="772668"/>
                  </a:lnTo>
                </a:path>
                <a:path w="7423784" h="1160145">
                  <a:moveTo>
                    <a:pt x="2169033" y="772668"/>
                  </a:moveTo>
                  <a:lnTo>
                    <a:pt x="2284857" y="772668"/>
                  </a:lnTo>
                </a:path>
                <a:path w="7423784" h="1160145">
                  <a:moveTo>
                    <a:pt x="5813679" y="772668"/>
                  </a:moveTo>
                  <a:lnTo>
                    <a:pt x="5828157" y="772668"/>
                  </a:lnTo>
                </a:path>
                <a:path w="7423784" h="1160145">
                  <a:moveTo>
                    <a:pt x="6792086" y="772668"/>
                  </a:moveTo>
                  <a:lnTo>
                    <a:pt x="6874383" y="772668"/>
                  </a:lnTo>
                </a:path>
                <a:path w="7423784" h="1160145">
                  <a:moveTo>
                    <a:pt x="5880735" y="772668"/>
                  </a:moveTo>
                  <a:lnTo>
                    <a:pt x="5997320" y="772668"/>
                  </a:lnTo>
                </a:path>
                <a:path w="7423784" h="1160145">
                  <a:moveTo>
                    <a:pt x="6184772" y="772668"/>
                  </a:moveTo>
                  <a:lnTo>
                    <a:pt x="6199251" y="772668"/>
                  </a:lnTo>
                </a:path>
                <a:path w="7423784" h="1160145">
                  <a:moveTo>
                    <a:pt x="1359027" y="772668"/>
                  </a:moveTo>
                  <a:lnTo>
                    <a:pt x="1373505" y="772668"/>
                  </a:lnTo>
                </a:path>
                <a:path w="7423784" h="1160145">
                  <a:moveTo>
                    <a:pt x="5307711" y="772668"/>
                  </a:moveTo>
                  <a:lnTo>
                    <a:pt x="5389245" y="772668"/>
                  </a:lnTo>
                </a:path>
                <a:path w="7423784" h="1160145">
                  <a:moveTo>
                    <a:pt x="6555867" y="772668"/>
                  </a:moveTo>
                  <a:lnTo>
                    <a:pt x="6570344" y="772668"/>
                  </a:lnTo>
                </a:path>
                <a:path w="7423784" h="1160145">
                  <a:moveTo>
                    <a:pt x="3957447" y="772668"/>
                  </a:moveTo>
                  <a:lnTo>
                    <a:pt x="3971925" y="772668"/>
                  </a:lnTo>
                </a:path>
                <a:path w="7423784" h="1160145">
                  <a:moveTo>
                    <a:pt x="1730883" y="772668"/>
                  </a:moveTo>
                  <a:lnTo>
                    <a:pt x="1744599" y="772668"/>
                  </a:lnTo>
                </a:path>
                <a:path w="7423784" h="1160145">
                  <a:moveTo>
                    <a:pt x="6926961" y="772668"/>
                  </a:moveTo>
                  <a:lnTo>
                    <a:pt x="6941438" y="772668"/>
                  </a:lnTo>
                </a:path>
                <a:path w="7423784" h="1160145">
                  <a:moveTo>
                    <a:pt x="4328541" y="772668"/>
                  </a:moveTo>
                  <a:lnTo>
                    <a:pt x="4343019" y="772668"/>
                  </a:lnTo>
                </a:path>
                <a:path w="7423784" h="1160145">
                  <a:moveTo>
                    <a:pt x="2101977" y="772668"/>
                  </a:moveTo>
                  <a:lnTo>
                    <a:pt x="2115692" y="772668"/>
                  </a:lnTo>
                </a:path>
                <a:path w="7423784" h="1160145">
                  <a:moveTo>
                    <a:pt x="7298055" y="772668"/>
                  </a:moveTo>
                  <a:lnTo>
                    <a:pt x="7312533" y="772668"/>
                  </a:lnTo>
                </a:path>
                <a:path w="7423784" h="1160145">
                  <a:moveTo>
                    <a:pt x="4699635" y="772668"/>
                  </a:moveTo>
                  <a:lnTo>
                    <a:pt x="4714113" y="772668"/>
                  </a:lnTo>
                </a:path>
                <a:path w="7423784" h="1160145">
                  <a:moveTo>
                    <a:pt x="7163942" y="772668"/>
                  </a:moveTo>
                  <a:lnTo>
                    <a:pt x="7245477" y="772668"/>
                  </a:lnTo>
                </a:path>
                <a:path w="7423784" h="1160145">
                  <a:moveTo>
                    <a:pt x="7365873" y="772668"/>
                  </a:moveTo>
                  <a:lnTo>
                    <a:pt x="7423404" y="772668"/>
                  </a:lnTo>
                </a:path>
                <a:path w="7423784" h="1160145">
                  <a:moveTo>
                    <a:pt x="2101977" y="579882"/>
                  </a:moveTo>
                  <a:lnTo>
                    <a:pt x="2115692" y="579882"/>
                  </a:lnTo>
                </a:path>
                <a:path w="7423784" h="1160145">
                  <a:moveTo>
                    <a:pt x="3282315" y="579882"/>
                  </a:moveTo>
                  <a:lnTo>
                    <a:pt x="3398901" y="579882"/>
                  </a:lnTo>
                </a:path>
                <a:path w="7423784" h="1160145">
                  <a:moveTo>
                    <a:pt x="3451479" y="579882"/>
                  </a:moveTo>
                  <a:lnTo>
                    <a:pt x="3533775" y="579882"/>
                  </a:lnTo>
                </a:path>
                <a:path w="7423784" h="1160145">
                  <a:moveTo>
                    <a:pt x="1797939" y="579882"/>
                  </a:moveTo>
                  <a:lnTo>
                    <a:pt x="1913763" y="579882"/>
                  </a:lnTo>
                </a:path>
                <a:path w="7423784" h="1160145">
                  <a:moveTo>
                    <a:pt x="2473071" y="579882"/>
                  </a:moveTo>
                  <a:lnTo>
                    <a:pt x="2487549" y="579882"/>
                  </a:lnTo>
                </a:path>
                <a:path w="7423784" h="1160145">
                  <a:moveTo>
                    <a:pt x="1967102" y="579882"/>
                  </a:moveTo>
                  <a:lnTo>
                    <a:pt x="2048637" y="579882"/>
                  </a:lnTo>
                </a:path>
                <a:path w="7423784" h="1160145">
                  <a:moveTo>
                    <a:pt x="6251829" y="579882"/>
                  </a:moveTo>
                  <a:lnTo>
                    <a:pt x="6368415" y="579882"/>
                  </a:lnTo>
                </a:path>
                <a:path w="7423784" h="1160145">
                  <a:moveTo>
                    <a:pt x="6420993" y="579882"/>
                  </a:moveTo>
                  <a:lnTo>
                    <a:pt x="6502527" y="579882"/>
                  </a:lnTo>
                </a:path>
                <a:path w="7423784" h="1160145">
                  <a:moveTo>
                    <a:pt x="2844165" y="579882"/>
                  </a:moveTo>
                  <a:lnTo>
                    <a:pt x="2858642" y="579882"/>
                  </a:lnTo>
                </a:path>
                <a:path w="7423784" h="1160145">
                  <a:moveTo>
                    <a:pt x="2540127" y="579882"/>
                  </a:moveTo>
                  <a:lnTo>
                    <a:pt x="2656713" y="579882"/>
                  </a:lnTo>
                </a:path>
                <a:path w="7423784" h="1160145">
                  <a:moveTo>
                    <a:pt x="2709291" y="579882"/>
                  </a:moveTo>
                  <a:lnTo>
                    <a:pt x="2790825" y="579882"/>
                  </a:lnTo>
                </a:path>
                <a:path w="7423784" h="1160145">
                  <a:moveTo>
                    <a:pt x="4767453" y="579882"/>
                  </a:moveTo>
                  <a:lnTo>
                    <a:pt x="4883277" y="579882"/>
                  </a:lnTo>
                </a:path>
                <a:path w="7423784" h="1160145">
                  <a:moveTo>
                    <a:pt x="3215259" y="579882"/>
                  </a:moveTo>
                  <a:lnTo>
                    <a:pt x="3229737" y="579882"/>
                  </a:lnTo>
                </a:path>
                <a:path w="7423784" h="1160145">
                  <a:moveTo>
                    <a:pt x="4936617" y="579882"/>
                  </a:moveTo>
                  <a:lnTo>
                    <a:pt x="5018151" y="579882"/>
                  </a:lnTo>
                </a:path>
                <a:path w="7423784" h="1160145">
                  <a:moveTo>
                    <a:pt x="684657" y="579882"/>
                  </a:moveTo>
                  <a:lnTo>
                    <a:pt x="800481" y="579882"/>
                  </a:lnTo>
                </a:path>
                <a:path w="7423784" h="1160145">
                  <a:moveTo>
                    <a:pt x="853820" y="579882"/>
                  </a:moveTo>
                  <a:lnTo>
                    <a:pt x="935355" y="579882"/>
                  </a:lnTo>
                </a:path>
                <a:path w="7423784" h="1160145">
                  <a:moveTo>
                    <a:pt x="3586353" y="579882"/>
                  </a:moveTo>
                  <a:lnTo>
                    <a:pt x="3600831" y="579882"/>
                  </a:lnTo>
                </a:path>
                <a:path w="7423784" h="1160145">
                  <a:moveTo>
                    <a:pt x="6622923" y="579882"/>
                  </a:moveTo>
                  <a:lnTo>
                    <a:pt x="6739509" y="579882"/>
                  </a:lnTo>
                </a:path>
                <a:path w="7423784" h="1160145">
                  <a:moveTo>
                    <a:pt x="6792086" y="579882"/>
                  </a:moveTo>
                  <a:lnTo>
                    <a:pt x="6874383" y="579882"/>
                  </a:lnTo>
                </a:path>
                <a:path w="7423784" h="1160145">
                  <a:moveTo>
                    <a:pt x="3654171" y="579882"/>
                  </a:moveTo>
                  <a:lnTo>
                    <a:pt x="3769995" y="579882"/>
                  </a:lnTo>
                </a:path>
                <a:path w="7423784" h="1160145">
                  <a:moveTo>
                    <a:pt x="3957447" y="579882"/>
                  </a:moveTo>
                  <a:lnTo>
                    <a:pt x="3971925" y="579882"/>
                  </a:lnTo>
                </a:path>
                <a:path w="7423784" h="1160145">
                  <a:moveTo>
                    <a:pt x="3823335" y="579882"/>
                  </a:moveTo>
                  <a:lnTo>
                    <a:pt x="3904869" y="579882"/>
                  </a:lnTo>
                </a:path>
                <a:path w="7423784" h="1160145">
                  <a:moveTo>
                    <a:pt x="1426845" y="579882"/>
                  </a:moveTo>
                  <a:lnTo>
                    <a:pt x="1542669" y="579882"/>
                  </a:lnTo>
                </a:path>
                <a:path w="7423784" h="1160145">
                  <a:moveTo>
                    <a:pt x="1596009" y="579882"/>
                  </a:moveTo>
                  <a:lnTo>
                    <a:pt x="1677543" y="579882"/>
                  </a:lnTo>
                </a:path>
                <a:path w="7423784" h="1160145">
                  <a:moveTo>
                    <a:pt x="4328541" y="579882"/>
                  </a:moveTo>
                  <a:lnTo>
                    <a:pt x="4343019" y="579882"/>
                  </a:lnTo>
                </a:path>
                <a:path w="7423784" h="1160145">
                  <a:moveTo>
                    <a:pt x="5138546" y="579882"/>
                  </a:moveTo>
                  <a:lnTo>
                    <a:pt x="5254370" y="579882"/>
                  </a:lnTo>
                </a:path>
                <a:path w="7423784" h="1160145">
                  <a:moveTo>
                    <a:pt x="5307711" y="579882"/>
                  </a:moveTo>
                  <a:lnTo>
                    <a:pt x="5389245" y="579882"/>
                  </a:lnTo>
                </a:path>
                <a:path w="7423784" h="1160145">
                  <a:moveTo>
                    <a:pt x="6994779" y="579882"/>
                  </a:moveTo>
                  <a:lnTo>
                    <a:pt x="7110603" y="579882"/>
                  </a:lnTo>
                </a:path>
                <a:path w="7423784" h="1160145">
                  <a:moveTo>
                    <a:pt x="4699635" y="579882"/>
                  </a:moveTo>
                  <a:lnTo>
                    <a:pt x="4714113" y="579882"/>
                  </a:lnTo>
                </a:path>
                <a:path w="7423784" h="1160145">
                  <a:moveTo>
                    <a:pt x="7163942" y="579882"/>
                  </a:moveTo>
                  <a:lnTo>
                    <a:pt x="7245477" y="579882"/>
                  </a:lnTo>
                </a:path>
                <a:path w="7423784" h="1160145">
                  <a:moveTo>
                    <a:pt x="1055751" y="579882"/>
                  </a:moveTo>
                  <a:lnTo>
                    <a:pt x="1171575" y="579882"/>
                  </a:lnTo>
                </a:path>
                <a:path w="7423784" h="1160145">
                  <a:moveTo>
                    <a:pt x="1224914" y="579882"/>
                  </a:moveTo>
                  <a:lnTo>
                    <a:pt x="1306449" y="579882"/>
                  </a:lnTo>
                </a:path>
                <a:path w="7423784" h="1160145">
                  <a:moveTo>
                    <a:pt x="5071491" y="579882"/>
                  </a:moveTo>
                  <a:lnTo>
                    <a:pt x="5085207" y="579882"/>
                  </a:lnTo>
                </a:path>
                <a:path w="7423784" h="1160145">
                  <a:moveTo>
                    <a:pt x="2911221" y="579882"/>
                  </a:moveTo>
                  <a:lnTo>
                    <a:pt x="3027807" y="579882"/>
                  </a:lnTo>
                </a:path>
                <a:path w="7423784" h="1160145">
                  <a:moveTo>
                    <a:pt x="245744" y="579882"/>
                  </a:moveTo>
                  <a:lnTo>
                    <a:pt x="260223" y="579882"/>
                  </a:lnTo>
                </a:path>
                <a:path w="7423784" h="1160145">
                  <a:moveTo>
                    <a:pt x="3080385" y="579882"/>
                  </a:moveTo>
                  <a:lnTo>
                    <a:pt x="3161919" y="579882"/>
                  </a:lnTo>
                </a:path>
                <a:path w="7423784" h="1160145">
                  <a:moveTo>
                    <a:pt x="5442585" y="579882"/>
                  </a:moveTo>
                  <a:lnTo>
                    <a:pt x="5457063" y="579882"/>
                  </a:lnTo>
                </a:path>
                <a:path w="7423784" h="1160145">
                  <a:moveTo>
                    <a:pt x="4025265" y="579882"/>
                  </a:moveTo>
                  <a:lnTo>
                    <a:pt x="4141089" y="579882"/>
                  </a:lnTo>
                </a:path>
                <a:path w="7423784" h="1160145">
                  <a:moveTo>
                    <a:pt x="4194429" y="579882"/>
                  </a:moveTo>
                  <a:lnTo>
                    <a:pt x="4275963" y="579882"/>
                  </a:lnTo>
                </a:path>
                <a:path w="7423784" h="1160145">
                  <a:moveTo>
                    <a:pt x="616838" y="579882"/>
                  </a:moveTo>
                  <a:lnTo>
                    <a:pt x="631317" y="579882"/>
                  </a:lnTo>
                </a:path>
                <a:path w="7423784" h="1160145">
                  <a:moveTo>
                    <a:pt x="5813679" y="579882"/>
                  </a:moveTo>
                  <a:lnTo>
                    <a:pt x="5828157" y="579882"/>
                  </a:lnTo>
                </a:path>
                <a:path w="7423784" h="1160145">
                  <a:moveTo>
                    <a:pt x="5509641" y="579882"/>
                  </a:moveTo>
                  <a:lnTo>
                    <a:pt x="5625465" y="579882"/>
                  </a:lnTo>
                </a:path>
                <a:path w="7423784" h="1160145">
                  <a:moveTo>
                    <a:pt x="5678805" y="579882"/>
                  </a:moveTo>
                  <a:lnTo>
                    <a:pt x="5760339" y="579882"/>
                  </a:lnTo>
                </a:path>
                <a:path w="7423784" h="1160145">
                  <a:moveTo>
                    <a:pt x="2169033" y="579882"/>
                  </a:moveTo>
                  <a:lnTo>
                    <a:pt x="2284857" y="579882"/>
                  </a:lnTo>
                </a:path>
                <a:path w="7423784" h="1160145">
                  <a:moveTo>
                    <a:pt x="6184772" y="579882"/>
                  </a:moveTo>
                  <a:lnTo>
                    <a:pt x="6199251" y="579882"/>
                  </a:lnTo>
                </a:path>
                <a:path w="7423784" h="1160145">
                  <a:moveTo>
                    <a:pt x="987932" y="579882"/>
                  </a:moveTo>
                  <a:lnTo>
                    <a:pt x="1002411" y="579882"/>
                  </a:lnTo>
                </a:path>
                <a:path w="7423784" h="1160145">
                  <a:moveTo>
                    <a:pt x="2338197" y="579882"/>
                  </a:moveTo>
                  <a:lnTo>
                    <a:pt x="2419731" y="579882"/>
                  </a:lnTo>
                </a:path>
                <a:path w="7423784" h="1160145">
                  <a:moveTo>
                    <a:pt x="110871" y="579882"/>
                  </a:moveTo>
                  <a:lnTo>
                    <a:pt x="193167" y="579882"/>
                  </a:lnTo>
                </a:path>
                <a:path w="7423784" h="1160145">
                  <a:moveTo>
                    <a:pt x="6555867" y="579882"/>
                  </a:moveTo>
                  <a:lnTo>
                    <a:pt x="6570344" y="579882"/>
                  </a:lnTo>
                </a:path>
                <a:path w="7423784" h="1160145">
                  <a:moveTo>
                    <a:pt x="312800" y="579882"/>
                  </a:moveTo>
                  <a:lnTo>
                    <a:pt x="429387" y="579882"/>
                  </a:lnTo>
                </a:path>
                <a:path w="7423784" h="1160145">
                  <a:moveTo>
                    <a:pt x="1359027" y="579882"/>
                  </a:moveTo>
                  <a:lnTo>
                    <a:pt x="1373505" y="579882"/>
                  </a:lnTo>
                </a:path>
                <a:path w="7423784" h="1160145">
                  <a:moveTo>
                    <a:pt x="0" y="579882"/>
                  </a:moveTo>
                  <a:lnTo>
                    <a:pt x="58293" y="579882"/>
                  </a:lnTo>
                </a:path>
                <a:path w="7423784" h="1160145">
                  <a:moveTo>
                    <a:pt x="6926961" y="579882"/>
                  </a:moveTo>
                  <a:lnTo>
                    <a:pt x="6941438" y="579882"/>
                  </a:lnTo>
                </a:path>
                <a:path w="7423784" h="1160145">
                  <a:moveTo>
                    <a:pt x="481964" y="579882"/>
                  </a:moveTo>
                  <a:lnTo>
                    <a:pt x="564261" y="579882"/>
                  </a:lnTo>
                </a:path>
                <a:path w="7423784" h="1160145">
                  <a:moveTo>
                    <a:pt x="5880735" y="579882"/>
                  </a:moveTo>
                  <a:lnTo>
                    <a:pt x="5997320" y="579882"/>
                  </a:lnTo>
                </a:path>
                <a:path w="7423784" h="1160145">
                  <a:moveTo>
                    <a:pt x="1730883" y="579882"/>
                  </a:moveTo>
                  <a:lnTo>
                    <a:pt x="1744599" y="579882"/>
                  </a:lnTo>
                </a:path>
                <a:path w="7423784" h="1160145">
                  <a:moveTo>
                    <a:pt x="7298055" y="579882"/>
                  </a:moveTo>
                  <a:lnTo>
                    <a:pt x="7312533" y="579882"/>
                  </a:lnTo>
                </a:path>
                <a:path w="7423784" h="1160145">
                  <a:moveTo>
                    <a:pt x="6049898" y="579882"/>
                  </a:moveTo>
                  <a:lnTo>
                    <a:pt x="6131433" y="579882"/>
                  </a:lnTo>
                </a:path>
                <a:path w="7423784" h="1160145">
                  <a:moveTo>
                    <a:pt x="4396359" y="579882"/>
                  </a:moveTo>
                  <a:lnTo>
                    <a:pt x="4512183" y="579882"/>
                  </a:lnTo>
                </a:path>
                <a:path w="7423784" h="1160145">
                  <a:moveTo>
                    <a:pt x="4565523" y="579882"/>
                  </a:moveTo>
                  <a:lnTo>
                    <a:pt x="4647057" y="579882"/>
                  </a:lnTo>
                </a:path>
                <a:path w="7423784" h="1160145">
                  <a:moveTo>
                    <a:pt x="7365873" y="579882"/>
                  </a:moveTo>
                  <a:lnTo>
                    <a:pt x="7423404" y="579882"/>
                  </a:lnTo>
                </a:path>
                <a:path w="7423784" h="1160145">
                  <a:moveTo>
                    <a:pt x="5509641" y="386334"/>
                  </a:moveTo>
                  <a:lnTo>
                    <a:pt x="5625465" y="386334"/>
                  </a:lnTo>
                </a:path>
                <a:path w="7423784" h="1160145">
                  <a:moveTo>
                    <a:pt x="5678805" y="386334"/>
                  </a:moveTo>
                  <a:lnTo>
                    <a:pt x="5760339" y="386334"/>
                  </a:lnTo>
                </a:path>
                <a:path w="7423784" h="1160145">
                  <a:moveTo>
                    <a:pt x="6994779" y="386334"/>
                  </a:moveTo>
                  <a:lnTo>
                    <a:pt x="7110603" y="386334"/>
                  </a:lnTo>
                </a:path>
                <a:path w="7423784" h="1160145">
                  <a:moveTo>
                    <a:pt x="7163942" y="386334"/>
                  </a:moveTo>
                  <a:lnTo>
                    <a:pt x="7245477" y="386334"/>
                  </a:lnTo>
                </a:path>
                <a:path w="7423784" h="1160145">
                  <a:moveTo>
                    <a:pt x="3586353" y="386334"/>
                  </a:moveTo>
                  <a:lnTo>
                    <a:pt x="3600831" y="386334"/>
                  </a:lnTo>
                </a:path>
                <a:path w="7423784" h="1160145">
                  <a:moveTo>
                    <a:pt x="4396359" y="386334"/>
                  </a:moveTo>
                  <a:lnTo>
                    <a:pt x="4512183" y="386334"/>
                  </a:lnTo>
                </a:path>
                <a:path w="7423784" h="1160145">
                  <a:moveTo>
                    <a:pt x="4565523" y="386334"/>
                  </a:moveTo>
                  <a:lnTo>
                    <a:pt x="4647057" y="386334"/>
                  </a:lnTo>
                </a:path>
                <a:path w="7423784" h="1160145">
                  <a:moveTo>
                    <a:pt x="2169033" y="386334"/>
                  </a:moveTo>
                  <a:lnTo>
                    <a:pt x="2284857" y="386334"/>
                  </a:lnTo>
                </a:path>
                <a:path w="7423784" h="1160145">
                  <a:moveTo>
                    <a:pt x="2338197" y="386334"/>
                  </a:moveTo>
                  <a:lnTo>
                    <a:pt x="2419731" y="386334"/>
                  </a:lnTo>
                </a:path>
                <a:path w="7423784" h="1160145">
                  <a:moveTo>
                    <a:pt x="3957447" y="386334"/>
                  </a:moveTo>
                  <a:lnTo>
                    <a:pt x="3971925" y="386334"/>
                  </a:lnTo>
                </a:path>
                <a:path w="7423784" h="1160145">
                  <a:moveTo>
                    <a:pt x="245744" y="386334"/>
                  </a:moveTo>
                  <a:lnTo>
                    <a:pt x="260223" y="386334"/>
                  </a:lnTo>
                </a:path>
                <a:path w="7423784" h="1160145">
                  <a:moveTo>
                    <a:pt x="1055751" y="386334"/>
                  </a:moveTo>
                  <a:lnTo>
                    <a:pt x="1171575" y="386334"/>
                  </a:lnTo>
                </a:path>
                <a:path w="7423784" h="1160145">
                  <a:moveTo>
                    <a:pt x="1224914" y="386334"/>
                  </a:moveTo>
                  <a:lnTo>
                    <a:pt x="1306449" y="386334"/>
                  </a:lnTo>
                </a:path>
                <a:path w="7423784" h="1160145">
                  <a:moveTo>
                    <a:pt x="3654171" y="386334"/>
                  </a:moveTo>
                  <a:lnTo>
                    <a:pt x="3769995" y="386334"/>
                  </a:lnTo>
                </a:path>
                <a:path w="7423784" h="1160145">
                  <a:moveTo>
                    <a:pt x="4328541" y="386334"/>
                  </a:moveTo>
                  <a:lnTo>
                    <a:pt x="4343019" y="386334"/>
                  </a:lnTo>
                </a:path>
                <a:path w="7423784" h="1160145">
                  <a:moveTo>
                    <a:pt x="3823335" y="386334"/>
                  </a:moveTo>
                  <a:lnTo>
                    <a:pt x="3904869" y="386334"/>
                  </a:lnTo>
                </a:path>
                <a:path w="7423784" h="1160145">
                  <a:moveTo>
                    <a:pt x="616838" y="386334"/>
                  </a:moveTo>
                  <a:lnTo>
                    <a:pt x="631317" y="386334"/>
                  </a:lnTo>
                </a:path>
                <a:path w="7423784" h="1160145">
                  <a:moveTo>
                    <a:pt x="5880735" y="386334"/>
                  </a:moveTo>
                  <a:lnTo>
                    <a:pt x="5997320" y="386334"/>
                  </a:lnTo>
                </a:path>
                <a:path w="7423784" h="1160145">
                  <a:moveTo>
                    <a:pt x="6049898" y="386334"/>
                  </a:moveTo>
                  <a:lnTo>
                    <a:pt x="6131433" y="386334"/>
                  </a:lnTo>
                </a:path>
                <a:path w="7423784" h="1160145">
                  <a:moveTo>
                    <a:pt x="4699635" y="386334"/>
                  </a:moveTo>
                  <a:lnTo>
                    <a:pt x="4714113" y="386334"/>
                  </a:lnTo>
                </a:path>
                <a:path w="7423784" h="1160145">
                  <a:moveTo>
                    <a:pt x="2911221" y="386334"/>
                  </a:moveTo>
                  <a:lnTo>
                    <a:pt x="3027807" y="386334"/>
                  </a:lnTo>
                </a:path>
                <a:path w="7423784" h="1160145">
                  <a:moveTo>
                    <a:pt x="3080385" y="386334"/>
                  </a:moveTo>
                  <a:lnTo>
                    <a:pt x="3161919" y="386334"/>
                  </a:lnTo>
                </a:path>
                <a:path w="7423784" h="1160145">
                  <a:moveTo>
                    <a:pt x="4767453" y="386334"/>
                  </a:moveTo>
                  <a:lnTo>
                    <a:pt x="4883277" y="386334"/>
                  </a:lnTo>
                </a:path>
                <a:path w="7423784" h="1160145">
                  <a:moveTo>
                    <a:pt x="4936617" y="386334"/>
                  </a:moveTo>
                  <a:lnTo>
                    <a:pt x="5018151" y="386334"/>
                  </a:lnTo>
                </a:path>
                <a:path w="7423784" h="1160145">
                  <a:moveTo>
                    <a:pt x="5071491" y="386334"/>
                  </a:moveTo>
                  <a:lnTo>
                    <a:pt x="5085207" y="386334"/>
                  </a:lnTo>
                </a:path>
                <a:path w="7423784" h="1160145">
                  <a:moveTo>
                    <a:pt x="1797939" y="386334"/>
                  </a:moveTo>
                  <a:lnTo>
                    <a:pt x="1913763" y="386334"/>
                  </a:lnTo>
                </a:path>
                <a:path w="7423784" h="1160145">
                  <a:moveTo>
                    <a:pt x="1967102" y="386334"/>
                  </a:moveTo>
                  <a:lnTo>
                    <a:pt x="2048637" y="386334"/>
                  </a:lnTo>
                </a:path>
                <a:path w="7423784" h="1160145">
                  <a:moveTo>
                    <a:pt x="1359027" y="386334"/>
                  </a:moveTo>
                  <a:lnTo>
                    <a:pt x="1373505" y="386334"/>
                  </a:lnTo>
                </a:path>
                <a:path w="7423784" h="1160145">
                  <a:moveTo>
                    <a:pt x="1426845" y="386334"/>
                  </a:moveTo>
                  <a:lnTo>
                    <a:pt x="1542669" y="386334"/>
                  </a:lnTo>
                </a:path>
                <a:path w="7423784" h="1160145">
                  <a:moveTo>
                    <a:pt x="5442585" y="386334"/>
                  </a:moveTo>
                  <a:lnTo>
                    <a:pt x="5457063" y="386334"/>
                  </a:lnTo>
                </a:path>
                <a:path w="7423784" h="1160145">
                  <a:moveTo>
                    <a:pt x="1596009" y="386334"/>
                  </a:moveTo>
                  <a:lnTo>
                    <a:pt x="1677543" y="386334"/>
                  </a:lnTo>
                </a:path>
                <a:path w="7423784" h="1160145">
                  <a:moveTo>
                    <a:pt x="6251829" y="386334"/>
                  </a:moveTo>
                  <a:lnTo>
                    <a:pt x="6368415" y="386334"/>
                  </a:lnTo>
                </a:path>
                <a:path w="7423784" h="1160145">
                  <a:moveTo>
                    <a:pt x="6420993" y="386334"/>
                  </a:moveTo>
                  <a:lnTo>
                    <a:pt x="6502527" y="386334"/>
                  </a:lnTo>
                </a:path>
                <a:path w="7423784" h="1160145">
                  <a:moveTo>
                    <a:pt x="1730883" y="386334"/>
                  </a:moveTo>
                  <a:lnTo>
                    <a:pt x="1744599" y="386334"/>
                  </a:lnTo>
                </a:path>
                <a:path w="7423784" h="1160145">
                  <a:moveTo>
                    <a:pt x="5813679" y="386334"/>
                  </a:moveTo>
                  <a:lnTo>
                    <a:pt x="5828157" y="386334"/>
                  </a:lnTo>
                </a:path>
                <a:path w="7423784" h="1160145">
                  <a:moveTo>
                    <a:pt x="481964" y="386334"/>
                  </a:moveTo>
                  <a:lnTo>
                    <a:pt x="564261" y="386334"/>
                  </a:lnTo>
                </a:path>
                <a:path w="7423784" h="1160145">
                  <a:moveTo>
                    <a:pt x="0" y="386334"/>
                  </a:moveTo>
                  <a:lnTo>
                    <a:pt x="58293" y="386334"/>
                  </a:lnTo>
                </a:path>
                <a:path w="7423784" h="1160145">
                  <a:moveTo>
                    <a:pt x="4025265" y="386334"/>
                  </a:moveTo>
                  <a:lnTo>
                    <a:pt x="4141089" y="386334"/>
                  </a:lnTo>
                </a:path>
                <a:path w="7423784" h="1160145">
                  <a:moveTo>
                    <a:pt x="4194429" y="386334"/>
                  </a:moveTo>
                  <a:lnTo>
                    <a:pt x="4275963" y="386334"/>
                  </a:lnTo>
                </a:path>
                <a:path w="7423784" h="1160145">
                  <a:moveTo>
                    <a:pt x="6184772" y="386334"/>
                  </a:moveTo>
                  <a:lnTo>
                    <a:pt x="6199251" y="386334"/>
                  </a:lnTo>
                </a:path>
                <a:path w="7423784" h="1160145">
                  <a:moveTo>
                    <a:pt x="2101977" y="386334"/>
                  </a:moveTo>
                  <a:lnTo>
                    <a:pt x="2115692" y="386334"/>
                  </a:lnTo>
                </a:path>
                <a:path w="7423784" h="1160145">
                  <a:moveTo>
                    <a:pt x="5138546" y="386334"/>
                  </a:moveTo>
                  <a:lnTo>
                    <a:pt x="5254370" y="386334"/>
                  </a:lnTo>
                </a:path>
                <a:path w="7423784" h="1160145">
                  <a:moveTo>
                    <a:pt x="5307711" y="386334"/>
                  </a:moveTo>
                  <a:lnTo>
                    <a:pt x="5389245" y="386334"/>
                  </a:lnTo>
                </a:path>
                <a:path w="7423784" h="1160145">
                  <a:moveTo>
                    <a:pt x="2540127" y="386334"/>
                  </a:moveTo>
                  <a:lnTo>
                    <a:pt x="2656713" y="386334"/>
                  </a:lnTo>
                </a:path>
                <a:path w="7423784" h="1160145">
                  <a:moveTo>
                    <a:pt x="6555867" y="386334"/>
                  </a:moveTo>
                  <a:lnTo>
                    <a:pt x="6570344" y="386334"/>
                  </a:lnTo>
                </a:path>
                <a:path w="7423784" h="1160145">
                  <a:moveTo>
                    <a:pt x="2709291" y="386334"/>
                  </a:moveTo>
                  <a:lnTo>
                    <a:pt x="2790825" y="386334"/>
                  </a:lnTo>
                </a:path>
                <a:path w="7423784" h="1160145">
                  <a:moveTo>
                    <a:pt x="2473071" y="386334"/>
                  </a:moveTo>
                  <a:lnTo>
                    <a:pt x="2487549" y="386334"/>
                  </a:lnTo>
                </a:path>
                <a:path w="7423784" h="1160145">
                  <a:moveTo>
                    <a:pt x="6622923" y="386334"/>
                  </a:moveTo>
                  <a:lnTo>
                    <a:pt x="6739509" y="386334"/>
                  </a:lnTo>
                </a:path>
                <a:path w="7423784" h="1160145">
                  <a:moveTo>
                    <a:pt x="6792086" y="386334"/>
                  </a:moveTo>
                  <a:lnTo>
                    <a:pt x="6874383" y="386334"/>
                  </a:lnTo>
                </a:path>
                <a:path w="7423784" h="1160145">
                  <a:moveTo>
                    <a:pt x="6926961" y="386334"/>
                  </a:moveTo>
                  <a:lnTo>
                    <a:pt x="6941438" y="386334"/>
                  </a:lnTo>
                </a:path>
                <a:path w="7423784" h="1160145">
                  <a:moveTo>
                    <a:pt x="3282315" y="386334"/>
                  </a:moveTo>
                  <a:lnTo>
                    <a:pt x="3398901" y="386334"/>
                  </a:lnTo>
                </a:path>
                <a:path w="7423784" h="1160145">
                  <a:moveTo>
                    <a:pt x="3451479" y="386334"/>
                  </a:moveTo>
                  <a:lnTo>
                    <a:pt x="3533775" y="386334"/>
                  </a:lnTo>
                </a:path>
                <a:path w="7423784" h="1160145">
                  <a:moveTo>
                    <a:pt x="2844165" y="386334"/>
                  </a:moveTo>
                  <a:lnTo>
                    <a:pt x="2858642" y="386334"/>
                  </a:lnTo>
                </a:path>
                <a:path w="7423784" h="1160145">
                  <a:moveTo>
                    <a:pt x="684657" y="386334"/>
                  </a:moveTo>
                  <a:lnTo>
                    <a:pt x="800481" y="386334"/>
                  </a:lnTo>
                </a:path>
                <a:path w="7423784" h="1160145">
                  <a:moveTo>
                    <a:pt x="7298055" y="386334"/>
                  </a:moveTo>
                  <a:lnTo>
                    <a:pt x="7312533" y="386334"/>
                  </a:lnTo>
                </a:path>
                <a:path w="7423784" h="1160145">
                  <a:moveTo>
                    <a:pt x="853820" y="386334"/>
                  </a:moveTo>
                  <a:lnTo>
                    <a:pt x="1002411" y="386334"/>
                  </a:lnTo>
                </a:path>
                <a:path w="7423784" h="1160145">
                  <a:moveTo>
                    <a:pt x="110871" y="386334"/>
                  </a:moveTo>
                  <a:lnTo>
                    <a:pt x="193167" y="386334"/>
                  </a:lnTo>
                </a:path>
                <a:path w="7423784" h="1160145">
                  <a:moveTo>
                    <a:pt x="312800" y="386334"/>
                  </a:moveTo>
                  <a:lnTo>
                    <a:pt x="429387" y="386334"/>
                  </a:lnTo>
                </a:path>
                <a:path w="7423784" h="1160145">
                  <a:moveTo>
                    <a:pt x="3215259" y="386334"/>
                  </a:moveTo>
                  <a:lnTo>
                    <a:pt x="3229737" y="386334"/>
                  </a:lnTo>
                </a:path>
                <a:path w="7423784" h="1160145">
                  <a:moveTo>
                    <a:pt x="7365873" y="386334"/>
                  </a:moveTo>
                  <a:lnTo>
                    <a:pt x="7423404" y="386334"/>
                  </a:lnTo>
                </a:path>
                <a:path w="7423784" h="1160145">
                  <a:moveTo>
                    <a:pt x="684657" y="192786"/>
                  </a:moveTo>
                  <a:lnTo>
                    <a:pt x="800481" y="192786"/>
                  </a:lnTo>
                </a:path>
                <a:path w="7423784" h="1160145">
                  <a:moveTo>
                    <a:pt x="110871" y="192786"/>
                  </a:moveTo>
                  <a:lnTo>
                    <a:pt x="260223" y="192786"/>
                  </a:lnTo>
                </a:path>
                <a:path w="7423784" h="1160145">
                  <a:moveTo>
                    <a:pt x="4936617" y="192786"/>
                  </a:moveTo>
                  <a:lnTo>
                    <a:pt x="5085207" y="192786"/>
                  </a:lnTo>
                </a:path>
                <a:path w="7423784" h="1160145">
                  <a:moveTo>
                    <a:pt x="3654171" y="192786"/>
                  </a:moveTo>
                  <a:lnTo>
                    <a:pt x="3769995" y="192786"/>
                  </a:lnTo>
                </a:path>
                <a:path w="7423784" h="1160145">
                  <a:moveTo>
                    <a:pt x="5138546" y="192786"/>
                  </a:moveTo>
                  <a:lnTo>
                    <a:pt x="5254370" y="192786"/>
                  </a:lnTo>
                </a:path>
                <a:path w="7423784" h="1160145">
                  <a:moveTo>
                    <a:pt x="5307711" y="192786"/>
                  </a:moveTo>
                  <a:lnTo>
                    <a:pt x="5457063" y="192786"/>
                  </a:lnTo>
                </a:path>
                <a:path w="7423784" h="1160145">
                  <a:moveTo>
                    <a:pt x="4194429" y="192786"/>
                  </a:moveTo>
                  <a:lnTo>
                    <a:pt x="4343019" y="192786"/>
                  </a:lnTo>
                </a:path>
                <a:path w="7423784" h="1160145">
                  <a:moveTo>
                    <a:pt x="1426845" y="192786"/>
                  </a:moveTo>
                  <a:lnTo>
                    <a:pt x="1542669" y="192786"/>
                  </a:lnTo>
                </a:path>
                <a:path w="7423784" h="1160145">
                  <a:moveTo>
                    <a:pt x="2540127" y="192786"/>
                  </a:moveTo>
                  <a:lnTo>
                    <a:pt x="2656713" y="192786"/>
                  </a:lnTo>
                </a:path>
                <a:path w="7423784" h="1160145">
                  <a:moveTo>
                    <a:pt x="6251829" y="192786"/>
                  </a:moveTo>
                  <a:lnTo>
                    <a:pt x="6368415" y="192786"/>
                  </a:lnTo>
                </a:path>
                <a:path w="7423784" h="1160145">
                  <a:moveTo>
                    <a:pt x="6420993" y="192786"/>
                  </a:moveTo>
                  <a:lnTo>
                    <a:pt x="6570344" y="192786"/>
                  </a:lnTo>
                </a:path>
                <a:path w="7423784" h="1160145">
                  <a:moveTo>
                    <a:pt x="0" y="192786"/>
                  </a:moveTo>
                  <a:lnTo>
                    <a:pt x="58293" y="192786"/>
                  </a:lnTo>
                </a:path>
                <a:path w="7423784" h="1160145">
                  <a:moveTo>
                    <a:pt x="2911221" y="192786"/>
                  </a:moveTo>
                  <a:lnTo>
                    <a:pt x="3027807" y="192786"/>
                  </a:lnTo>
                </a:path>
                <a:path w="7423784" h="1160145">
                  <a:moveTo>
                    <a:pt x="4565523" y="192786"/>
                  </a:moveTo>
                  <a:lnTo>
                    <a:pt x="4714113" y="192786"/>
                  </a:lnTo>
                </a:path>
                <a:path w="7423784" h="1160145">
                  <a:moveTo>
                    <a:pt x="4025265" y="192786"/>
                  </a:moveTo>
                  <a:lnTo>
                    <a:pt x="4141089" y="192786"/>
                  </a:lnTo>
                </a:path>
                <a:path w="7423784" h="1160145">
                  <a:moveTo>
                    <a:pt x="1596009" y="192786"/>
                  </a:moveTo>
                  <a:lnTo>
                    <a:pt x="1744599" y="192786"/>
                  </a:lnTo>
                </a:path>
                <a:path w="7423784" h="1160145">
                  <a:moveTo>
                    <a:pt x="6994779" y="192786"/>
                  </a:moveTo>
                  <a:lnTo>
                    <a:pt x="7110603" y="192786"/>
                  </a:lnTo>
                </a:path>
                <a:path w="7423784" h="1160145">
                  <a:moveTo>
                    <a:pt x="7163942" y="192786"/>
                  </a:moveTo>
                  <a:lnTo>
                    <a:pt x="7312533" y="192786"/>
                  </a:lnTo>
                </a:path>
                <a:path w="7423784" h="1160145">
                  <a:moveTo>
                    <a:pt x="3451479" y="192786"/>
                  </a:moveTo>
                  <a:lnTo>
                    <a:pt x="3600831" y="192786"/>
                  </a:lnTo>
                </a:path>
                <a:path w="7423784" h="1160145">
                  <a:moveTo>
                    <a:pt x="6049898" y="192786"/>
                  </a:moveTo>
                  <a:lnTo>
                    <a:pt x="6199251" y="192786"/>
                  </a:lnTo>
                </a:path>
                <a:path w="7423784" h="1160145">
                  <a:moveTo>
                    <a:pt x="3080385" y="192786"/>
                  </a:moveTo>
                  <a:lnTo>
                    <a:pt x="3229737" y="192786"/>
                  </a:lnTo>
                </a:path>
                <a:path w="7423784" h="1160145">
                  <a:moveTo>
                    <a:pt x="4396359" y="192786"/>
                  </a:moveTo>
                  <a:lnTo>
                    <a:pt x="4512183" y="192786"/>
                  </a:lnTo>
                </a:path>
                <a:path w="7423784" h="1160145">
                  <a:moveTo>
                    <a:pt x="5678805" y="192786"/>
                  </a:moveTo>
                  <a:lnTo>
                    <a:pt x="5828157" y="192786"/>
                  </a:lnTo>
                </a:path>
                <a:path w="7423784" h="1160145">
                  <a:moveTo>
                    <a:pt x="2709291" y="192786"/>
                  </a:moveTo>
                  <a:lnTo>
                    <a:pt x="2858642" y="192786"/>
                  </a:lnTo>
                </a:path>
                <a:path w="7423784" h="1160145">
                  <a:moveTo>
                    <a:pt x="2169033" y="192786"/>
                  </a:moveTo>
                  <a:lnTo>
                    <a:pt x="2284857" y="192786"/>
                  </a:lnTo>
                </a:path>
                <a:path w="7423784" h="1160145">
                  <a:moveTo>
                    <a:pt x="1797939" y="192786"/>
                  </a:moveTo>
                  <a:lnTo>
                    <a:pt x="1913763" y="192786"/>
                  </a:lnTo>
                </a:path>
                <a:path w="7423784" h="1160145">
                  <a:moveTo>
                    <a:pt x="312800" y="192786"/>
                  </a:moveTo>
                  <a:lnTo>
                    <a:pt x="429387" y="192786"/>
                  </a:lnTo>
                </a:path>
                <a:path w="7423784" h="1160145">
                  <a:moveTo>
                    <a:pt x="481964" y="192786"/>
                  </a:moveTo>
                  <a:lnTo>
                    <a:pt x="631317" y="192786"/>
                  </a:lnTo>
                </a:path>
                <a:path w="7423784" h="1160145">
                  <a:moveTo>
                    <a:pt x="853820" y="192786"/>
                  </a:moveTo>
                  <a:lnTo>
                    <a:pt x="1002411" y="192786"/>
                  </a:lnTo>
                </a:path>
                <a:path w="7423784" h="1160145">
                  <a:moveTo>
                    <a:pt x="2338197" y="192786"/>
                  </a:moveTo>
                  <a:lnTo>
                    <a:pt x="2487549" y="192786"/>
                  </a:lnTo>
                </a:path>
                <a:path w="7423784" h="1160145">
                  <a:moveTo>
                    <a:pt x="1055751" y="192786"/>
                  </a:moveTo>
                  <a:lnTo>
                    <a:pt x="1171575" y="192786"/>
                  </a:lnTo>
                </a:path>
                <a:path w="7423784" h="1160145">
                  <a:moveTo>
                    <a:pt x="5880735" y="192786"/>
                  </a:moveTo>
                  <a:lnTo>
                    <a:pt x="5997320" y="192786"/>
                  </a:lnTo>
                </a:path>
                <a:path w="7423784" h="1160145">
                  <a:moveTo>
                    <a:pt x="3282315" y="192786"/>
                  </a:moveTo>
                  <a:lnTo>
                    <a:pt x="3398901" y="192786"/>
                  </a:lnTo>
                </a:path>
                <a:path w="7423784" h="1160145">
                  <a:moveTo>
                    <a:pt x="1967102" y="192786"/>
                  </a:moveTo>
                  <a:lnTo>
                    <a:pt x="2115692" y="192786"/>
                  </a:lnTo>
                </a:path>
                <a:path w="7423784" h="1160145">
                  <a:moveTo>
                    <a:pt x="1224914" y="192786"/>
                  </a:moveTo>
                  <a:lnTo>
                    <a:pt x="1373505" y="192786"/>
                  </a:lnTo>
                </a:path>
                <a:path w="7423784" h="1160145">
                  <a:moveTo>
                    <a:pt x="4767453" y="192786"/>
                  </a:moveTo>
                  <a:lnTo>
                    <a:pt x="4883277" y="192786"/>
                  </a:lnTo>
                </a:path>
                <a:path w="7423784" h="1160145">
                  <a:moveTo>
                    <a:pt x="6622923" y="192786"/>
                  </a:moveTo>
                  <a:lnTo>
                    <a:pt x="6739509" y="192786"/>
                  </a:lnTo>
                </a:path>
                <a:path w="7423784" h="1160145">
                  <a:moveTo>
                    <a:pt x="6792086" y="192786"/>
                  </a:moveTo>
                  <a:lnTo>
                    <a:pt x="6941438" y="192786"/>
                  </a:lnTo>
                </a:path>
                <a:path w="7423784" h="1160145">
                  <a:moveTo>
                    <a:pt x="5509641" y="192786"/>
                  </a:moveTo>
                  <a:lnTo>
                    <a:pt x="5625465" y="192786"/>
                  </a:lnTo>
                </a:path>
                <a:path w="7423784" h="1160145">
                  <a:moveTo>
                    <a:pt x="3823335" y="192786"/>
                  </a:moveTo>
                  <a:lnTo>
                    <a:pt x="3971925" y="192786"/>
                  </a:lnTo>
                </a:path>
                <a:path w="7423784" h="1160145">
                  <a:moveTo>
                    <a:pt x="7365873" y="192786"/>
                  </a:moveTo>
                  <a:lnTo>
                    <a:pt x="7423404" y="192786"/>
                  </a:lnTo>
                </a:path>
                <a:path w="7423784" h="1160145">
                  <a:moveTo>
                    <a:pt x="6420993" y="0"/>
                  </a:moveTo>
                  <a:lnTo>
                    <a:pt x="6739509" y="0"/>
                  </a:lnTo>
                </a:path>
                <a:path w="7423784" h="1160145">
                  <a:moveTo>
                    <a:pt x="3823335" y="0"/>
                  </a:moveTo>
                  <a:lnTo>
                    <a:pt x="4141089" y="0"/>
                  </a:lnTo>
                </a:path>
                <a:path w="7423784" h="1160145">
                  <a:moveTo>
                    <a:pt x="4194429" y="0"/>
                  </a:moveTo>
                  <a:lnTo>
                    <a:pt x="4512183" y="0"/>
                  </a:lnTo>
                </a:path>
                <a:path w="7423784" h="1160145">
                  <a:moveTo>
                    <a:pt x="6049898" y="0"/>
                  </a:moveTo>
                  <a:lnTo>
                    <a:pt x="6368415" y="0"/>
                  </a:lnTo>
                </a:path>
                <a:path w="7423784" h="1160145">
                  <a:moveTo>
                    <a:pt x="3080385" y="0"/>
                  </a:moveTo>
                  <a:lnTo>
                    <a:pt x="3398901" y="0"/>
                  </a:lnTo>
                </a:path>
                <a:path w="7423784" h="1160145">
                  <a:moveTo>
                    <a:pt x="1967102" y="0"/>
                  </a:moveTo>
                  <a:lnTo>
                    <a:pt x="2284857" y="0"/>
                  </a:lnTo>
                </a:path>
                <a:path w="7423784" h="1160145">
                  <a:moveTo>
                    <a:pt x="5307711" y="0"/>
                  </a:moveTo>
                  <a:lnTo>
                    <a:pt x="5625465" y="0"/>
                  </a:lnTo>
                </a:path>
                <a:path w="7423784" h="1160145">
                  <a:moveTo>
                    <a:pt x="6792086" y="0"/>
                  </a:moveTo>
                  <a:lnTo>
                    <a:pt x="7110603" y="0"/>
                  </a:lnTo>
                </a:path>
                <a:path w="7423784" h="1160145">
                  <a:moveTo>
                    <a:pt x="2709291" y="0"/>
                  </a:moveTo>
                  <a:lnTo>
                    <a:pt x="3027807" y="0"/>
                  </a:lnTo>
                </a:path>
                <a:path w="7423784" h="1160145">
                  <a:moveTo>
                    <a:pt x="2338197" y="0"/>
                  </a:moveTo>
                  <a:lnTo>
                    <a:pt x="2656713" y="0"/>
                  </a:lnTo>
                </a:path>
                <a:path w="7423784" h="1160145">
                  <a:moveTo>
                    <a:pt x="4565523" y="0"/>
                  </a:moveTo>
                  <a:lnTo>
                    <a:pt x="4883277" y="0"/>
                  </a:lnTo>
                </a:path>
                <a:path w="7423784" h="1160145">
                  <a:moveTo>
                    <a:pt x="110871" y="0"/>
                  </a:moveTo>
                  <a:lnTo>
                    <a:pt x="429387" y="0"/>
                  </a:lnTo>
                </a:path>
                <a:path w="7423784" h="1160145">
                  <a:moveTo>
                    <a:pt x="0" y="0"/>
                  </a:moveTo>
                  <a:lnTo>
                    <a:pt x="58293" y="0"/>
                  </a:lnTo>
                </a:path>
                <a:path w="7423784" h="1160145">
                  <a:moveTo>
                    <a:pt x="3451479" y="0"/>
                  </a:moveTo>
                  <a:lnTo>
                    <a:pt x="3769995" y="0"/>
                  </a:lnTo>
                </a:path>
                <a:path w="7423784" h="1160145">
                  <a:moveTo>
                    <a:pt x="5678805" y="0"/>
                  </a:moveTo>
                  <a:lnTo>
                    <a:pt x="5997320" y="0"/>
                  </a:lnTo>
                </a:path>
                <a:path w="7423784" h="1160145">
                  <a:moveTo>
                    <a:pt x="853820" y="0"/>
                  </a:moveTo>
                  <a:lnTo>
                    <a:pt x="1171575" y="0"/>
                  </a:lnTo>
                </a:path>
                <a:path w="7423784" h="1160145">
                  <a:moveTo>
                    <a:pt x="1224914" y="0"/>
                  </a:moveTo>
                  <a:lnTo>
                    <a:pt x="1542669" y="0"/>
                  </a:lnTo>
                </a:path>
                <a:path w="7423784" h="1160145">
                  <a:moveTo>
                    <a:pt x="481964" y="0"/>
                  </a:moveTo>
                  <a:lnTo>
                    <a:pt x="800481" y="0"/>
                  </a:lnTo>
                </a:path>
                <a:path w="7423784" h="1160145">
                  <a:moveTo>
                    <a:pt x="4936617" y="0"/>
                  </a:moveTo>
                  <a:lnTo>
                    <a:pt x="5254370" y="0"/>
                  </a:lnTo>
                </a:path>
                <a:path w="7423784" h="1160145">
                  <a:moveTo>
                    <a:pt x="1596009" y="0"/>
                  </a:moveTo>
                  <a:lnTo>
                    <a:pt x="1913763" y="0"/>
                  </a:lnTo>
                </a:path>
                <a:path w="7423784" h="1160145">
                  <a:moveTo>
                    <a:pt x="7163942" y="0"/>
                  </a:moveTo>
                  <a:lnTo>
                    <a:pt x="7423404" y="0"/>
                  </a:lnTo>
                </a:path>
              </a:pathLst>
            </a:custGeom>
            <a:ln w="990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56563" y="1240916"/>
              <a:ext cx="7423784" cy="0"/>
            </a:xfrm>
            <a:custGeom>
              <a:avLst/>
              <a:gdLst/>
              <a:ahLst/>
              <a:cxnLst/>
              <a:rect l="l" t="t" r="r" b="b"/>
              <a:pathLst>
                <a:path w="7423784" h="0">
                  <a:moveTo>
                    <a:pt x="0" y="0"/>
                  </a:moveTo>
                  <a:lnTo>
                    <a:pt x="7423404" y="0"/>
                  </a:lnTo>
                </a:path>
              </a:pathLst>
            </a:custGeom>
            <a:ln w="990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14856" y="1249679"/>
              <a:ext cx="7105650" cy="1537970"/>
            </a:xfrm>
            <a:custGeom>
              <a:avLst/>
              <a:gdLst/>
              <a:ahLst/>
              <a:cxnLst/>
              <a:rect l="l" t="t" r="r" b="b"/>
              <a:pathLst>
                <a:path w="7105650" h="1537970">
                  <a:moveTo>
                    <a:pt x="52578" y="40386"/>
                  </a:moveTo>
                  <a:lnTo>
                    <a:pt x="0" y="40386"/>
                  </a:lnTo>
                  <a:lnTo>
                    <a:pt x="0" y="1537716"/>
                  </a:lnTo>
                  <a:lnTo>
                    <a:pt x="52578" y="1537716"/>
                  </a:lnTo>
                  <a:lnTo>
                    <a:pt x="52578" y="40386"/>
                  </a:lnTo>
                  <a:close/>
                </a:path>
                <a:path w="7105650" h="1537970">
                  <a:moveTo>
                    <a:pt x="423672" y="0"/>
                  </a:moveTo>
                  <a:lnTo>
                    <a:pt x="371094" y="0"/>
                  </a:lnTo>
                  <a:lnTo>
                    <a:pt x="371094" y="1537716"/>
                  </a:lnTo>
                  <a:lnTo>
                    <a:pt x="423672" y="1537716"/>
                  </a:lnTo>
                  <a:lnTo>
                    <a:pt x="423672" y="0"/>
                  </a:lnTo>
                  <a:close/>
                </a:path>
                <a:path w="7105650" h="1537970">
                  <a:moveTo>
                    <a:pt x="795528" y="58674"/>
                  </a:moveTo>
                  <a:lnTo>
                    <a:pt x="742188" y="58674"/>
                  </a:lnTo>
                  <a:lnTo>
                    <a:pt x="742188" y="1537716"/>
                  </a:lnTo>
                  <a:lnTo>
                    <a:pt x="795528" y="1537716"/>
                  </a:lnTo>
                  <a:lnTo>
                    <a:pt x="795528" y="58674"/>
                  </a:lnTo>
                  <a:close/>
                </a:path>
                <a:path w="7105650" h="1537970">
                  <a:moveTo>
                    <a:pt x="1166622" y="58674"/>
                  </a:moveTo>
                  <a:lnTo>
                    <a:pt x="1113282" y="58674"/>
                  </a:lnTo>
                  <a:lnTo>
                    <a:pt x="1113282" y="1537716"/>
                  </a:lnTo>
                  <a:lnTo>
                    <a:pt x="1166622" y="1537716"/>
                  </a:lnTo>
                  <a:lnTo>
                    <a:pt x="1166622" y="58674"/>
                  </a:lnTo>
                  <a:close/>
                </a:path>
                <a:path w="7105650" h="1537970">
                  <a:moveTo>
                    <a:pt x="1537716" y="13716"/>
                  </a:moveTo>
                  <a:lnTo>
                    <a:pt x="1484376" y="13716"/>
                  </a:lnTo>
                  <a:lnTo>
                    <a:pt x="1484376" y="1537716"/>
                  </a:lnTo>
                  <a:lnTo>
                    <a:pt x="1537716" y="1537716"/>
                  </a:lnTo>
                  <a:lnTo>
                    <a:pt x="1537716" y="13716"/>
                  </a:lnTo>
                  <a:close/>
                </a:path>
                <a:path w="7105650" h="1537970">
                  <a:moveTo>
                    <a:pt x="1908810" y="105156"/>
                  </a:moveTo>
                  <a:lnTo>
                    <a:pt x="1855470" y="105156"/>
                  </a:lnTo>
                  <a:lnTo>
                    <a:pt x="1855470" y="1537716"/>
                  </a:lnTo>
                  <a:lnTo>
                    <a:pt x="1908810" y="1537716"/>
                  </a:lnTo>
                  <a:lnTo>
                    <a:pt x="1908810" y="105156"/>
                  </a:lnTo>
                  <a:close/>
                </a:path>
                <a:path w="7105650" h="1537970">
                  <a:moveTo>
                    <a:pt x="2279904" y="62484"/>
                  </a:moveTo>
                  <a:lnTo>
                    <a:pt x="2226564" y="62484"/>
                  </a:lnTo>
                  <a:lnTo>
                    <a:pt x="2226564" y="1537716"/>
                  </a:lnTo>
                  <a:lnTo>
                    <a:pt x="2279904" y="1537716"/>
                  </a:lnTo>
                  <a:lnTo>
                    <a:pt x="2279904" y="62484"/>
                  </a:lnTo>
                  <a:close/>
                </a:path>
                <a:path w="7105650" h="1537970">
                  <a:moveTo>
                    <a:pt x="2650998" y="53340"/>
                  </a:moveTo>
                  <a:lnTo>
                    <a:pt x="2598420" y="53340"/>
                  </a:lnTo>
                  <a:lnTo>
                    <a:pt x="2598420" y="1537716"/>
                  </a:lnTo>
                  <a:lnTo>
                    <a:pt x="2650998" y="1537716"/>
                  </a:lnTo>
                  <a:lnTo>
                    <a:pt x="2650998" y="53340"/>
                  </a:lnTo>
                  <a:close/>
                </a:path>
                <a:path w="7105650" h="1537970">
                  <a:moveTo>
                    <a:pt x="3022092" y="86106"/>
                  </a:moveTo>
                  <a:lnTo>
                    <a:pt x="2969514" y="86106"/>
                  </a:lnTo>
                  <a:lnTo>
                    <a:pt x="2969514" y="1537716"/>
                  </a:lnTo>
                  <a:lnTo>
                    <a:pt x="3022092" y="1537716"/>
                  </a:lnTo>
                  <a:lnTo>
                    <a:pt x="3022092" y="86106"/>
                  </a:lnTo>
                  <a:close/>
                </a:path>
                <a:path w="7105650" h="1537970">
                  <a:moveTo>
                    <a:pt x="3393186" y="48006"/>
                  </a:moveTo>
                  <a:lnTo>
                    <a:pt x="3340608" y="48006"/>
                  </a:lnTo>
                  <a:lnTo>
                    <a:pt x="3340608" y="1537716"/>
                  </a:lnTo>
                  <a:lnTo>
                    <a:pt x="3393186" y="1537716"/>
                  </a:lnTo>
                  <a:lnTo>
                    <a:pt x="3393186" y="48006"/>
                  </a:lnTo>
                  <a:close/>
                </a:path>
                <a:path w="7105650" h="1537970">
                  <a:moveTo>
                    <a:pt x="3765042" y="131064"/>
                  </a:moveTo>
                  <a:lnTo>
                    <a:pt x="3711702" y="131064"/>
                  </a:lnTo>
                  <a:lnTo>
                    <a:pt x="3711702" y="1537716"/>
                  </a:lnTo>
                  <a:lnTo>
                    <a:pt x="3765042" y="1537716"/>
                  </a:lnTo>
                  <a:lnTo>
                    <a:pt x="3765042" y="131064"/>
                  </a:lnTo>
                  <a:close/>
                </a:path>
                <a:path w="7105650" h="1537970">
                  <a:moveTo>
                    <a:pt x="4136136" y="102870"/>
                  </a:moveTo>
                  <a:lnTo>
                    <a:pt x="4082796" y="102870"/>
                  </a:lnTo>
                  <a:lnTo>
                    <a:pt x="4082796" y="1537716"/>
                  </a:lnTo>
                  <a:lnTo>
                    <a:pt x="4136136" y="1537716"/>
                  </a:lnTo>
                  <a:lnTo>
                    <a:pt x="4136136" y="102870"/>
                  </a:lnTo>
                  <a:close/>
                </a:path>
                <a:path w="7105650" h="1537970">
                  <a:moveTo>
                    <a:pt x="4507230" y="25146"/>
                  </a:moveTo>
                  <a:lnTo>
                    <a:pt x="4453890" y="25146"/>
                  </a:lnTo>
                  <a:lnTo>
                    <a:pt x="4453890" y="1537716"/>
                  </a:lnTo>
                  <a:lnTo>
                    <a:pt x="4507230" y="1537716"/>
                  </a:lnTo>
                  <a:lnTo>
                    <a:pt x="4507230" y="25146"/>
                  </a:lnTo>
                  <a:close/>
                </a:path>
                <a:path w="7105650" h="1537970">
                  <a:moveTo>
                    <a:pt x="4878324" y="67818"/>
                  </a:moveTo>
                  <a:lnTo>
                    <a:pt x="4824984" y="67818"/>
                  </a:lnTo>
                  <a:lnTo>
                    <a:pt x="4824984" y="1537716"/>
                  </a:lnTo>
                  <a:lnTo>
                    <a:pt x="4878324" y="1537716"/>
                  </a:lnTo>
                  <a:lnTo>
                    <a:pt x="4878324" y="67818"/>
                  </a:lnTo>
                  <a:close/>
                </a:path>
                <a:path w="7105650" h="1537970">
                  <a:moveTo>
                    <a:pt x="5249418" y="101346"/>
                  </a:moveTo>
                  <a:lnTo>
                    <a:pt x="5196078" y="101346"/>
                  </a:lnTo>
                  <a:lnTo>
                    <a:pt x="5196078" y="1537716"/>
                  </a:lnTo>
                  <a:lnTo>
                    <a:pt x="5249418" y="1537716"/>
                  </a:lnTo>
                  <a:lnTo>
                    <a:pt x="5249418" y="101346"/>
                  </a:lnTo>
                  <a:close/>
                </a:path>
                <a:path w="7105650" h="1537970">
                  <a:moveTo>
                    <a:pt x="5620512" y="114300"/>
                  </a:moveTo>
                  <a:lnTo>
                    <a:pt x="5567172" y="114300"/>
                  </a:lnTo>
                  <a:lnTo>
                    <a:pt x="5567172" y="1537716"/>
                  </a:lnTo>
                  <a:lnTo>
                    <a:pt x="5620512" y="1537716"/>
                  </a:lnTo>
                  <a:lnTo>
                    <a:pt x="5620512" y="114300"/>
                  </a:lnTo>
                  <a:close/>
                </a:path>
                <a:path w="7105650" h="1537970">
                  <a:moveTo>
                    <a:pt x="5991606" y="38862"/>
                  </a:moveTo>
                  <a:lnTo>
                    <a:pt x="5939028" y="38862"/>
                  </a:lnTo>
                  <a:lnTo>
                    <a:pt x="5939028" y="1537716"/>
                  </a:lnTo>
                  <a:lnTo>
                    <a:pt x="5991606" y="1537716"/>
                  </a:lnTo>
                  <a:lnTo>
                    <a:pt x="5991606" y="38862"/>
                  </a:lnTo>
                  <a:close/>
                </a:path>
                <a:path w="7105650" h="1537970">
                  <a:moveTo>
                    <a:pt x="6362700" y="37338"/>
                  </a:moveTo>
                  <a:lnTo>
                    <a:pt x="6310122" y="37338"/>
                  </a:lnTo>
                  <a:lnTo>
                    <a:pt x="6310122" y="1537716"/>
                  </a:lnTo>
                  <a:lnTo>
                    <a:pt x="6362700" y="1537716"/>
                  </a:lnTo>
                  <a:lnTo>
                    <a:pt x="6362700" y="37338"/>
                  </a:lnTo>
                  <a:close/>
                </a:path>
                <a:path w="7105650" h="1537970">
                  <a:moveTo>
                    <a:pt x="6733794" y="57150"/>
                  </a:moveTo>
                  <a:lnTo>
                    <a:pt x="6681216" y="57150"/>
                  </a:lnTo>
                  <a:lnTo>
                    <a:pt x="6681216" y="1537716"/>
                  </a:lnTo>
                  <a:lnTo>
                    <a:pt x="6733794" y="1537716"/>
                  </a:lnTo>
                  <a:lnTo>
                    <a:pt x="6733794" y="57150"/>
                  </a:lnTo>
                  <a:close/>
                </a:path>
                <a:path w="7105650" h="1537970">
                  <a:moveTo>
                    <a:pt x="7105650" y="55626"/>
                  </a:moveTo>
                  <a:lnTo>
                    <a:pt x="7052310" y="55626"/>
                  </a:lnTo>
                  <a:lnTo>
                    <a:pt x="7052310" y="1537716"/>
                  </a:lnTo>
                  <a:lnTo>
                    <a:pt x="7105650" y="1537716"/>
                  </a:lnTo>
                  <a:lnTo>
                    <a:pt x="7105650" y="55626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81912" y="2714243"/>
              <a:ext cx="7105650" cy="73660"/>
            </a:xfrm>
            <a:custGeom>
              <a:avLst/>
              <a:gdLst/>
              <a:ahLst/>
              <a:cxnLst/>
              <a:rect l="l" t="t" r="r" b="b"/>
              <a:pathLst>
                <a:path w="7105650" h="73660">
                  <a:moveTo>
                    <a:pt x="53327" y="7620"/>
                  </a:moveTo>
                  <a:lnTo>
                    <a:pt x="0" y="7620"/>
                  </a:lnTo>
                  <a:lnTo>
                    <a:pt x="0" y="73152"/>
                  </a:lnTo>
                  <a:lnTo>
                    <a:pt x="53327" y="73152"/>
                  </a:lnTo>
                  <a:lnTo>
                    <a:pt x="53327" y="7620"/>
                  </a:lnTo>
                  <a:close/>
                </a:path>
                <a:path w="7105650" h="73660">
                  <a:moveTo>
                    <a:pt x="424434" y="0"/>
                  </a:moveTo>
                  <a:lnTo>
                    <a:pt x="371094" y="0"/>
                  </a:lnTo>
                  <a:lnTo>
                    <a:pt x="371094" y="73152"/>
                  </a:lnTo>
                  <a:lnTo>
                    <a:pt x="424434" y="73152"/>
                  </a:lnTo>
                  <a:lnTo>
                    <a:pt x="424434" y="0"/>
                  </a:lnTo>
                  <a:close/>
                </a:path>
                <a:path w="7105650" h="73660">
                  <a:moveTo>
                    <a:pt x="795528" y="17526"/>
                  </a:moveTo>
                  <a:lnTo>
                    <a:pt x="742188" y="17526"/>
                  </a:lnTo>
                  <a:lnTo>
                    <a:pt x="742188" y="73152"/>
                  </a:lnTo>
                  <a:lnTo>
                    <a:pt x="795528" y="73152"/>
                  </a:lnTo>
                  <a:lnTo>
                    <a:pt x="795528" y="17526"/>
                  </a:lnTo>
                  <a:close/>
                </a:path>
                <a:path w="7105650" h="73660">
                  <a:moveTo>
                    <a:pt x="1166622" y="13716"/>
                  </a:moveTo>
                  <a:lnTo>
                    <a:pt x="1113282" y="13716"/>
                  </a:lnTo>
                  <a:lnTo>
                    <a:pt x="1113282" y="73152"/>
                  </a:lnTo>
                  <a:lnTo>
                    <a:pt x="1166622" y="73152"/>
                  </a:lnTo>
                  <a:lnTo>
                    <a:pt x="1166622" y="13716"/>
                  </a:lnTo>
                  <a:close/>
                </a:path>
                <a:path w="7105650" h="73660">
                  <a:moveTo>
                    <a:pt x="1537716" y="8382"/>
                  </a:moveTo>
                  <a:lnTo>
                    <a:pt x="1485138" y="8382"/>
                  </a:lnTo>
                  <a:lnTo>
                    <a:pt x="1485138" y="73152"/>
                  </a:lnTo>
                  <a:lnTo>
                    <a:pt x="1537716" y="73152"/>
                  </a:lnTo>
                  <a:lnTo>
                    <a:pt x="1537716" y="8382"/>
                  </a:lnTo>
                  <a:close/>
                </a:path>
                <a:path w="7105650" h="73660">
                  <a:moveTo>
                    <a:pt x="1908810" y="9906"/>
                  </a:moveTo>
                  <a:lnTo>
                    <a:pt x="1856232" y="9906"/>
                  </a:lnTo>
                  <a:lnTo>
                    <a:pt x="1856232" y="73152"/>
                  </a:lnTo>
                  <a:lnTo>
                    <a:pt x="1908810" y="73152"/>
                  </a:lnTo>
                  <a:lnTo>
                    <a:pt x="1908810" y="9906"/>
                  </a:lnTo>
                  <a:close/>
                </a:path>
                <a:path w="7105650" h="73660">
                  <a:moveTo>
                    <a:pt x="2279904" y="12192"/>
                  </a:moveTo>
                  <a:lnTo>
                    <a:pt x="2227326" y="12192"/>
                  </a:lnTo>
                  <a:lnTo>
                    <a:pt x="2227326" y="73152"/>
                  </a:lnTo>
                  <a:lnTo>
                    <a:pt x="2279904" y="73152"/>
                  </a:lnTo>
                  <a:lnTo>
                    <a:pt x="2279904" y="12192"/>
                  </a:lnTo>
                  <a:close/>
                </a:path>
                <a:path w="7105650" h="73660">
                  <a:moveTo>
                    <a:pt x="2651760" y="9906"/>
                  </a:moveTo>
                  <a:lnTo>
                    <a:pt x="2598420" y="9906"/>
                  </a:lnTo>
                  <a:lnTo>
                    <a:pt x="2598420" y="73152"/>
                  </a:lnTo>
                  <a:lnTo>
                    <a:pt x="2651760" y="73152"/>
                  </a:lnTo>
                  <a:lnTo>
                    <a:pt x="2651760" y="9906"/>
                  </a:lnTo>
                  <a:close/>
                </a:path>
                <a:path w="7105650" h="73660">
                  <a:moveTo>
                    <a:pt x="3022854" y="19812"/>
                  </a:moveTo>
                  <a:lnTo>
                    <a:pt x="2969514" y="19812"/>
                  </a:lnTo>
                  <a:lnTo>
                    <a:pt x="2969514" y="73152"/>
                  </a:lnTo>
                  <a:lnTo>
                    <a:pt x="3022854" y="73152"/>
                  </a:lnTo>
                  <a:lnTo>
                    <a:pt x="3022854" y="19812"/>
                  </a:lnTo>
                  <a:close/>
                </a:path>
                <a:path w="7105650" h="73660">
                  <a:moveTo>
                    <a:pt x="3393948" y="10668"/>
                  </a:moveTo>
                  <a:lnTo>
                    <a:pt x="3340608" y="10668"/>
                  </a:lnTo>
                  <a:lnTo>
                    <a:pt x="3340608" y="73152"/>
                  </a:lnTo>
                  <a:lnTo>
                    <a:pt x="3393948" y="73152"/>
                  </a:lnTo>
                  <a:lnTo>
                    <a:pt x="3393948" y="10668"/>
                  </a:lnTo>
                  <a:close/>
                </a:path>
                <a:path w="7105650" h="73660">
                  <a:moveTo>
                    <a:pt x="3765042" y="5334"/>
                  </a:moveTo>
                  <a:lnTo>
                    <a:pt x="3711702" y="5334"/>
                  </a:lnTo>
                  <a:lnTo>
                    <a:pt x="3711702" y="73152"/>
                  </a:lnTo>
                  <a:lnTo>
                    <a:pt x="3765042" y="73152"/>
                  </a:lnTo>
                  <a:lnTo>
                    <a:pt x="3765042" y="5334"/>
                  </a:lnTo>
                  <a:close/>
                </a:path>
                <a:path w="7105650" h="73660">
                  <a:moveTo>
                    <a:pt x="4136136" y="9144"/>
                  </a:moveTo>
                  <a:lnTo>
                    <a:pt x="4082796" y="9144"/>
                  </a:lnTo>
                  <a:lnTo>
                    <a:pt x="4082796" y="73152"/>
                  </a:lnTo>
                  <a:lnTo>
                    <a:pt x="4136136" y="73152"/>
                  </a:lnTo>
                  <a:lnTo>
                    <a:pt x="4136136" y="9144"/>
                  </a:lnTo>
                  <a:close/>
                </a:path>
                <a:path w="7105650" h="73660">
                  <a:moveTo>
                    <a:pt x="4507230" y="11430"/>
                  </a:moveTo>
                  <a:lnTo>
                    <a:pt x="4454652" y="11430"/>
                  </a:lnTo>
                  <a:lnTo>
                    <a:pt x="4454652" y="73152"/>
                  </a:lnTo>
                  <a:lnTo>
                    <a:pt x="4507230" y="73152"/>
                  </a:lnTo>
                  <a:lnTo>
                    <a:pt x="4507230" y="11430"/>
                  </a:lnTo>
                  <a:close/>
                </a:path>
                <a:path w="7105650" h="73660">
                  <a:moveTo>
                    <a:pt x="4878324" y="16764"/>
                  </a:moveTo>
                  <a:lnTo>
                    <a:pt x="4825746" y="16764"/>
                  </a:lnTo>
                  <a:lnTo>
                    <a:pt x="4825746" y="73152"/>
                  </a:lnTo>
                  <a:lnTo>
                    <a:pt x="4878324" y="73152"/>
                  </a:lnTo>
                  <a:lnTo>
                    <a:pt x="4878324" y="16764"/>
                  </a:lnTo>
                  <a:close/>
                </a:path>
                <a:path w="7105650" h="73660">
                  <a:moveTo>
                    <a:pt x="5249418" y="11430"/>
                  </a:moveTo>
                  <a:lnTo>
                    <a:pt x="5196840" y="11430"/>
                  </a:lnTo>
                  <a:lnTo>
                    <a:pt x="5196840" y="73152"/>
                  </a:lnTo>
                  <a:lnTo>
                    <a:pt x="5249418" y="73152"/>
                  </a:lnTo>
                  <a:lnTo>
                    <a:pt x="5249418" y="11430"/>
                  </a:lnTo>
                  <a:close/>
                </a:path>
                <a:path w="7105650" h="73660">
                  <a:moveTo>
                    <a:pt x="5620512" y="12954"/>
                  </a:moveTo>
                  <a:lnTo>
                    <a:pt x="5567934" y="12954"/>
                  </a:lnTo>
                  <a:lnTo>
                    <a:pt x="5567934" y="73152"/>
                  </a:lnTo>
                  <a:lnTo>
                    <a:pt x="5620512" y="73152"/>
                  </a:lnTo>
                  <a:lnTo>
                    <a:pt x="5620512" y="12954"/>
                  </a:lnTo>
                  <a:close/>
                </a:path>
                <a:path w="7105650" h="73660">
                  <a:moveTo>
                    <a:pt x="5992368" y="16002"/>
                  </a:moveTo>
                  <a:lnTo>
                    <a:pt x="5939028" y="16002"/>
                  </a:lnTo>
                  <a:lnTo>
                    <a:pt x="5939028" y="73152"/>
                  </a:lnTo>
                  <a:lnTo>
                    <a:pt x="5992368" y="73152"/>
                  </a:lnTo>
                  <a:lnTo>
                    <a:pt x="5992368" y="16002"/>
                  </a:lnTo>
                  <a:close/>
                </a:path>
                <a:path w="7105650" h="73660">
                  <a:moveTo>
                    <a:pt x="6363462" y="10668"/>
                  </a:moveTo>
                  <a:lnTo>
                    <a:pt x="6310122" y="10668"/>
                  </a:lnTo>
                  <a:lnTo>
                    <a:pt x="6310122" y="73152"/>
                  </a:lnTo>
                  <a:lnTo>
                    <a:pt x="6363462" y="73152"/>
                  </a:lnTo>
                  <a:lnTo>
                    <a:pt x="6363462" y="10668"/>
                  </a:lnTo>
                  <a:close/>
                </a:path>
                <a:path w="7105650" h="73660">
                  <a:moveTo>
                    <a:pt x="6734556" y="16764"/>
                  </a:moveTo>
                  <a:lnTo>
                    <a:pt x="6681216" y="16764"/>
                  </a:lnTo>
                  <a:lnTo>
                    <a:pt x="6681216" y="73152"/>
                  </a:lnTo>
                  <a:lnTo>
                    <a:pt x="6734556" y="73152"/>
                  </a:lnTo>
                  <a:lnTo>
                    <a:pt x="6734556" y="16764"/>
                  </a:lnTo>
                  <a:close/>
                </a:path>
                <a:path w="7105650" h="73660">
                  <a:moveTo>
                    <a:pt x="7105650" y="18288"/>
                  </a:moveTo>
                  <a:lnTo>
                    <a:pt x="7052310" y="18288"/>
                  </a:lnTo>
                  <a:lnTo>
                    <a:pt x="7052310" y="73152"/>
                  </a:lnTo>
                  <a:lnTo>
                    <a:pt x="7105650" y="73152"/>
                  </a:lnTo>
                  <a:lnTo>
                    <a:pt x="7105650" y="18288"/>
                  </a:lnTo>
                  <a:close/>
                </a:path>
              </a:pathLst>
            </a:custGeom>
            <a:solidFill>
              <a:srgbClr val="539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49730" y="1719071"/>
              <a:ext cx="7105015" cy="1068705"/>
            </a:xfrm>
            <a:custGeom>
              <a:avLst/>
              <a:gdLst/>
              <a:ahLst/>
              <a:cxnLst/>
              <a:rect l="l" t="t" r="r" b="b"/>
              <a:pathLst>
                <a:path w="7105015" h="1068705">
                  <a:moveTo>
                    <a:pt x="52578" y="79248"/>
                  </a:moveTo>
                  <a:lnTo>
                    <a:pt x="0" y="79248"/>
                  </a:lnTo>
                  <a:lnTo>
                    <a:pt x="0" y="1068324"/>
                  </a:lnTo>
                  <a:lnTo>
                    <a:pt x="52578" y="1068324"/>
                  </a:lnTo>
                  <a:lnTo>
                    <a:pt x="52578" y="79248"/>
                  </a:lnTo>
                  <a:close/>
                </a:path>
                <a:path w="7105015" h="1068705">
                  <a:moveTo>
                    <a:pt x="423672" y="8382"/>
                  </a:moveTo>
                  <a:lnTo>
                    <a:pt x="371094" y="8382"/>
                  </a:lnTo>
                  <a:lnTo>
                    <a:pt x="371094" y="1068324"/>
                  </a:lnTo>
                  <a:lnTo>
                    <a:pt x="423672" y="1068324"/>
                  </a:lnTo>
                  <a:lnTo>
                    <a:pt x="423672" y="8382"/>
                  </a:lnTo>
                  <a:close/>
                </a:path>
                <a:path w="7105015" h="1068705">
                  <a:moveTo>
                    <a:pt x="794766" y="105918"/>
                  </a:moveTo>
                  <a:lnTo>
                    <a:pt x="742188" y="105918"/>
                  </a:lnTo>
                  <a:lnTo>
                    <a:pt x="742188" y="1068324"/>
                  </a:lnTo>
                  <a:lnTo>
                    <a:pt x="794766" y="1068324"/>
                  </a:lnTo>
                  <a:lnTo>
                    <a:pt x="794766" y="105918"/>
                  </a:lnTo>
                  <a:close/>
                </a:path>
                <a:path w="7105015" h="1068705">
                  <a:moveTo>
                    <a:pt x="1165860" y="0"/>
                  </a:moveTo>
                  <a:lnTo>
                    <a:pt x="1113282" y="0"/>
                  </a:lnTo>
                  <a:lnTo>
                    <a:pt x="1113282" y="1068324"/>
                  </a:lnTo>
                  <a:lnTo>
                    <a:pt x="1165860" y="1068324"/>
                  </a:lnTo>
                  <a:lnTo>
                    <a:pt x="1165860" y="0"/>
                  </a:lnTo>
                  <a:close/>
                </a:path>
                <a:path w="7105015" h="1068705">
                  <a:moveTo>
                    <a:pt x="1537716" y="49530"/>
                  </a:moveTo>
                  <a:lnTo>
                    <a:pt x="1484376" y="49530"/>
                  </a:lnTo>
                  <a:lnTo>
                    <a:pt x="1484376" y="1068324"/>
                  </a:lnTo>
                  <a:lnTo>
                    <a:pt x="1537716" y="1068324"/>
                  </a:lnTo>
                  <a:lnTo>
                    <a:pt x="1537716" y="49530"/>
                  </a:lnTo>
                  <a:close/>
                </a:path>
                <a:path w="7105015" h="1068705">
                  <a:moveTo>
                    <a:pt x="1908810" y="88392"/>
                  </a:moveTo>
                  <a:lnTo>
                    <a:pt x="1855470" y="88392"/>
                  </a:lnTo>
                  <a:lnTo>
                    <a:pt x="1855470" y="1068324"/>
                  </a:lnTo>
                  <a:lnTo>
                    <a:pt x="1908810" y="1068324"/>
                  </a:lnTo>
                  <a:lnTo>
                    <a:pt x="1908810" y="88392"/>
                  </a:lnTo>
                  <a:close/>
                </a:path>
                <a:path w="7105015" h="1068705">
                  <a:moveTo>
                    <a:pt x="2279904" y="75438"/>
                  </a:moveTo>
                  <a:lnTo>
                    <a:pt x="2226564" y="75438"/>
                  </a:lnTo>
                  <a:lnTo>
                    <a:pt x="2226564" y="1068324"/>
                  </a:lnTo>
                  <a:lnTo>
                    <a:pt x="2279904" y="1068324"/>
                  </a:lnTo>
                  <a:lnTo>
                    <a:pt x="2279904" y="75438"/>
                  </a:lnTo>
                  <a:close/>
                </a:path>
                <a:path w="7105015" h="1068705">
                  <a:moveTo>
                    <a:pt x="2650998" y="57912"/>
                  </a:moveTo>
                  <a:lnTo>
                    <a:pt x="2597658" y="57912"/>
                  </a:lnTo>
                  <a:lnTo>
                    <a:pt x="2597658" y="1068324"/>
                  </a:lnTo>
                  <a:lnTo>
                    <a:pt x="2650998" y="1068324"/>
                  </a:lnTo>
                  <a:lnTo>
                    <a:pt x="2650998" y="57912"/>
                  </a:lnTo>
                  <a:close/>
                </a:path>
                <a:path w="7105015" h="1068705">
                  <a:moveTo>
                    <a:pt x="3022092" y="73914"/>
                  </a:moveTo>
                  <a:lnTo>
                    <a:pt x="2968752" y="73914"/>
                  </a:lnTo>
                  <a:lnTo>
                    <a:pt x="2968752" y="1068324"/>
                  </a:lnTo>
                  <a:lnTo>
                    <a:pt x="3022092" y="1068324"/>
                  </a:lnTo>
                  <a:lnTo>
                    <a:pt x="3022092" y="73914"/>
                  </a:lnTo>
                  <a:close/>
                </a:path>
                <a:path w="7105015" h="1068705">
                  <a:moveTo>
                    <a:pt x="3393186" y="67818"/>
                  </a:moveTo>
                  <a:lnTo>
                    <a:pt x="3340608" y="67818"/>
                  </a:lnTo>
                  <a:lnTo>
                    <a:pt x="3340608" y="1068324"/>
                  </a:lnTo>
                  <a:lnTo>
                    <a:pt x="3393186" y="1068324"/>
                  </a:lnTo>
                  <a:lnTo>
                    <a:pt x="3393186" y="67818"/>
                  </a:lnTo>
                  <a:close/>
                </a:path>
                <a:path w="7105015" h="1068705">
                  <a:moveTo>
                    <a:pt x="3764280" y="64770"/>
                  </a:moveTo>
                  <a:lnTo>
                    <a:pt x="3711702" y="64770"/>
                  </a:lnTo>
                  <a:lnTo>
                    <a:pt x="3711702" y="1068324"/>
                  </a:lnTo>
                  <a:lnTo>
                    <a:pt x="3764280" y="1068324"/>
                  </a:lnTo>
                  <a:lnTo>
                    <a:pt x="3764280" y="64770"/>
                  </a:lnTo>
                  <a:close/>
                </a:path>
                <a:path w="7105015" h="1068705">
                  <a:moveTo>
                    <a:pt x="4135374" y="37338"/>
                  </a:moveTo>
                  <a:lnTo>
                    <a:pt x="4082796" y="37338"/>
                  </a:lnTo>
                  <a:lnTo>
                    <a:pt x="4082796" y="1068324"/>
                  </a:lnTo>
                  <a:lnTo>
                    <a:pt x="4135374" y="1068324"/>
                  </a:lnTo>
                  <a:lnTo>
                    <a:pt x="4135374" y="37338"/>
                  </a:lnTo>
                  <a:close/>
                </a:path>
                <a:path w="7105015" h="1068705">
                  <a:moveTo>
                    <a:pt x="4506468" y="41148"/>
                  </a:moveTo>
                  <a:lnTo>
                    <a:pt x="4453890" y="41148"/>
                  </a:lnTo>
                  <a:lnTo>
                    <a:pt x="4453890" y="1068324"/>
                  </a:lnTo>
                  <a:lnTo>
                    <a:pt x="4506468" y="1068324"/>
                  </a:lnTo>
                  <a:lnTo>
                    <a:pt x="4506468" y="41148"/>
                  </a:lnTo>
                  <a:close/>
                </a:path>
                <a:path w="7105015" h="1068705">
                  <a:moveTo>
                    <a:pt x="4878324" y="64770"/>
                  </a:moveTo>
                  <a:lnTo>
                    <a:pt x="4824984" y="64770"/>
                  </a:lnTo>
                  <a:lnTo>
                    <a:pt x="4824984" y="1068324"/>
                  </a:lnTo>
                  <a:lnTo>
                    <a:pt x="4878324" y="1068324"/>
                  </a:lnTo>
                  <a:lnTo>
                    <a:pt x="4878324" y="64770"/>
                  </a:lnTo>
                  <a:close/>
                </a:path>
                <a:path w="7105015" h="1068705">
                  <a:moveTo>
                    <a:pt x="5249418" y="57150"/>
                  </a:moveTo>
                  <a:lnTo>
                    <a:pt x="5196078" y="57150"/>
                  </a:lnTo>
                  <a:lnTo>
                    <a:pt x="5196078" y="1068324"/>
                  </a:lnTo>
                  <a:lnTo>
                    <a:pt x="5249418" y="1068324"/>
                  </a:lnTo>
                  <a:lnTo>
                    <a:pt x="5249418" y="57150"/>
                  </a:lnTo>
                  <a:close/>
                </a:path>
                <a:path w="7105015" h="1068705">
                  <a:moveTo>
                    <a:pt x="5620512" y="38100"/>
                  </a:moveTo>
                  <a:lnTo>
                    <a:pt x="5567172" y="38100"/>
                  </a:lnTo>
                  <a:lnTo>
                    <a:pt x="5567172" y="1068324"/>
                  </a:lnTo>
                  <a:lnTo>
                    <a:pt x="5620512" y="1068324"/>
                  </a:lnTo>
                  <a:lnTo>
                    <a:pt x="5620512" y="38100"/>
                  </a:lnTo>
                  <a:close/>
                </a:path>
                <a:path w="7105015" h="1068705">
                  <a:moveTo>
                    <a:pt x="5991606" y="47244"/>
                  </a:moveTo>
                  <a:lnTo>
                    <a:pt x="5938266" y="47244"/>
                  </a:lnTo>
                  <a:lnTo>
                    <a:pt x="5938266" y="1068324"/>
                  </a:lnTo>
                  <a:lnTo>
                    <a:pt x="5991606" y="1068324"/>
                  </a:lnTo>
                  <a:lnTo>
                    <a:pt x="5991606" y="47244"/>
                  </a:lnTo>
                  <a:close/>
                </a:path>
                <a:path w="7105015" h="1068705">
                  <a:moveTo>
                    <a:pt x="6362700" y="32766"/>
                  </a:moveTo>
                  <a:lnTo>
                    <a:pt x="6309360" y="32766"/>
                  </a:lnTo>
                  <a:lnTo>
                    <a:pt x="6309360" y="1068324"/>
                  </a:lnTo>
                  <a:lnTo>
                    <a:pt x="6362700" y="1068324"/>
                  </a:lnTo>
                  <a:lnTo>
                    <a:pt x="6362700" y="32766"/>
                  </a:lnTo>
                  <a:close/>
                </a:path>
                <a:path w="7105015" h="1068705">
                  <a:moveTo>
                    <a:pt x="6733794" y="67056"/>
                  </a:moveTo>
                  <a:lnTo>
                    <a:pt x="6681216" y="67056"/>
                  </a:lnTo>
                  <a:lnTo>
                    <a:pt x="6681216" y="1068324"/>
                  </a:lnTo>
                  <a:lnTo>
                    <a:pt x="6733794" y="1068324"/>
                  </a:lnTo>
                  <a:lnTo>
                    <a:pt x="6733794" y="67056"/>
                  </a:lnTo>
                  <a:close/>
                </a:path>
                <a:path w="7105015" h="1068705">
                  <a:moveTo>
                    <a:pt x="7104888" y="64008"/>
                  </a:moveTo>
                  <a:lnTo>
                    <a:pt x="7052310" y="64008"/>
                  </a:lnTo>
                  <a:lnTo>
                    <a:pt x="7052310" y="1068324"/>
                  </a:lnTo>
                  <a:lnTo>
                    <a:pt x="7104888" y="1068324"/>
                  </a:lnTo>
                  <a:lnTo>
                    <a:pt x="7104888" y="64008"/>
                  </a:lnTo>
                  <a:close/>
                </a:path>
              </a:pathLst>
            </a:custGeom>
            <a:solidFill>
              <a:srgbClr val="E6B8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716786" y="1482089"/>
              <a:ext cx="7105650" cy="1305560"/>
            </a:xfrm>
            <a:custGeom>
              <a:avLst/>
              <a:gdLst/>
              <a:ahLst/>
              <a:cxnLst/>
              <a:rect l="l" t="t" r="r" b="b"/>
              <a:pathLst>
                <a:path w="7105650" h="1305560">
                  <a:moveTo>
                    <a:pt x="52578" y="38862"/>
                  </a:moveTo>
                  <a:lnTo>
                    <a:pt x="0" y="38862"/>
                  </a:lnTo>
                  <a:lnTo>
                    <a:pt x="0" y="1305306"/>
                  </a:lnTo>
                  <a:lnTo>
                    <a:pt x="52578" y="1305306"/>
                  </a:lnTo>
                  <a:lnTo>
                    <a:pt x="52578" y="38862"/>
                  </a:lnTo>
                  <a:close/>
                </a:path>
                <a:path w="7105650" h="1305560">
                  <a:moveTo>
                    <a:pt x="424434" y="50292"/>
                  </a:moveTo>
                  <a:lnTo>
                    <a:pt x="371094" y="50292"/>
                  </a:lnTo>
                  <a:lnTo>
                    <a:pt x="371094" y="1305306"/>
                  </a:lnTo>
                  <a:lnTo>
                    <a:pt x="424434" y="1305306"/>
                  </a:lnTo>
                  <a:lnTo>
                    <a:pt x="424434" y="50292"/>
                  </a:lnTo>
                  <a:close/>
                </a:path>
                <a:path w="7105650" h="1305560">
                  <a:moveTo>
                    <a:pt x="795528" y="18288"/>
                  </a:moveTo>
                  <a:lnTo>
                    <a:pt x="742188" y="18288"/>
                  </a:lnTo>
                  <a:lnTo>
                    <a:pt x="742188" y="1305306"/>
                  </a:lnTo>
                  <a:lnTo>
                    <a:pt x="795528" y="1305306"/>
                  </a:lnTo>
                  <a:lnTo>
                    <a:pt x="795528" y="18288"/>
                  </a:lnTo>
                  <a:close/>
                </a:path>
                <a:path w="7105650" h="1305560">
                  <a:moveTo>
                    <a:pt x="1166622" y="38862"/>
                  </a:moveTo>
                  <a:lnTo>
                    <a:pt x="1113282" y="38862"/>
                  </a:lnTo>
                  <a:lnTo>
                    <a:pt x="1113282" y="1305306"/>
                  </a:lnTo>
                  <a:lnTo>
                    <a:pt x="1166622" y="1305306"/>
                  </a:lnTo>
                  <a:lnTo>
                    <a:pt x="1166622" y="38862"/>
                  </a:lnTo>
                  <a:close/>
                </a:path>
                <a:path w="7105650" h="1305560">
                  <a:moveTo>
                    <a:pt x="1537716" y="28956"/>
                  </a:moveTo>
                  <a:lnTo>
                    <a:pt x="1484376" y="28956"/>
                  </a:lnTo>
                  <a:lnTo>
                    <a:pt x="1484376" y="1305306"/>
                  </a:lnTo>
                  <a:lnTo>
                    <a:pt x="1537716" y="1305306"/>
                  </a:lnTo>
                  <a:lnTo>
                    <a:pt x="1537716" y="28956"/>
                  </a:lnTo>
                  <a:close/>
                </a:path>
                <a:path w="7105650" h="1305560">
                  <a:moveTo>
                    <a:pt x="1908810" y="19812"/>
                  </a:moveTo>
                  <a:lnTo>
                    <a:pt x="1855470" y="19812"/>
                  </a:lnTo>
                  <a:lnTo>
                    <a:pt x="1855470" y="1305306"/>
                  </a:lnTo>
                  <a:lnTo>
                    <a:pt x="1908810" y="1305306"/>
                  </a:lnTo>
                  <a:lnTo>
                    <a:pt x="1908810" y="19812"/>
                  </a:lnTo>
                  <a:close/>
                </a:path>
                <a:path w="7105650" h="1305560">
                  <a:moveTo>
                    <a:pt x="2279904" y="34290"/>
                  </a:moveTo>
                  <a:lnTo>
                    <a:pt x="2227326" y="34290"/>
                  </a:lnTo>
                  <a:lnTo>
                    <a:pt x="2227326" y="1305306"/>
                  </a:lnTo>
                  <a:lnTo>
                    <a:pt x="2279904" y="1305306"/>
                  </a:lnTo>
                  <a:lnTo>
                    <a:pt x="2279904" y="34290"/>
                  </a:lnTo>
                  <a:close/>
                </a:path>
                <a:path w="7105650" h="1305560">
                  <a:moveTo>
                    <a:pt x="2650998" y="17526"/>
                  </a:moveTo>
                  <a:lnTo>
                    <a:pt x="2598420" y="17526"/>
                  </a:lnTo>
                  <a:lnTo>
                    <a:pt x="2598420" y="1305306"/>
                  </a:lnTo>
                  <a:lnTo>
                    <a:pt x="2650998" y="1305306"/>
                  </a:lnTo>
                  <a:lnTo>
                    <a:pt x="2650998" y="17526"/>
                  </a:lnTo>
                  <a:close/>
                </a:path>
                <a:path w="7105650" h="1305560">
                  <a:moveTo>
                    <a:pt x="3022092" y="18288"/>
                  </a:moveTo>
                  <a:lnTo>
                    <a:pt x="2969514" y="18288"/>
                  </a:lnTo>
                  <a:lnTo>
                    <a:pt x="2969514" y="1305306"/>
                  </a:lnTo>
                  <a:lnTo>
                    <a:pt x="3022092" y="1305306"/>
                  </a:lnTo>
                  <a:lnTo>
                    <a:pt x="3022092" y="18288"/>
                  </a:lnTo>
                  <a:close/>
                </a:path>
                <a:path w="7105650" h="1305560">
                  <a:moveTo>
                    <a:pt x="3393948" y="0"/>
                  </a:moveTo>
                  <a:lnTo>
                    <a:pt x="3340608" y="0"/>
                  </a:lnTo>
                  <a:lnTo>
                    <a:pt x="3340608" y="1305306"/>
                  </a:lnTo>
                  <a:lnTo>
                    <a:pt x="3393948" y="1305306"/>
                  </a:lnTo>
                  <a:lnTo>
                    <a:pt x="3393948" y="0"/>
                  </a:lnTo>
                  <a:close/>
                </a:path>
                <a:path w="7105650" h="1305560">
                  <a:moveTo>
                    <a:pt x="3765042" y="12192"/>
                  </a:moveTo>
                  <a:lnTo>
                    <a:pt x="3711702" y="12192"/>
                  </a:lnTo>
                  <a:lnTo>
                    <a:pt x="3711702" y="1305306"/>
                  </a:lnTo>
                  <a:lnTo>
                    <a:pt x="3765042" y="1305306"/>
                  </a:lnTo>
                  <a:lnTo>
                    <a:pt x="3765042" y="12192"/>
                  </a:lnTo>
                  <a:close/>
                </a:path>
                <a:path w="7105650" h="1305560">
                  <a:moveTo>
                    <a:pt x="4136136" y="40386"/>
                  </a:moveTo>
                  <a:lnTo>
                    <a:pt x="4082796" y="40386"/>
                  </a:lnTo>
                  <a:lnTo>
                    <a:pt x="4082796" y="1305306"/>
                  </a:lnTo>
                  <a:lnTo>
                    <a:pt x="4136136" y="1305306"/>
                  </a:lnTo>
                  <a:lnTo>
                    <a:pt x="4136136" y="40386"/>
                  </a:lnTo>
                  <a:close/>
                </a:path>
                <a:path w="7105650" h="1305560">
                  <a:moveTo>
                    <a:pt x="4507230" y="31242"/>
                  </a:moveTo>
                  <a:lnTo>
                    <a:pt x="4453890" y="31242"/>
                  </a:lnTo>
                  <a:lnTo>
                    <a:pt x="4453890" y="1305306"/>
                  </a:lnTo>
                  <a:lnTo>
                    <a:pt x="4507230" y="1305306"/>
                  </a:lnTo>
                  <a:lnTo>
                    <a:pt x="4507230" y="31242"/>
                  </a:lnTo>
                  <a:close/>
                </a:path>
                <a:path w="7105650" h="1305560">
                  <a:moveTo>
                    <a:pt x="4878311" y="15240"/>
                  </a:moveTo>
                  <a:lnTo>
                    <a:pt x="4824984" y="15240"/>
                  </a:lnTo>
                  <a:lnTo>
                    <a:pt x="4824984" y="1305306"/>
                  </a:lnTo>
                  <a:lnTo>
                    <a:pt x="4878311" y="1305306"/>
                  </a:lnTo>
                  <a:lnTo>
                    <a:pt x="4878311" y="15240"/>
                  </a:lnTo>
                  <a:close/>
                </a:path>
                <a:path w="7105650" h="1305560">
                  <a:moveTo>
                    <a:pt x="5249418" y="57150"/>
                  </a:moveTo>
                  <a:lnTo>
                    <a:pt x="5196840" y="57150"/>
                  </a:lnTo>
                  <a:lnTo>
                    <a:pt x="5196840" y="1305306"/>
                  </a:lnTo>
                  <a:lnTo>
                    <a:pt x="5249418" y="1305306"/>
                  </a:lnTo>
                  <a:lnTo>
                    <a:pt x="5249418" y="57150"/>
                  </a:lnTo>
                  <a:close/>
                </a:path>
                <a:path w="7105650" h="1305560">
                  <a:moveTo>
                    <a:pt x="5620512" y="51054"/>
                  </a:moveTo>
                  <a:lnTo>
                    <a:pt x="5567934" y="51054"/>
                  </a:lnTo>
                  <a:lnTo>
                    <a:pt x="5567934" y="1305306"/>
                  </a:lnTo>
                  <a:lnTo>
                    <a:pt x="5620512" y="1305306"/>
                  </a:lnTo>
                  <a:lnTo>
                    <a:pt x="5620512" y="51054"/>
                  </a:lnTo>
                  <a:close/>
                </a:path>
                <a:path w="7105650" h="1305560">
                  <a:moveTo>
                    <a:pt x="5991606" y="5334"/>
                  </a:moveTo>
                  <a:lnTo>
                    <a:pt x="5939028" y="5334"/>
                  </a:lnTo>
                  <a:lnTo>
                    <a:pt x="5939028" y="1305306"/>
                  </a:lnTo>
                  <a:lnTo>
                    <a:pt x="5991606" y="1305306"/>
                  </a:lnTo>
                  <a:lnTo>
                    <a:pt x="5991606" y="5334"/>
                  </a:lnTo>
                  <a:close/>
                </a:path>
                <a:path w="7105650" h="1305560">
                  <a:moveTo>
                    <a:pt x="6362700" y="28194"/>
                  </a:moveTo>
                  <a:lnTo>
                    <a:pt x="6310122" y="28194"/>
                  </a:lnTo>
                  <a:lnTo>
                    <a:pt x="6310122" y="1305306"/>
                  </a:lnTo>
                  <a:lnTo>
                    <a:pt x="6362700" y="1305306"/>
                  </a:lnTo>
                  <a:lnTo>
                    <a:pt x="6362700" y="28194"/>
                  </a:lnTo>
                  <a:close/>
                </a:path>
                <a:path w="7105650" h="1305560">
                  <a:moveTo>
                    <a:pt x="6734556" y="33528"/>
                  </a:moveTo>
                  <a:lnTo>
                    <a:pt x="6681216" y="33528"/>
                  </a:lnTo>
                  <a:lnTo>
                    <a:pt x="6681216" y="1305306"/>
                  </a:lnTo>
                  <a:lnTo>
                    <a:pt x="6734556" y="1305306"/>
                  </a:lnTo>
                  <a:lnTo>
                    <a:pt x="6734556" y="33528"/>
                  </a:lnTo>
                  <a:close/>
                </a:path>
                <a:path w="7105650" h="1305560">
                  <a:moveTo>
                    <a:pt x="7105650" y="8382"/>
                  </a:moveTo>
                  <a:lnTo>
                    <a:pt x="7052310" y="8382"/>
                  </a:lnTo>
                  <a:lnTo>
                    <a:pt x="7052310" y="1305306"/>
                  </a:lnTo>
                  <a:lnTo>
                    <a:pt x="7105650" y="1305306"/>
                  </a:lnTo>
                  <a:lnTo>
                    <a:pt x="7105650" y="8382"/>
                  </a:lnTo>
                  <a:close/>
                </a:path>
              </a:pathLst>
            </a:custGeom>
            <a:solidFill>
              <a:srgbClr val="E766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56563" y="2787776"/>
              <a:ext cx="7423784" cy="427990"/>
            </a:xfrm>
            <a:custGeom>
              <a:avLst/>
              <a:gdLst/>
              <a:ahLst/>
              <a:cxnLst/>
              <a:rect l="l" t="t" r="r" b="b"/>
              <a:pathLst>
                <a:path w="7423784" h="427989">
                  <a:moveTo>
                    <a:pt x="0" y="0"/>
                  </a:moveTo>
                  <a:lnTo>
                    <a:pt x="7423404" y="0"/>
                  </a:lnTo>
                </a:path>
                <a:path w="7423784" h="427989">
                  <a:moveTo>
                    <a:pt x="0" y="0"/>
                  </a:moveTo>
                  <a:lnTo>
                    <a:pt x="0" y="213360"/>
                  </a:lnTo>
                </a:path>
                <a:path w="7423784" h="427989">
                  <a:moveTo>
                    <a:pt x="1485138" y="0"/>
                  </a:moveTo>
                  <a:lnTo>
                    <a:pt x="1485138" y="213360"/>
                  </a:lnTo>
                </a:path>
                <a:path w="7423784" h="427989">
                  <a:moveTo>
                    <a:pt x="2969514" y="0"/>
                  </a:moveTo>
                  <a:lnTo>
                    <a:pt x="2969514" y="213360"/>
                  </a:lnTo>
                </a:path>
                <a:path w="7423784" h="427989">
                  <a:moveTo>
                    <a:pt x="4453890" y="0"/>
                  </a:moveTo>
                  <a:lnTo>
                    <a:pt x="4453890" y="213360"/>
                  </a:lnTo>
                </a:path>
                <a:path w="7423784" h="427989">
                  <a:moveTo>
                    <a:pt x="5939028" y="0"/>
                  </a:moveTo>
                  <a:lnTo>
                    <a:pt x="5939028" y="213360"/>
                  </a:lnTo>
                </a:path>
                <a:path w="7423784" h="427989">
                  <a:moveTo>
                    <a:pt x="7423404" y="0"/>
                  </a:moveTo>
                  <a:lnTo>
                    <a:pt x="7423404" y="213360"/>
                  </a:lnTo>
                </a:path>
                <a:path w="7423784" h="427989">
                  <a:moveTo>
                    <a:pt x="0" y="213360"/>
                  </a:moveTo>
                  <a:lnTo>
                    <a:pt x="0" y="427482"/>
                  </a:lnTo>
                </a:path>
                <a:path w="7423784" h="427989">
                  <a:moveTo>
                    <a:pt x="1485138" y="213360"/>
                  </a:moveTo>
                  <a:lnTo>
                    <a:pt x="1485138" y="427482"/>
                  </a:lnTo>
                </a:path>
                <a:path w="7423784" h="427989">
                  <a:moveTo>
                    <a:pt x="2969514" y="213360"/>
                  </a:moveTo>
                  <a:lnTo>
                    <a:pt x="2969514" y="427482"/>
                  </a:lnTo>
                </a:path>
                <a:path w="7423784" h="427989">
                  <a:moveTo>
                    <a:pt x="4453890" y="213360"/>
                  </a:moveTo>
                  <a:lnTo>
                    <a:pt x="4453890" y="427482"/>
                  </a:lnTo>
                </a:path>
                <a:path w="7423784" h="427989">
                  <a:moveTo>
                    <a:pt x="5939028" y="213360"/>
                  </a:moveTo>
                  <a:lnTo>
                    <a:pt x="5939028" y="427482"/>
                  </a:lnTo>
                </a:path>
                <a:path w="7423784" h="427989">
                  <a:moveTo>
                    <a:pt x="7423404" y="213360"/>
                  </a:moveTo>
                  <a:lnTo>
                    <a:pt x="7423404" y="427482"/>
                  </a:lnTo>
                </a:path>
              </a:pathLst>
            </a:custGeom>
            <a:ln w="990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281938" y="900937"/>
            <a:ext cx="85725" cy="1958975"/>
          </a:xfrm>
          <a:prstGeom prst="rect">
            <a:avLst/>
          </a:prstGeom>
        </p:spPr>
        <p:txBody>
          <a:bodyPr wrap="square" lIns="0" tIns="68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900" spc="-50">
                <a:latin typeface="Trebuchet MS"/>
                <a:cs typeface="Trebuchet MS"/>
              </a:rPr>
              <a:t>9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900" spc="-50">
                <a:latin typeface="Trebuchet MS"/>
                <a:cs typeface="Trebuchet MS"/>
              </a:rPr>
              <a:t>8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900" spc="-50">
                <a:latin typeface="Trebuchet MS"/>
                <a:cs typeface="Trebuchet MS"/>
              </a:rPr>
              <a:t>7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900" spc="-50">
                <a:latin typeface="Trebuchet MS"/>
                <a:cs typeface="Trebuchet MS"/>
              </a:rPr>
              <a:t>6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900" spc="-50">
                <a:latin typeface="Trebuchet MS"/>
                <a:cs typeface="Trebuchet MS"/>
              </a:rPr>
              <a:t>5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900" spc="-50">
                <a:latin typeface="Trebuchet MS"/>
                <a:cs typeface="Trebuchet MS"/>
              </a:rPr>
              <a:t>4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900" spc="-50">
                <a:latin typeface="Trebuchet MS"/>
                <a:cs typeface="Trebuchet MS"/>
              </a:rPr>
              <a:t>3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900" spc="-50">
                <a:latin typeface="Trebuchet MS"/>
                <a:cs typeface="Trebuchet MS"/>
              </a:rPr>
              <a:t>2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900" spc="-50">
                <a:latin typeface="Trebuchet MS"/>
                <a:cs typeface="Trebuchet MS"/>
              </a:rPr>
              <a:t>1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900" spc="-50"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69197" y="2839720"/>
            <a:ext cx="25272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latin typeface="Trebuchet MS"/>
                <a:cs typeface="Trebuchet MS"/>
              </a:rPr>
              <a:t>Qtr4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16125" y="2763012"/>
            <a:ext cx="1365885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2610" marR="5080" indent="-550545">
              <a:lnSpc>
                <a:spcPct val="155900"/>
              </a:lnSpc>
              <a:spcBef>
                <a:spcPts val="100"/>
              </a:spcBef>
              <a:tabLst>
                <a:tab pos="383540" algn="l"/>
                <a:tab pos="755015" algn="l"/>
                <a:tab pos="1125855" algn="l"/>
              </a:tabLst>
            </a:pPr>
            <a:r>
              <a:rPr dirty="0" sz="900" spc="-20">
                <a:latin typeface="Trebuchet MS"/>
                <a:cs typeface="Trebuchet MS"/>
              </a:rPr>
              <a:t>Qtr1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Qtr2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Qtr3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Qtr4 2016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01010" y="2763012"/>
            <a:ext cx="2851150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2610" marR="5080" indent="-550545">
              <a:lnSpc>
                <a:spcPct val="155900"/>
              </a:lnSpc>
              <a:spcBef>
                <a:spcPts val="100"/>
              </a:spcBef>
              <a:tabLst>
                <a:tab pos="383540" algn="l"/>
                <a:tab pos="755015" algn="l"/>
                <a:tab pos="1125855" algn="l"/>
                <a:tab pos="1497330" algn="l"/>
                <a:tab pos="1868170" algn="l"/>
                <a:tab pos="2047875" algn="l"/>
                <a:tab pos="2239645" algn="l"/>
                <a:tab pos="2610485" algn="l"/>
              </a:tabLst>
            </a:pPr>
            <a:r>
              <a:rPr dirty="0" sz="900" spc="-20">
                <a:latin typeface="Trebuchet MS"/>
                <a:cs typeface="Trebuchet MS"/>
              </a:rPr>
              <a:t>Qtr1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Qtr2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Qtr3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Qtr4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Qtr1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Qtr2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Qtr3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Qtr4 2017</a:t>
            </a:r>
            <a:r>
              <a:rPr dirty="0" sz="900">
                <a:latin typeface="Trebuchet MS"/>
                <a:cs typeface="Trebuchet MS"/>
              </a:rPr>
              <a:t>				</a:t>
            </a:r>
            <a:r>
              <a:rPr dirty="0" sz="900" spc="-20">
                <a:latin typeface="Trebuchet MS"/>
                <a:cs typeface="Trebuchet MS"/>
              </a:rPr>
              <a:t>2018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70523" y="2763012"/>
            <a:ext cx="2479675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2610" marR="5080" indent="-550545">
              <a:lnSpc>
                <a:spcPct val="155900"/>
              </a:lnSpc>
              <a:spcBef>
                <a:spcPts val="100"/>
              </a:spcBef>
              <a:tabLst>
                <a:tab pos="383540" algn="l"/>
                <a:tab pos="755015" algn="l"/>
                <a:tab pos="1125855" algn="l"/>
                <a:tab pos="1497330" algn="l"/>
                <a:tab pos="1868805" algn="l"/>
                <a:tab pos="2047875" algn="l"/>
                <a:tab pos="2239645" algn="l"/>
              </a:tabLst>
            </a:pPr>
            <a:r>
              <a:rPr dirty="0" sz="900" spc="-20">
                <a:latin typeface="Trebuchet MS"/>
                <a:cs typeface="Trebuchet MS"/>
              </a:rPr>
              <a:t>Qtr1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Qtr2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Qtr3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Qtr4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Qtr1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Qtr2</a:t>
            </a:r>
            <a:r>
              <a:rPr dirty="0" sz="900">
                <a:latin typeface="Trebuchet MS"/>
                <a:cs typeface="Trebuchet MS"/>
              </a:rPr>
              <a:t>	</a:t>
            </a:r>
            <a:r>
              <a:rPr dirty="0" sz="900" spc="-20">
                <a:latin typeface="Trebuchet MS"/>
                <a:cs typeface="Trebuchet MS"/>
              </a:rPr>
              <a:t>Qtr3 2019</a:t>
            </a:r>
            <a:r>
              <a:rPr dirty="0" sz="900">
                <a:latin typeface="Trebuchet MS"/>
                <a:cs typeface="Trebuchet MS"/>
              </a:rPr>
              <a:t>				</a:t>
            </a:r>
            <a:r>
              <a:rPr dirty="0" sz="900" spc="-20">
                <a:latin typeface="Trebuchet MS"/>
                <a:cs typeface="Trebuchet MS"/>
              </a:rPr>
              <a:t>2020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098785" y="1599438"/>
            <a:ext cx="59690" cy="683260"/>
            <a:chOff x="10098785" y="1599438"/>
            <a:chExt cx="59690" cy="683260"/>
          </a:xfrm>
        </p:grpSpPr>
        <p:sp>
          <p:nvSpPr>
            <p:cNvPr id="21" name="object 21"/>
            <p:cNvSpPr/>
            <p:nvPr/>
          </p:nvSpPr>
          <p:spPr>
            <a:xfrm>
              <a:off x="10098785" y="1599438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59435" y="0"/>
                  </a:moveTo>
                  <a:lnTo>
                    <a:pt x="0" y="0"/>
                  </a:lnTo>
                  <a:lnTo>
                    <a:pt x="0" y="59436"/>
                  </a:lnTo>
                  <a:lnTo>
                    <a:pt x="59435" y="59436"/>
                  </a:lnTo>
                  <a:lnTo>
                    <a:pt x="59435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0098785" y="1806702"/>
              <a:ext cx="59690" cy="60325"/>
            </a:xfrm>
            <a:custGeom>
              <a:avLst/>
              <a:gdLst/>
              <a:ahLst/>
              <a:cxnLst/>
              <a:rect l="l" t="t" r="r" b="b"/>
              <a:pathLst>
                <a:path w="59690" h="60325">
                  <a:moveTo>
                    <a:pt x="59435" y="0"/>
                  </a:moveTo>
                  <a:lnTo>
                    <a:pt x="0" y="0"/>
                  </a:lnTo>
                  <a:lnTo>
                    <a:pt x="0" y="60198"/>
                  </a:lnTo>
                  <a:lnTo>
                    <a:pt x="59435" y="60198"/>
                  </a:lnTo>
                  <a:lnTo>
                    <a:pt x="59435" y="0"/>
                  </a:lnTo>
                  <a:close/>
                </a:path>
              </a:pathLst>
            </a:custGeom>
            <a:solidFill>
              <a:srgbClr val="539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0098785" y="2014728"/>
              <a:ext cx="59690" cy="59690"/>
            </a:xfrm>
            <a:custGeom>
              <a:avLst/>
              <a:gdLst/>
              <a:ahLst/>
              <a:cxnLst/>
              <a:rect l="l" t="t" r="r" b="b"/>
              <a:pathLst>
                <a:path w="59690" h="59689">
                  <a:moveTo>
                    <a:pt x="59435" y="0"/>
                  </a:moveTo>
                  <a:lnTo>
                    <a:pt x="0" y="0"/>
                  </a:lnTo>
                  <a:lnTo>
                    <a:pt x="0" y="59436"/>
                  </a:lnTo>
                  <a:lnTo>
                    <a:pt x="59435" y="59436"/>
                  </a:lnTo>
                  <a:lnTo>
                    <a:pt x="59435" y="0"/>
                  </a:lnTo>
                  <a:close/>
                </a:path>
              </a:pathLst>
            </a:custGeom>
            <a:solidFill>
              <a:srgbClr val="E6B8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0098785" y="2221992"/>
              <a:ext cx="59690" cy="60325"/>
            </a:xfrm>
            <a:custGeom>
              <a:avLst/>
              <a:gdLst/>
              <a:ahLst/>
              <a:cxnLst/>
              <a:rect l="l" t="t" r="r" b="b"/>
              <a:pathLst>
                <a:path w="59690" h="60325">
                  <a:moveTo>
                    <a:pt x="59435" y="0"/>
                  </a:moveTo>
                  <a:lnTo>
                    <a:pt x="0" y="0"/>
                  </a:lnTo>
                  <a:lnTo>
                    <a:pt x="0" y="60198"/>
                  </a:lnTo>
                  <a:lnTo>
                    <a:pt x="59435" y="60198"/>
                  </a:lnTo>
                  <a:lnTo>
                    <a:pt x="59435" y="0"/>
                  </a:lnTo>
                  <a:close/>
                </a:path>
              </a:pathLst>
            </a:custGeom>
            <a:solidFill>
              <a:srgbClr val="E7661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0171683" y="1468627"/>
            <a:ext cx="666750" cy="855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1400"/>
              </a:lnSpc>
              <a:spcBef>
                <a:spcPts val="95"/>
              </a:spcBef>
            </a:pPr>
            <a:r>
              <a:rPr dirty="0" sz="900" spc="-10">
                <a:latin typeface="Trebuchet MS"/>
                <a:cs typeface="Trebuchet MS"/>
              </a:rPr>
              <a:t>Hardware </a:t>
            </a:r>
            <a:r>
              <a:rPr dirty="0" sz="900">
                <a:latin typeface="Trebuchet MS"/>
                <a:cs typeface="Trebuchet MS"/>
              </a:rPr>
              <a:t>Login</a:t>
            </a:r>
            <a:r>
              <a:rPr dirty="0" sz="900" spc="-20">
                <a:latin typeface="Trebuchet MS"/>
                <a:cs typeface="Trebuchet MS"/>
              </a:rPr>
              <a:t> </a:t>
            </a:r>
            <a:r>
              <a:rPr dirty="0" sz="900" spc="-10">
                <a:latin typeface="Trebuchet MS"/>
                <a:cs typeface="Trebuchet MS"/>
              </a:rPr>
              <a:t>Access Software System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569" y="1019555"/>
            <a:ext cx="9409176" cy="133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22425" y="1190497"/>
            <a:ext cx="846074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Satisfaction</a:t>
            </a:r>
            <a:r>
              <a:rPr dirty="0" spc="-95"/>
              <a:t> </a:t>
            </a:r>
            <a:r>
              <a:rPr dirty="0"/>
              <a:t>Rate</a:t>
            </a:r>
            <a:r>
              <a:rPr dirty="0" spc="-110"/>
              <a:t> </a:t>
            </a:r>
            <a:r>
              <a:rPr dirty="0"/>
              <a:t>by</a:t>
            </a:r>
            <a:r>
              <a:rPr dirty="0" spc="-350"/>
              <a:t> </a:t>
            </a:r>
            <a:r>
              <a:rPr dirty="0"/>
              <a:t>Age</a:t>
            </a:r>
            <a:r>
              <a:rPr dirty="0" spc="-114"/>
              <a:t> </a:t>
            </a:r>
            <a:r>
              <a:rPr dirty="0" spc="-10"/>
              <a:t>Group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15607" y="3479546"/>
            <a:ext cx="500824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Highest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satisfaction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among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ages: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37–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40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(4.23)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29–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32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(4.21)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15607" y="3820159"/>
            <a:ext cx="449326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Lower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satisfaction</a:t>
            </a:r>
            <a:r>
              <a:rPr dirty="0" sz="14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ages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33–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36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(3.94)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41–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44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(3.92)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15607" y="4160773"/>
            <a:ext cx="448881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Overall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satisfaction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remains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strong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across</a:t>
            </a:r>
            <a:r>
              <a:rPr dirty="0" sz="14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groups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(~4.10)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15607" y="4500626"/>
            <a:ext cx="496570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90C225"/>
              </a:buClr>
              <a:buSzPct val="78571"/>
              <a:buFont typeface="Wingdings"/>
              <a:buChar char=""/>
              <a:tabLst>
                <a:tab pos="355600" algn="l"/>
              </a:tabLst>
            </a:pP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Younger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mid-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career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users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(29–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40)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report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experience,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while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users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aged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33–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36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41–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44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require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targeted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service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or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support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improvements.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90269" y="3639311"/>
            <a:ext cx="4027170" cy="2127250"/>
            <a:chOff x="1390269" y="3639311"/>
            <a:chExt cx="4027170" cy="2127250"/>
          </a:xfrm>
        </p:grpSpPr>
        <p:sp>
          <p:nvSpPr>
            <p:cNvPr id="9" name="object 9"/>
            <p:cNvSpPr/>
            <p:nvPr/>
          </p:nvSpPr>
          <p:spPr>
            <a:xfrm>
              <a:off x="1390269" y="5464682"/>
              <a:ext cx="4027170" cy="0"/>
            </a:xfrm>
            <a:custGeom>
              <a:avLst/>
              <a:gdLst/>
              <a:ahLst/>
              <a:cxnLst/>
              <a:rect l="l" t="t" r="r" b="b"/>
              <a:pathLst>
                <a:path w="4027170" h="0">
                  <a:moveTo>
                    <a:pt x="0" y="0"/>
                  </a:moveTo>
                  <a:lnTo>
                    <a:pt x="197739" y="0"/>
                  </a:lnTo>
                </a:path>
                <a:path w="4027170" h="0">
                  <a:moveTo>
                    <a:pt x="377570" y="0"/>
                  </a:moveTo>
                  <a:lnTo>
                    <a:pt x="773049" y="0"/>
                  </a:lnTo>
                </a:path>
                <a:path w="4027170" h="0">
                  <a:moveTo>
                    <a:pt x="952881" y="0"/>
                  </a:moveTo>
                  <a:lnTo>
                    <a:pt x="1348358" y="0"/>
                  </a:lnTo>
                </a:path>
                <a:path w="4027170" h="0">
                  <a:moveTo>
                    <a:pt x="1528191" y="0"/>
                  </a:moveTo>
                  <a:lnTo>
                    <a:pt x="1923669" y="0"/>
                  </a:lnTo>
                </a:path>
                <a:path w="4027170" h="0">
                  <a:moveTo>
                    <a:pt x="2103501" y="0"/>
                  </a:moveTo>
                  <a:lnTo>
                    <a:pt x="2498979" y="0"/>
                  </a:lnTo>
                </a:path>
                <a:path w="4027170" h="0">
                  <a:moveTo>
                    <a:pt x="2678810" y="0"/>
                  </a:moveTo>
                  <a:lnTo>
                    <a:pt x="3074289" y="0"/>
                  </a:lnTo>
                </a:path>
                <a:path w="4027170" h="0">
                  <a:moveTo>
                    <a:pt x="3254882" y="0"/>
                  </a:moveTo>
                  <a:lnTo>
                    <a:pt x="3649599" y="0"/>
                  </a:lnTo>
                </a:path>
                <a:path w="4027170" h="0">
                  <a:moveTo>
                    <a:pt x="3830193" y="0"/>
                  </a:moveTo>
                  <a:lnTo>
                    <a:pt x="4027170" y="0"/>
                  </a:lnTo>
                </a:path>
              </a:pathLst>
            </a:custGeom>
            <a:ln w="990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90269" y="3683126"/>
              <a:ext cx="4027170" cy="1484630"/>
            </a:xfrm>
            <a:custGeom>
              <a:avLst/>
              <a:gdLst/>
              <a:ahLst/>
              <a:cxnLst/>
              <a:rect l="l" t="t" r="r" b="b"/>
              <a:pathLst>
                <a:path w="4027170" h="1484629">
                  <a:moveTo>
                    <a:pt x="0" y="1484376"/>
                  </a:moveTo>
                  <a:lnTo>
                    <a:pt x="197739" y="1484376"/>
                  </a:lnTo>
                </a:path>
                <a:path w="4027170" h="1484629">
                  <a:moveTo>
                    <a:pt x="377570" y="1484376"/>
                  </a:moveTo>
                  <a:lnTo>
                    <a:pt x="773049" y="1484376"/>
                  </a:lnTo>
                </a:path>
                <a:path w="4027170" h="1484629">
                  <a:moveTo>
                    <a:pt x="952881" y="1484376"/>
                  </a:moveTo>
                  <a:lnTo>
                    <a:pt x="1348358" y="1484376"/>
                  </a:lnTo>
                </a:path>
                <a:path w="4027170" h="1484629">
                  <a:moveTo>
                    <a:pt x="1528191" y="1484376"/>
                  </a:moveTo>
                  <a:lnTo>
                    <a:pt x="1923669" y="1484376"/>
                  </a:lnTo>
                </a:path>
                <a:path w="4027170" h="1484629">
                  <a:moveTo>
                    <a:pt x="2103501" y="1484376"/>
                  </a:moveTo>
                  <a:lnTo>
                    <a:pt x="2498979" y="1484376"/>
                  </a:lnTo>
                </a:path>
                <a:path w="4027170" h="1484629">
                  <a:moveTo>
                    <a:pt x="2678810" y="1484376"/>
                  </a:moveTo>
                  <a:lnTo>
                    <a:pt x="3074289" y="1484376"/>
                  </a:lnTo>
                </a:path>
                <a:path w="4027170" h="1484629">
                  <a:moveTo>
                    <a:pt x="3254882" y="1484376"/>
                  </a:moveTo>
                  <a:lnTo>
                    <a:pt x="3649599" y="1484376"/>
                  </a:lnTo>
                </a:path>
                <a:path w="4027170" h="1484629">
                  <a:moveTo>
                    <a:pt x="3830193" y="1484376"/>
                  </a:moveTo>
                  <a:lnTo>
                    <a:pt x="4027170" y="1484376"/>
                  </a:lnTo>
                </a:path>
                <a:path w="4027170" h="1484629">
                  <a:moveTo>
                    <a:pt x="0" y="1187958"/>
                  </a:moveTo>
                  <a:lnTo>
                    <a:pt x="197739" y="1187958"/>
                  </a:lnTo>
                </a:path>
                <a:path w="4027170" h="1484629">
                  <a:moveTo>
                    <a:pt x="377570" y="1187958"/>
                  </a:moveTo>
                  <a:lnTo>
                    <a:pt x="773049" y="1187958"/>
                  </a:lnTo>
                </a:path>
                <a:path w="4027170" h="1484629">
                  <a:moveTo>
                    <a:pt x="952881" y="1187958"/>
                  </a:moveTo>
                  <a:lnTo>
                    <a:pt x="1348358" y="1187958"/>
                  </a:lnTo>
                </a:path>
                <a:path w="4027170" h="1484629">
                  <a:moveTo>
                    <a:pt x="1528191" y="1187958"/>
                  </a:moveTo>
                  <a:lnTo>
                    <a:pt x="2498979" y="1187958"/>
                  </a:lnTo>
                </a:path>
                <a:path w="4027170" h="1484629">
                  <a:moveTo>
                    <a:pt x="2678810" y="1187958"/>
                  </a:moveTo>
                  <a:lnTo>
                    <a:pt x="3074289" y="1187958"/>
                  </a:lnTo>
                </a:path>
                <a:path w="4027170" h="1484629">
                  <a:moveTo>
                    <a:pt x="3254882" y="1187958"/>
                  </a:moveTo>
                  <a:lnTo>
                    <a:pt x="3649599" y="1187958"/>
                  </a:lnTo>
                </a:path>
                <a:path w="4027170" h="1484629">
                  <a:moveTo>
                    <a:pt x="3830193" y="1187958"/>
                  </a:moveTo>
                  <a:lnTo>
                    <a:pt x="4027170" y="1187958"/>
                  </a:lnTo>
                </a:path>
                <a:path w="4027170" h="1484629">
                  <a:moveTo>
                    <a:pt x="377570" y="890778"/>
                  </a:moveTo>
                  <a:lnTo>
                    <a:pt x="1348358" y="890778"/>
                  </a:lnTo>
                </a:path>
                <a:path w="4027170" h="1484629">
                  <a:moveTo>
                    <a:pt x="1528191" y="890778"/>
                  </a:moveTo>
                  <a:lnTo>
                    <a:pt x="3649599" y="890778"/>
                  </a:lnTo>
                </a:path>
                <a:path w="4027170" h="1484629">
                  <a:moveTo>
                    <a:pt x="0" y="890778"/>
                  </a:moveTo>
                  <a:lnTo>
                    <a:pt x="197739" y="890778"/>
                  </a:lnTo>
                </a:path>
                <a:path w="4027170" h="1484629">
                  <a:moveTo>
                    <a:pt x="3830193" y="890778"/>
                  </a:moveTo>
                  <a:lnTo>
                    <a:pt x="4027170" y="890778"/>
                  </a:lnTo>
                </a:path>
                <a:path w="4027170" h="1484629">
                  <a:moveTo>
                    <a:pt x="0" y="593598"/>
                  </a:moveTo>
                  <a:lnTo>
                    <a:pt x="3649599" y="593598"/>
                  </a:lnTo>
                </a:path>
                <a:path w="4027170" h="1484629">
                  <a:moveTo>
                    <a:pt x="3830193" y="593598"/>
                  </a:moveTo>
                  <a:lnTo>
                    <a:pt x="4027170" y="593598"/>
                  </a:lnTo>
                </a:path>
                <a:path w="4027170" h="1484629">
                  <a:moveTo>
                    <a:pt x="0" y="297180"/>
                  </a:moveTo>
                  <a:lnTo>
                    <a:pt x="3649599" y="297180"/>
                  </a:lnTo>
                </a:path>
                <a:path w="4027170" h="1484629">
                  <a:moveTo>
                    <a:pt x="3830193" y="297180"/>
                  </a:moveTo>
                  <a:lnTo>
                    <a:pt x="4027170" y="297180"/>
                  </a:lnTo>
                </a:path>
                <a:path w="4027170" h="1484629">
                  <a:moveTo>
                    <a:pt x="0" y="0"/>
                  </a:moveTo>
                  <a:lnTo>
                    <a:pt x="3649599" y="0"/>
                  </a:lnTo>
                </a:path>
                <a:path w="4027170" h="1484629">
                  <a:moveTo>
                    <a:pt x="3830193" y="0"/>
                  </a:moveTo>
                  <a:lnTo>
                    <a:pt x="4027170" y="0"/>
                  </a:lnTo>
                </a:path>
              </a:pathLst>
            </a:custGeom>
            <a:ln w="990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88008" y="3639311"/>
              <a:ext cx="3632835" cy="2122170"/>
            </a:xfrm>
            <a:custGeom>
              <a:avLst/>
              <a:gdLst/>
              <a:ahLst/>
              <a:cxnLst/>
              <a:rect l="l" t="t" r="r" b="b"/>
              <a:pathLst>
                <a:path w="3632835" h="2122170">
                  <a:moveTo>
                    <a:pt x="179832" y="664464"/>
                  </a:moveTo>
                  <a:lnTo>
                    <a:pt x="0" y="664464"/>
                  </a:lnTo>
                  <a:lnTo>
                    <a:pt x="0" y="2122170"/>
                  </a:lnTo>
                  <a:lnTo>
                    <a:pt x="179832" y="2122170"/>
                  </a:lnTo>
                  <a:lnTo>
                    <a:pt x="179832" y="664464"/>
                  </a:lnTo>
                  <a:close/>
                </a:path>
                <a:path w="3632835" h="2122170">
                  <a:moveTo>
                    <a:pt x="755142" y="938022"/>
                  </a:moveTo>
                  <a:lnTo>
                    <a:pt x="575310" y="938022"/>
                  </a:lnTo>
                  <a:lnTo>
                    <a:pt x="575310" y="2122170"/>
                  </a:lnTo>
                  <a:lnTo>
                    <a:pt x="755142" y="2122170"/>
                  </a:lnTo>
                  <a:lnTo>
                    <a:pt x="755142" y="938022"/>
                  </a:lnTo>
                  <a:close/>
                </a:path>
                <a:path w="3632835" h="2122170">
                  <a:moveTo>
                    <a:pt x="1330452" y="817626"/>
                  </a:moveTo>
                  <a:lnTo>
                    <a:pt x="1150620" y="817626"/>
                  </a:lnTo>
                  <a:lnTo>
                    <a:pt x="1150620" y="2122170"/>
                  </a:lnTo>
                  <a:lnTo>
                    <a:pt x="1330452" y="2122170"/>
                  </a:lnTo>
                  <a:lnTo>
                    <a:pt x="1330452" y="817626"/>
                  </a:lnTo>
                  <a:close/>
                </a:path>
                <a:path w="3632835" h="2122170">
                  <a:moveTo>
                    <a:pt x="1905762" y="1399794"/>
                  </a:moveTo>
                  <a:lnTo>
                    <a:pt x="1725930" y="1399794"/>
                  </a:lnTo>
                  <a:lnTo>
                    <a:pt x="1725930" y="2122170"/>
                  </a:lnTo>
                  <a:lnTo>
                    <a:pt x="1905762" y="2122170"/>
                  </a:lnTo>
                  <a:lnTo>
                    <a:pt x="1905762" y="1399794"/>
                  </a:lnTo>
                  <a:close/>
                </a:path>
                <a:path w="3632835" h="2122170">
                  <a:moveTo>
                    <a:pt x="2481072" y="1118616"/>
                  </a:moveTo>
                  <a:lnTo>
                    <a:pt x="2301240" y="1118616"/>
                  </a:lnTo>
                  <a:lnTo>
                    <a:pt x="2301240" y="2122170"/>
                  </a:lnTo>
                  <a:lnTo>
                    <a:pt x="2481072" y="2122170"/>
                  </a:lnTo>
                  <a:lnTo>
                    <a:pt x="2481072" y="1118616"/>
                  </a:lnTo>
                  <a:close/>
                </a:path>
                <a:path w="3632835" h="2122170">
                  <a:moveTo>
                    <a:pt x="3057144" y="1032510"/>
                  </a:moveTo>
                  <a:lnTo>
                    <a:pt x="2876550" y="1032510"/>
                  </a:lnTo>
                  <a:lnTo>
                    <a:pt x="2876550" y="2122170"/>
                  </a:lnTo>
                  <a:lnTo>
                    <a:pt x="3057144" y="2122170"/>
                  </a:lnTo>
                  <a:lnTo>
                    <a:pt x="3057144" y="1032510"/>
                  </a:lnTo>
                  <a:close/>
                </a:path>
                <a:path w="3632835" h="2122170">
                  <a:moveTo>
                    <a:pt x="3632454" y="0"/>
                  </a:moveTo>
                  <a:lnTo>
                    <a:pt x="3451860" y="0"/>
                  </a:lnTo>
                  <a:lnTo>
                    <a:pt x="3451860" y="2122170"/>
                  </a:lnTo>
                  <a:lnTo>
                    <a:pt x="3632454" y="2122170"/>
                  </a:lnTo>
                  <a:lnTo>
                    <a:pt x="3632454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390269" y="5761101"/>
              <a:ext cx="4027170" cy="0"/>
            </a:xfrm>
            <a:custGeom>
              <a:avLst/>
              <a:gdLst/>
              <a:ahLst/>
              <a:cxnLst/>
              <a:rect l="l" t="t" r="r" b="b"/>
              <a:pathLst>
                <a:path w="4027170" h="0">
                  <a:moveTo>
                    <a:pt x="0" y="0"/>
                  </a:moveTo>
                  <a:lnTo>
                    <a:pt x="4027170" y="0"/>
                  </a:lnTo>
                </a:path>
              </a:pathLst>
            </a:custGeom>
            <a:ln w="990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1390269" y="3386709"/>
            <a:ext cx="4027170" cy="0"/>
          </a:xfrm>
          <a:custGeom>
            <a:avLst/>
            <a:gdLst/>
            <a:ahLst/>
            <a:cxnLst/>
            <a:rect l="l" t="t" r="r" b="b"/>
            <a:pathLst>
              <a:path w="4027170" h="0">
                <a:moveTo>
                  <a:pt x="0" y="0"/>
                </a:moveTo>
                <a:lnTo>
                  <a:pt x="4027170" y="0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13536" y="5374385"/>
            <a:ext cx="187325" cy="459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3.8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3.7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3536" y="5077459"/>
            <a:ext cx="1873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3.9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5389" y="4780788"/>
            <a:ext cx="857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Trebuchet MS"/>
                <a:cs typeface="Trebuchet MS"/>
              </a:rPr>
              <a:t>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3536" y="4483861"/>
            <a:ext cx="1873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4.1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3536" y="4186935"/>
            <a:ext cx="1873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4.2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3536" y="3890009"/>
            <a:ext cx="1873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4.3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13536" y="3593083"/>
            <a:ext cx="1873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4.4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13536" y="3296411"/>
            <a:ext cx="1873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4.5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24508" y="5813805"/>
            <a:ext cx="3073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29-</a:t>
            </a:r>
            <a:r>
              <a:rPr dirty="0" sz="900" spc="-35">
                <a:solidFill>
                  <a:srgbClr val="585858"/>
                </a:solidFill>
                <a:latin typeface="Trebuchet MS"/>
                <a:cs typeface="Trebuchet MS"/>
              </a:rPr>
              <a:t>32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99817" y="5813805"/>
            <a:ext cx="3073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33-</a:t>
            </a:r>
            <a:r>
              <a:rPr dirty="0" sz="900" spc="-35">
                <a:solidFill>
                  <a:srgbClr val="585858"/>
                </a:solidFill>
                <a:latin typeface="Trebuchet MS"/>
                <a:cs typeface="Trebuchet MS"/>
              </a:rPr>
              <a:t>36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75127" y="5813805"/>
            <a:ext cx="3073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37-</a:t>
            </a:r>
            <a:r>
              <a:rPr dirty="0" sz="900" spc="-35">
                <a:solidFill>
                  <a:srgbClr val="585858"/>
                </a:solidFill>
                <a:latin typeface="Trebuchet MS"/>
                <a:cs typeface="Trebuchet MS"/>
              </a:rPr>
              <a:t>40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50438" y="5813805"/>
            <a:ext cx="3073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41-</a:t>
            </a:r>
            <a:r>
              <a:rPr dirty="0" sz="900" spc="-35">
                <a:solidFill>
                  <a:srgbClr val="585858"/>
                </a:solidFill>
                <a:latin typeface="Trebuchet MS"/>
                <a:cs typeface="Trebuchet MS"/>
              </a:rPr>
              <a:t>44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26002" y="5813805"/>
            <a:ext cx="3073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45-</a:t>
            </a:r>
            <a:r>
              <a:rPr dirty="0" sz="900" spc="-35">
                <a:solidFill>
                  <a:srgbClr val="585858"/>
                </a:solidFill>
                <a:latin typeface="Trebuchet MS"/>
                <a:cs typeface="Trebuchet MS"/>
              </a:rPr>
              <a:t>48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1311" y="5813805"/>
            <a:ext cx="3073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49-</a:t>
            </a:r>
            <a:r>
              <a:rPr dirty="0" sz="900" spc="-35">
                <a:solidFill>
                  <a:srgbClr val="585858"/>
                </a:solidFill>
                <a:latin typeface="Trebuchet MS"/>
                <a:cs typeface="Trebuchet MS"/>
              </a:rPr>
              <a:t>52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76621" y="5813805"/>
            <a:ext cx="3073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53-</a:t>
            </a:r>
            <a:r>
              <a:rPr dirty="0" sz="900" spc="-35">
                <a:solidFill>
                  <a:srgbClr val="585858"/>
                </a:solidFill>
                <a:latin typeface="Trebuchet MS"/>
                <a:cs typeface="Trebuchet MS"/>
              </a:rPr>
              <a:t>56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26639" y="2998216"/>
            <a:ext cx="248475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Satisfaction</a:t>
            </a:r>
            <a:r>
              <a:rPr dirty="0" sz="1400" spc="-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Rate</a:t>
            </a:r>
            <a:r>
              <a:rPr dirty="0" sz="1400" spc="-3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by</a:t>
            </a:r>
            <a:r>
              <a:rPr dirty="0" sz="1400" spc="-10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Age</a:t>
            </a:r>
            <a:r>
              <a:rPr dirty="0" sz="1400" spc="-3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rebuchet MS"/>
                <a:cs typeface="Trebuchet MS"/>
              </a:rPr>
              <a:t>Group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615940" y="4617720"/>
            <a:ext cx="59690" cy="59690"/>
          </a:xfrm>
          <a:custGeom>
            <a:avLst/>
            <a:gdLst/>
            <a:ahLst/>
            <a:cxnLst/>
            <a:rect l="l" t="t" r="r" b="b"/>
            <a:pathLst>
              <a:path w="59689" h="59689">
                <a:moveTo>
                  <a:pt x="59436" y="0"/>
                </a:moveTo>
                <a:lnTo>
                  <a:pt x="0" y="0"/>
                </a:lnTo>
                <a:lnTo>
                  <a:pt x="0" y="59435"/>
                </a:lnTo>
                <a:lnTo>
                  <a:pt x="59436" y="59435"/>
                </a:lnTo>
                <a:lnTo>
                  <a:pt x="59436" y="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688329" y="4557267"/>
            <a:ext cx="2927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Total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Ticket</a:t>
            </a:r>
            <a:r>
              <a:rPr dirty="0" spc="-210"/>
              <a:t> </a:t>
            </a:r>
            <a:r>
              <a:rPr dirty="0"/>
              <a:t>Volume</a:t>
            </a:r>
            <a:r>
              <a:rPr dirty="0" spc="-210"/>
              <a:t> </a:t>
            </a:r>
            <a:r>
              <a:rPr dirty="0"/>
              <a:t>by</a:t>
            </a:r>
            <a:r>
              <a:rPr dirty="0" spc="-195"/>
              <a:t> </a:t>
            </a:r>
            <a:r>
              <a:rPr dirty="0" spc="-20"/>
              <a:t>Priority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62471" y="2635503"/>
            <a:ext cx="5020945" cy="2327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High</a:t>
            </a:r>
            <a:r>
              <a:rPr dirty="0" sz="1400" spc="-4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priority:</a:t>
            </a:r>
            <a:r>
              <a:rPr dirty="0" sz="1400" spc="-4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35,549</a:t>
            </a:r>
            <a:r>
              <a:rPr dirty="0" sz="1400" spc="-1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tickets</a:t>
            </a:r>
            <a:r>
              <a:rPr dirty="0" sz="1400" spc="-4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(36%)</a:t>
            </a:r>
            <a:r>
              <a:rPr dirty="0" sz="1400" spc="-2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r>
              <a:rPr dirty="0" sz="1400" spc="-2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major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load</a:t>
            </a:r>
            <a:r>
              <a:rPr dirty="0" sz="14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Trebuchet MS"/>
                <a:cs typeface="Trebuchet MS"/>
              </a:rPr>
              <a:t>of</a:t>
            </a:r>
            <a:endParaRPr sz="14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</a:pP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urgent</a:t>
            </a:r>
            <a:r>
              <a:rPr dirty="0" sz="14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issues.</a:t>
            </a:r>
            <a:endParaRPr sz="1400">
              <a:latin typeface="Trebuchet MS"/>
              <a:cs typeface="Trebuchet MS"/>
            </a:endParaRPr>
          </a:p>
          <a:p>
            <a:pPr marL="355600" marR="573405" indent="-3429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Unassigned:</a:t>
            </a:r>
            <a:r>
              <a:rPr dirty="0" sz="1400" spc="-3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29,410</a:t>
            </a:r>
            <a:r>
              <a:rPr dirty="0" sz="1400" spc="-1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tickets</a:t>
            </a:r>
            <a:r>
              <a:rPr dirty="0" sz="1400" spc="-5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(30%)</a:t>
            </a:r>
            <a:r>
              <a:rPr dirty="0" sz="1400" spc="-1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r>
              <a:rPr dirty="0" sz="14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shows</a:t>
            </a:r>
            <a:r>
              <a:rPr dirty="0" sz="14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delay</a:t>
            </a:r>
            <a:r>
              <a:rPr dirty="0" sz="1400" spc="-25">
                <a:solidFill>
                  <a:srgbClr val="404040"/>
                </a:solidFill>
                <a:latin typeface="Trebuchet MS"/>
                <a:cs typeface="Trebuchet MS"/>
              </a:rPr>
              <a:t> in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ownership/assignment.</a:t>
            </a:r>
            <a:endParaRPr sz="1400">
              <a:latin typeface="Trebuchet MS"/>
              <a:cs typeface="Trebuchet MS"/>
            </a:endParaRPr>
          </a:p>
          <a:p>
            <a:pPr marL="355600" marR="681990" indent="-3429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Low</a:t>
            </a:r>
            <a:r>
              <a:rPr dirty="0" sz="1400" spc="-2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+</a:t>
            </a:r>
            <a:r>
              <a:rPr dirty="0" sz="1400" spc="-2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Mid:</a:t>
            </a:r>
            <a:r>
              <a:rPr dirty="0" sz="1400" spc="-4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32,539</a:t>
            </a:r>
            <a:r>
              <a:rPr dirty="0" sz="1400" spc="-1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tickets</a:t>
            </a:r>
            <a:r>
              <a:rPr dirty="0" sz="1400" spc="-4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(33%)</a:t>
            </a:r>
            <a:r>
              <a:rPr dirty="0" sz="1400" spc="-1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–</a:t>
            </a:r>
            <a:r>
              <a:rPr dirty="0" sz="1400" spc="-2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comparatively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manageable</a:t>
            </a:r>
            <a:r>
              <a:rPr dirty="0" sz="1400" spc="-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workload.</a:t>
            </a:r>
            <a:endParaRPr sz="14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buClr>
                <a:srgbClr val="90C225"/>
              </a:buClr>
              <a:buSzPct val="78571"/>
              <a:buFont typeface="Wingdings"/>
              <a:buChar char=""/>
              <a:tabLst>
                <a:tab pos="355600" algn="l"/>
              </a:tabLst>
            </a:pP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High</a:t>
            </a:r>
            <a:r>
              <a:rPr dirty="0" sz="1400" spc="-2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priority</a:t>
            </a:r>
            <a:r>
              <a:rPr dirty="0" sz="1400" spc="-2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and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unassigned</a:t>
            </a:r>
            <a:r>
              <a:rPr dirty="0" sz="1400" spc="-35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tickets</a:t>
            </a:r>
            <a:r>
              <a:rPr dirty="0" sz="1400" spc="-4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form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b="1">
                <a:solidFill>
                  <a:srgbClr val="404040"/>
                </a:solidFill>
                <a:latin typeface="Trebuchet MS"/>
                <a:cs typeface="Trebuchet MS"/>
              </a:rPr>
              <a:t>two-thirds</a:t>
            </a:r>
            <a:r>
              <a:rPr dirty="0" sz="1400" spc="-30" b="1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Trebuchet MS"/>
                <a:cs typeface="Trebuchet MS"/>
              </a:rPr>
              <a:t>of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total</a:t>
            </a:r>
            <a:r>
              <a:rPr dirty="0" sz="14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volume,</a:t>
            </a:r>
            <a:r>
              <a:rPr dirty="0" sz="14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indicating</a:t>
            </a:r>
            <a:r>
              <a:rPr dirty="0" sz="14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4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need</a:t>
            </a:r>
            <a:r>
              <a:rPr dirty="0" sz="14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for</a:t>
            </a:r>
            <a:r>
              <a:rPr dirty="0" sz="14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better</a:t>
            </a:r>
            <a:r>
              <a:rPr dirty="0" sz="14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issue</a:t>
            </a:r>
            <a:r>
              <a:rPr dirty="0" sz="1400" spc="-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triage</a:t>
            </a:r>
            <a:r>
              <a:rPr dirty="0" sz="14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Trebuchet MS"/>
                <a:cs typeface="Trebuchet MS"/>
              </a:rPr>
              <a:t>and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proactive</a:t>
            </a:r>
            <a:r>
              <a:rPr dirty="0" sz="14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system</a:t>
            </a:r>
            <a:r>
              <a:rPr dirty="0" sz="14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404040"/>
                </a:solidFill>
                <a:latin typeface="Trebuchet MS"/>
                <a:cs typeface="Trebuchet MS"/>
              </a:rPr>
              <a:t>stability</a:t>
            </a:r>
            <a:r>
              <a:rPr dirty="0" sz="14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Trebuchet MS"/>
                <a:cs typeface="Trebuchet MS"/>
              </a:rPr>
              <a:t>management.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28797" y="3248532"/>
            <a:ext cx="2317750" cy="2294890"/>
            <a:chOff x="1728797" y="3248532"/>
            <a:chExt cx="2317750" cy="2294890"/>
          </a:xfrm>
        </p:grpSpPr>
        <p:sp>
          <p:nvSpPr>
            <p:cNvPr id="5" name="object 5"/>
            <p:cNvSpPr/>
            <p:nvPr/>
          </p:nvSpPr>
          <p:spPr>
            <a:xfrm>
              <a:off x="2992119" y="3248532"/>
              <a:ext cx="1054735" cy="1390650"/>
            </a:xfrm>
            <a:custGeom>
              <a:avLst/>
              <a:gdLst/>
              <a:ahLst/>
              <a:cxnLst/>
              <a:rect l="l" t="t" r="r" b="b"/>
              <a:pathLst>
                <a:path w="1054735" h="1390650">
                  <a:moveTo>
                    <a:pt x="0" y="0"/>
                  </a:moveTo>
                  <a:lnTo>
                    <a:pt x="0" y="1054227"/>
                  </a:lnTo>
                  <a:lnTo>
                    <a:pt x="999108" y="1390395"/>
                  </a:lnTo>
                  <a:lnTo>
                    <a:pt x="1013638" y="1343662"/>
                  </a:lnTo>
                  <a:lnTo>
                    <a:pt x="1025975" y="1296369"/>
                  </a:lnTo>
                  <a:lnTo>
                    <a:pt x="1036104" y="1248594"/>
                  </a:lnTo>
                  <a:lnTo>
                    <a:pt x="1044009" y="1200414"/>
                  </a:lnTo>
                  <a:lnTo>
                    <a:pt x="1049675" y="1151908"/>
                  </a:lnTo>
                  <a:lnTo>
                    <a:pt x="1053086" y="1103153"/>
                  </a:lnTo>
                  <a:lnTo>
                    <a:pt x="1054227" y="1054227"/>
                  </a:lnTo>
                  <a:lnTo>
                    <a:pt x="1053142" y="1005965"/>
                  </a:lnTo>
                  <a:lnTo>
                    <a:pt x="1049918" y="958261"/>
                  </a:lnTo>
                  <a:lnTo>
                    <a:pt x="1044601" y="911161"/>
                  </a:lnTo>
                  <a:lnTo>
                    <a:pt x="1037239" y="864712"/>
                  </a:lnTo>
                  <a:lnTo>
                    <a:pt x="1027878" y="818959"/>
                  </a:lnTo>
                  <a:lnTo>
                    <a:pt x="1016564" y="773950"/>
                  </a:lnTo>
                  <a:lnTo>
                    <a:pt x="1003344" y="729731"/>
                  </a:lnTo>
                  <a:lnTo>
                    <a:pt x="988264" y="686348"/>
                  </a:lnTo>
                  <a:lnTo>
                    <a:pt x="971371" y="643848"/>
                  </a:lnTo>
                  <a:lnTo>
                    <a:pt x="952711" y="602277"/>
                  </a:lnTo>
                  <a:lnTo>
                    <a:pt x="932332" y="561683"/>
                  </a:lnTo>
                  <a:lnTo>
                    <a:pt x="910279" y="522111"/>
                  </a:lnTo>
                  <a:lnTo>
                    <a:pt x="886599" y="483607"/>
                  </a:lnTo>
                  <a:lnTo>
                    <a:pt x="861339" y="446220"/>
                  </a:lnTo>
                  <a:lnTo>
                    <a:pt x="834545" y="409994"/>
                  </a:lnTo>
                  <a:lnTo>
                    <a:pt x="806264" y="374976"/>
                  </a:lnTo>
                  <a:lnTo>
                    <a:pt x="776542" y="341214"/>
                  </a:lnTo>
                  <a:lnTo>
                    <a:pt x="745426" y="308752"/>
                  </a:lnTo>
                  <a:lnTo>
                    <a:pt x="712962" y="277639"/>
                  </a:lnTo>
                  <a:lnTo>
                    <a:pt x="679198" y="247920"/>
                  </a:lnTo>
                  <a:lnTo>
                    <a:pt x="644178" y="219642"/>
                  </a:lnTo>
                  <a:lnTo>
                    <a:pt x="607951" y="192852"/>
                  </a:lnTo>
                  <a:lnTo>
                    <a:pt x="570562" y="167595"/>
                  </a:lnTo>
                  <a:lnTo>
                    <a:pt x="532059" y="143919"/>
                  </a:lnTo>
                  <a:lnTo>
                    <a:pt x="492487" y="121869"/>
                  </a:lnTo>
                  <a:lnTo>
                    <a:pt x="451893" y="101493"/>
                  </a:lnTo>
                  <a:lnTo>
                    <a:pt x="410325" y="82837"/>
                  </a:lnTo>
                  <a:lnTo>
                    <a:pt x="367827" y="65948"/>
                  </a:lnTo>
                  <a:lnTo>
                    <a:pt x="324447" y="50871"/>
                  </a:lnTo>
                  <a:lnTo>
                    <a:pt x="280232" y="37653"/>
                  </a:lnTo>
                  <a:lnTo>
                    <a:pt x="235228" y="26342"/>
                  </a:lnTo>
                  <a:lnTo>
                    <a:pt x="189481" y="16982"/>
                  </a:lnTo>
                  <a:lnTo>
                    <a:pt x="143038" y="9622"/>
                  </a:lnTo>
                  <a:lnTo>
                    <a:pt x="95946" y="4307"/>
                  </a:lnTo>
                  <a:lnTo>
                    <a:pt x="48251" y="10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973450" y="4458461"/>
              <a:ext cx="999490" cy="1039494"/>
            </a:xfrm>
            <a:custGeom>
              <a:avLst/>
              <a:gdLst/>
              <a:ahLst/>
              <a:cxnLst/>
              <a:rect l="l" t="t" r="r" b="b"/>
              <a:pathLst>
                <a:path w="999489" h="1039495">
                  <a:moveTo>
                    <a:pt x="0" y="0"/>
                  </a:moveTo>
                  <a:lnTo>
                    <a:pt x="178816" y="1038987"/>
                  </a:lnTo>
                  <a:lnTo>
                    <a:pt x="228221" y="1029257"/>
                  </a:lnTo>
                  <a:lnTo>
                    <a:pt x="276808" y="1017266"/>
                  </a:lnTo>
                  <a:lnTo>
                    <a:pt x="324515" y="1003065"/>
                  </a:lnTo>
                  <a:lnTo>
                    <a:pt x="371279" y="986707"/>
                  </a:lnTo>
                  <a:lnTo>
                    <a:pt x="417040" y="968245"/>
                  </a:lnTo>
                  <a:lnTo>
                    <a:pt x="461736" y="947731"/>
                  </a:lnTo>
                  <a:lnTo>
                    <a:pt x="505305" y="925219"/>
                  </a:lnTo>
                  <a:lnTo>
                    <a:pt x="547687" y="900761"/>
                  </a:lnTo>
                  <a:lnTo>
                    <a:pt x="588820" y="874409"/>
                  </a:lnTo>
                  <a:lnTo>
                    <a:pt x="628642" y="846217"/>
                  </a:lnTo>
                  <a:lnTo>
                    <a:pt x="667092" y="816236"/>
                  </a:lnTo>
                  <a:lnTo>
                    <a:pt x="704109" y="784520"/>
                  </a:lnTo>
                  <a:lnTo>
                    <a:pt x="739630" y="751121"/>
                  </a:lnTo>
                  <a:lnTo>
                    <a:pt x="773596" y="716092"/>
                  </a:lnTo>
                  <a:lnTo>
                    <a:pt x="805943" y="679486"/>
                  </a:lnTo>
                  <a:lnTo>
                    <a:pt x="836611" y="641355"/>
                  </a:lnTo>
                  <a:lnTo>
                    <a:pt x="865539" y="601752"/>
                  </a:lnTo>
                  <a:lnTo>
                    <a:pt x="892664" y="560729"/>
                  </a:lnTo>
                  <a:lnTo>
                    <a:pt x="917926" y="518340"/>
                  </a:lnTo>
                  <a:lnTo>
                    <a:pt x="941263" y="474636"/>
                  </a:lnTo>
                  <a:lnTo>
                    <a:pt x="962613" y="429672"/>
                  </a:lnTo>
                  <a:lnTo>
                    <a:pt x="981915" y="383498"/>
                  </a:lnTo>
                  <a:lnTo>
                    <a:pt x="999109" y="336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39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973450" y="4458461"/>
              <a:ext cx="999490" cy="1039494"/>
            </a:xfrm>
            <a:custGeom>
              <a:avLst/>
              <a:gdLst/>
              <a:ahLst/>
              <a:cxnLst/>
              <a:rect l="l" t="t" r="r" b="b"/>
              <a:pathLst>
                <a:path w="999489" h="1039495">
                  <a:moveTo>
                    <a:pt x="999109" y="336169"/>
                  </a:moveTo>
                  <a:lnTo>
                    <a:pt x="981915" y="383498"/>
                  </a:lnTo>
                  <a:lnTo>
                    <a:pt x="962613" y="429672"/>
                  </a:lnTo>
                  <a:lnTo>
                    <a:pt x="941263" y="474636"/>
                  </a:lnTo>
                  <a:lnTo>
                    <a:pt x="917926" y="518340"/>
                  </a:lnTo>
                  <a:lnTo>
                    <a:pt x="892664" y="560729"/>
                  </a:lnTo>
                  <a:lnTo>
                    <a:pt x="865539" y="601752"/>
                  </a:lnTo>
                  <a:lnTo>
                    <a:pt x="836611" y="641355"/>
                  </a:lnTo>
                  <a:lnTo>
                    <a:pt x="805943" y="679486"/>
                  </a:lnTo>
                  <a:lnTo>
                    <a:pt x="773596" y="716092"/>
                  </a:lnTo>
                  <a:lnTo>
                    <a:pt x="739630" y="751121"/>
                  </a:lnTo>
                  <a:lnTo>
                    <a:pt x="704109" y="784520"/>
                  </a:lnTo>
                  <a:lnTo>
                    <a:pt x="667092" y="816236"/>
                  </a:lnTo>
                  <a:lnTo>
                    <a:pt x="628642" y="846217"/>
                  </a:lnTo>
                  <a:lnTo>
                    <a:pt x="588820" y="874409"/>
                  </a:lnTo>
                  <a:lnTo>
                    <a:pt x="547687" y="900761"/>
                  </a:lnTo>
                  <a:lnTo>
                    <a:pt x="505305" y="925219"/>
                  </a:lnTo>
                  <a:lnTo>
                    <a:pt x="461736" y="947731"/>
                  </a:lnTo>
                  <a:lnTo>
                    <a:pt x="417040" y="968245"/>
                  </a:lnTo>
                  <a:lnTo>
                    <a:pt x="371279" y="986707"/>
                  </a:lnTo>
                  <a:lnTo>
                    <a:pt x="324515" y="1003065"/>
                  </a:lnTo>
                  <a:lnTo>
                    <a:pt x="276808" y="1017266"/>
                  </a:lnTo>
                  <a:lnTo>
                    <a:pt x="228221" y="1029257"/>
                  </a:lnTo>
                  <a:lnTo>
                    <a:pt x="178816" y="1038987"/>
                  </a:lnTo>
                  <a:lnTo>
                    <a:pt x="0" y="0"/>
                  </a:lnTo>
                  <a:lnTo>
                    <a:pt x="999109" y="336169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066797" y="4479797"/>
              <a:ext cx="971550" cy="1054100"/>
            </a:xfrm>
            <a:custGeom>
              <a:avLst/>
              <a:gdLst/>
              <a:ahLst/>
              <a:cxnLst/>
              <a:rect l="l" t="t" r="r" b="b"/>
              <a:pathLst>
                <a:path w="971550" h="1054100">
                  <a:moveTo>
                    <a:pt x="792479" y="0"/>
                  </a:moveTo>
                  <a:lnTo>
                    <a:pt x="0" y="695197"/>
                  </a:lnTo>
                  <a:lnTo>
                    <a:pt x="33758" y="731889"/>
                  </a:lnTo>
                  <a:lnTo>
                    <a:pt x="69003" y="766749"/>
                  </a:lnTo>
                  <a:lnTo>
                    <a:pt x="105659" y="799753"/>
                  </a:lnTo>
                  <a:lnTo>
                    <a:pt x="143652" y="830873"/>
                  </a:lnTo>
                  <a:lnTo>
                    <a:pt x="182907" y="860083"/>
                  </a:lnTo>
                  <a:lnTo>
                    <a:pt x="223351" y="887357"/>
                  </a:lnTo>
                  <a:lnTo>
                    <a:pt x="264908" y="912668"/>
                  </a:lnTo>
                  <a:lnTo>
                    <a:pt x="307504" y="935991"/>
                  </a:lnTo>
                  <a:lnTo>
                    <a:pt x="351066" y="957297"/>
                  </a:lnTo>
                  <a:lnTo>
                    <a:pt x="395517" y="976562"/>
                  </a:lnTo>
                  <a:lnTo>
                    <a:pt x="440785" y="993759"/>
                  </a:lnTo>
                  <a:lnTo>
                    <a:pt x="486794" y="1008860"/>
                  </a:lnTo>
                  <a:lnTo>
                    <a:pt x="533470" y="1021841"/>
                  </a:lnTo>
                  <a:lnTo>
                    <a:pt x="580739" y="1032674"/>
                  </a:lnTo>
                  <a:lnTo>
                    <a:pt x="628526" y="1041333"/>
                  </a:lnTo>
                  <a:lnTo>
                    <a:pt x="676757" y="1047792"/>
                  </a:lnTo>
                  <a:lnTo>
                    <a:pt x="725357" y="1052024"/>
                  </a:lnTo>
                  <a:lnTo>
                    <a:pt x="774253" y="1054003"/>
                  </a:lnTo>
                  <a:lnTo>
                    <a:pt x="823369" y="1053703"/>
                  </a:lnTo>
                  <a:lnTo>
                    <a:pt x="872631" y="1051096"/>
                  </a:lnTo>
                  <a:lnTo>
                    <a:pt x="921964" y="1046157"/>
                  </a:lnTo>
                  <a:lnTo>
                    <a:pt x="971295" y="1038860"/>
                  </a:lnTo>
                  <a:lnTo>
                    <a:pt x="792479" y="0"/>
                  </a:lnTo>
                  <a:close/>
                </a:path>
              </a:pathLst>
            </a:custGeom>
            <a:solidFill>
              <a:srgbClr val="E6B8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066797" y="4479797"/>
              <a:ext cx="971550" cy="1054100"/>
            </a:xfrm>
            <a:custGeom>
              <a:avLst/>
              <a:gdLst/>
              <a:ahLst/>
              <a:cxnLst/>
              <a:rect l="l" t="t" r="r" b="b"/>
              <a:pathLst>
                <a:path w="971550" h="1054100">
                  <a:moveTo>
                    <a:pt x="971295" y="1038860"/>
                  </a:moveTo>
                  <a:lnTo>
                    <a:pt x="921964" y="1046157"/>
                  </a:lnTo>
                  <a:lnTo>
                    <a:pt x="872631" y="1051096"/>
                  </a:lnTo>
                  <a:lnTo>
                    <a:pt x="823369" y="1053703"/>
                  </a:lnTo>
                  <a:lnTo>
                    <a:pt x="774253" y="1054003"/>
                  </a:lnTo>
                  <a:lnTo>
                    <a:pt x="725357" y="1052024"/>
                  </a:lnTo>
                  <a:lnTo>
                    <a:pt x="676757" y="1047792"/>
                  </a:lnTo>
                  <a:lnTo>
                    <a:pt x="628526" y="1041333"/>
                  </a:lnTo>
                  <a:lnTo>
                    <a:pt x="580739" y="1032674"/>
                  </a:lnTo>
                  <a:lnTo>
                    <a:pt x="533470" y="1021841"/>
                  </a:lnTo>
                  <a:lnTo>
                    <a:pt x="486794" y="1008860"/>
                  </a:lnTo>
                  <a:lnTo>
                    <a:pt x="440785" y="993759"/>
                  </a:lnTo>
                  <a:lnTo>
                    <a:pt x="395517" y="976562"/>
                  </a:lnTo>
                  <a:lnTo>
                    <a:pt x="351066" y="957297"/>
                  </a:lnTo>
                  <a:lnTo>
                    <a:pt x="307504" y="935991"/>
                  </a:lnTo>
                  <a:lnTo>
                    <a:pt x="264908" y="912668"/>
                  </a:lnTo>
                  <a:lnTo>
                    <a:pt x="223351" y="887357"/>
                  </a:lnTo>
                  <a:lnTo>
                    <a:pt x="182907" y="860083"/>
                  </a:lnTo>
                  <a:lnTo>
                    <a:pt x="143652" y="830873"/>
                  </a:lnTo>
                  <a:lnTo>
                    <a:pt x="105659" y="799753"/>
                  </a:lnTo>
                  <a:lnTo>
                    <a:pt x="69003" y="766749"/>
                  </a:lnTo>
                  <a:lnTo>
                    <a:pt x="33758" y="731889"/>
                  </a:lnTo>
                  <a:lnTo>
                    <a:pt x="0" y="695197"/>
                  </a:lnTo>
                  <a:lnTo>
                    <a:pt x="792479" y="0"/>
                  </a:lnTo>
                  <a:lnTo>
                    <a:pt x="971295" y="103886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38322" y="3268344"/>
              <a:ext cx="1054100" cy="1749425"/>
            </a:xfrm>
            <a:custGeom>
              <a:avLst/>
              <a:gdLst/>
              <a:ahLst/>
              <a:cxnLst/>
              <a:rect l="l" t="t" r="r" b="b"/>
              <a:pathLst>
                <a:path w="1054100" h="1749425">
                  <a:moveTo>
                    <a:pt x="1054026" y="0"/>
                  </a:moveTo>
                  <a:lnTo>
                    <a:pt x="1002977" y="1236"/>
                  </a:lnTo>
                  <a:lnTo>
                    <a:pt x="952246" y="4923"/>
                  </a:lnTo>
                  <a:lnTo>
                    <a:pt x="901916" y="11030"/>
                  </a:lnTo>
                  <a:lnTo>
                    <a:pt x="852068" y="19527"/>
                  </a:lnTo>
                  <a:lnTo>
                    <a:pt x="802782" y="30381"/>
                  </a:lnTo>
                  <a:lnTo>
                    <a:pt x="754141" y="43562"/>
                  </a:lnTo>
                  <a:lnTo>
                    <a:pt x="706226" y="59038"/>
                  </a:lnTo>
                  <a:lnTo>
                    <a:pt x="659119" y="76778"/>
                  </a:lnTo>
                  <a:lnTo>
                    <a:pt x="612901" y="96752"/>
                  </a:lnTo>
                  <a:lnTo>
                    <a:pt x="567653" y="118928"/>
                  </a:lnTo>
                  <a:lnTo>
                    <a:pt x="523458" y="143275"/>
                  </a:lnTo>
                  <a:lnTo>
                    <a:pt x="480396" y="169761"/>
                  </a:lnTo>
                  <a:lnTo>
                    <a:pt x="438549" y="198356"/>
                  </a:lnTo>
                  <a:lnTo>
                    <a:pt x="397999" y="229028"/>
                  </a:lnTo>
                  <a:lnTo>
                    <a:pt x="358828" y="261746"/>
                  </a:lnTo>
                  <a:lnTo>
                    <a:pt x="323260" y="294382"/>
                  </a:lnTo>
                  <a:lnTo>
                    <a:pt x="289523" y="328259"/>
                  </a:lnTo>
                  <a:lnTo>
                    <a:pt x="257620" y="363310"/>
                  </a:lnTo>
                  <a:lnTo>
                    <a:pt x="227555" y="399471"/>
                  </a:lnTo>
                  <a:lnTo>
                    <a:pt x="199333" y="436676"/>
                  </a:lnTo>
                  <a:lnTo>
                    <a:pt x="172957" y="474859"/>
                  </a:lnTo>
                  <a:lnTo>
                    <a:pt x="148433" y="513954"/>
                  </a:lnTo>
                  <a:lnTo>
                    <a:pt x="125764" y="553896"/>
                  </a:lnTo>
                  <a:lnTo>
                    <a:pt x="104955" y="594619"/>
                  </a:lnTo>
                  <a:lnTo>
                    <a:pt x="86009" y="636058"/>
                  </a:lnTo>
                  <a:lnTo>
                    <a:pt x="68932" y="678146"/>
                  </a:lnTo>
                  <a:lnTo>
                    <a:pt x="53727" y="720819"/>
                  </a:lnTo>
                  <a:lnTo>
                    <a:pt x="40398" y="764009"/>
                  </a:lnTo>
                  <a:lnTo>
                    <a:pt x="28950" y="807653"/>
                  </a:lnTo>
                  <a:lnTo>
                    <a:pt x="19388" y="851683"/>
                  </a:lnTo>
                  <a:lnTo>
                    <a:pt x="11715" y="896035"/>
                  </a:lnTo>
                  <a:lnTo>
                    <a:pt x="5935" y="940643"/>
                  </a:lnTo>
                  <a:lnTo>
                    <a:pt x="2053" y="985440"/>
                  </a:lnTo>
                  <a:lnTo>
                    <a:pt x="73" y="1030362"/>
                  </a:lnTo>
                  <a:lnTo>
                    <a:pt x="0" y="1075343"/>
                  </a:lnTo>
                  <a:lnTo>
                    <a:pt x="1837" y="1120316"/>
                  </a:lnTo>
                  <a:lnTo>
                    <a:pt x="5588" y="1165217"/>
                  </a:lnTo>
                  <a:lnTo>
                    <a:pt x="11259" y="1209980"/>
                  </a:lnTo>
                  <a:lnTo>
                    <a:pt x="18853" y="1254538"/>
                  </a:lnTo>
                  <a:lnTo>
                    <a:pt x="28375" y="1298827"/>
                  </a:lnTo>
                  <a:lnTo>
                    <a:pt x="39829" y="1342781"/>
                  </a:lnTo>
                  <a:lnTo>
                    <a:pt x="53218" y="1386333"/>
                  </a:lnTo>
                  <a:lnTo>
                    <a:pt x="68548" y="1429419"/>
                  </a:lnTo>
                  <a:lnTo>
                    <a:pt x="85822" y="1471973"/>
                  </a:lnTo>
                  <a:lnTo>
                    <a:pt x="105045" y="1513928"/>
                  </a:lnTo>
                  <a:lnTo>
                    <a:pt x="126221" y="1555220"/>
                  </a:lnTo>
                  <a:lnTo>
                    <a:pt x="149355" y="1595782"/>
                  </a:lnTo>
                  <a:lnTo>
                    <a:pt x="174450" y="1635550"/>
                  </a:lnTo>
                  <a:lnTo>
                    <a:pt x="201510" y="1674456"/>
                  </a:lnTo>
                  <a:lnTo>
                    <a:pt x="230541" y="1712436"/>
                  </a:lnTo>
                  <a:lnTo>
                    <a:pt x="261546" y="1749424"/>
                  </a:lnTo>
                  <a:lnTo>
                    <a:pt x="1054026" y="1054227"/>
                  </a:lnTo>
                  <a:lnTo>
                    <a:pt x="1054026" y="0"/>
                  </a:lnTo>
                  <a:close/>
                </a:path>
              </a:pathLst>
            </a:custGeom>
            <a:solidFill>
              <a:srgbClr val="E766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38322" y="3268344"/>
              <a:ext cx="1054100" cy="1749425"/>
            </a:xfrm>
            <a:custGeom>
              <a:avLst/>
              <a:gdLst/>
              <a:ahLst/>
              <a:cxnLst/>
              <a:rect l="l" t="t" r="r" b="b"/>
              <a:pathLst>
                <a:path w="1054100" h="1749425">
                  <a:moveTo>
                    <a:pt x="261546" y="1749424"/>
                  </a:moveTo>
                  <a:lnTo>
                    <a:pt x="230541" y="1712436"/>
                  </a:lnTo>
                  <a:lnTo>
                    <a:pt x="201510" y="1674456"/>
                  </a:lnTo>
                  <a:lnTo>
                    <a:pt x="174450" y="1635550"/>
                  </a:lnTo>
                  <a:lnTo>
                    <a:pt x="149355" y="1595782"/>
                  </a:lnTo>
                  <a:lnTo>
                    <a:pt x="126221" y="1555220"/>
                  </a:lnTo>
                  <a:lnTo>
                    <a:pt x="105045" y="1513928"/>
                  </a:lnTo>
                  <a:lnTo>
                    <a:pt x="85822" y="1471973"/>
                  </a:lnTo>
                  <a:lnTo>
                    <a:pt x="68548" y="1429419"/>
                  </a:lnTo>
                  <a:lnTo>
                    <a:pt x="53218" y="1386333"/>
                  </a:lnTo>
                  <a:lnTo>
                    <a:pt x="39829" y="1342781"/>
                  </a:lnTo>
                  <a:lnTo>
                    <a:pt x="28375" y="1298827"/>
                  </a:lnTo>
                  <a:lnTo>
                    <a:pt x="18853" y="1254538"/>
                  </a:lnTo>
                  <a:lnTo>
                    <a:pt x="11259" y="1209980"/>
                  </a:lnTo>
                  <a:lnTo>
                    <a:pt x="5588" y="1165217"/>
                  </a:lnTo>
                  <a:lnTo>
                    <a:pt x="1837" y="1120316"/>
                  </a:lnTo>
                  <a:lnTo>
                    <a:pt x="0" y="1075343"/>
                  </a:lnTo>
                  <a:lnTo>
                    <a:pt x="73" y="1030362"/>
                  </a:lnTo>
                  <a:lnTo>
                    <a:pt x="2053" y="985440"/>
                  </a:lnTo>
                  <a:lnTo>
                    <a:pt x="5935" y="940643"/>
                  </a:lnTo>
                  <a:lnTo>
                    <a:pt x="11715" y="896035"/>
                  </a:lnTo>
                  <a:lnTo>
                    <a:pt x="19388" y="851683"/>
                  </a:lnTo>
                  <a:lnTo>
                    <a:pt x="28950" y="807653"/>
                  </a:lnTo>
                  <a:lnTo>
                    <a:pt x="40398" y="764009"/>
                  </a:lnTo>
                  <a:lnTo>
                    <a:pt x="53727" y="720819"/>
                  </a:lnTo>
                  <a:lnTo>
                    <a:pt x="68932" y="678146"/>
                  </a:lnTo>
                  <a:lnTo>
                    <a:pt x="86009" y="636058"/>
                  </a:lnTo>
                  <a:lnTo>
                    <a:pt x="104955" y="594619"/>
                  </a:lnTo>
                  <a:lnTo>
                    <a:pt x="125764" y="553896"/>
                  </a:lnTo>
                  <a:lnTo>
                    <a:pt x="148433" y="513954"/>
                  </a:lnTo>
                  <a:lnTo>
                    <a:pt x="172957" y="474859"/>
                  </a:lnTo>
                  <a:lnTo>
                    <a:pt x="199333" y="436676"/>
                  </a:lnTo>
                  <a:lnTo>
                    <a:pt x="227555" y="399471"/>
                  </a:lnTo>
                  <a:lnTo>
                    <a:pt x="257620" y="363310"/>
                  </a:lnTo>
                  <a:lnTo>
                    <a:pt x="289523" y="328259"/>
                  </a:lnTo>
                  <a:lnTo>
                    <a:pt x="323260" y="294382"/>
                  </a:lnTo>
                  <a:lnTo>
                    <a:pt x="358828" y="261746"/>
                  </a:lnTo>
                  <a:lnTo>
                    <a:pt x="397999" y="229028"/>
                  </a:lnTo>
                  <a:lnTo>
                    <a:pt x="438549" y="198356"/>
                  </a:lnTo>
                  <a:lnTo>
                    <a:pt x="480396" y="169761"/>
                  </a:lnTo>
                  <a:lnTo>
                    <a:pt x="523458" y="143275"/>
                  </a:lnTo>
                  <a:lnTo>
                    <a:pt x="567653" y="118928"/>
                  </a:lnTo>
                  <a:lnTo>
                    <a:pt x="612901" y="96752"/>
                  </a:lnTo>
                  <a:lnTo>
                    <a:pt x="659119" y="76778"/>
                  </a:lnTo>
                  <a:lnTo>
                    <a:pt x="706226" y="59038"/>
                  </a:lnTo>
                  <a:lnTo>
                    <a:pt x="754141" y="43562"/>
                  </a:lnTo>
                  <a:lnTo>
                    <a:pt x="802782" y="30381"/>
                  </a:lnTo>
                  <a:lnTo>
                    <a:pt x="852068" y="19527"/>
                  </a:lnTo>
                  <a:lnTo>
                    <a:pt x="901916" y="11030"/>
                  </a:lnTo>
                  <a:lnTo>
                    <a:pt x="952246" y="4923"/>
                  </a:lnTo>
                  <a:lnTo>
                    <a:pt x="1002977" y="1236"/>
                  </a:lnTo>
                  <a:lnTo>
                    <a:pt x="1054026" y="0"/>
                  </a:lnTo>
                  <a:lnTo>
                    <a:pt x="1054026" y="1054227"/>
                  </a:lnTo>
                  <a:lnTo>
                    <a:pt x="261546" y="174942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924553" y="3401821"/>
            <a:ext cx="701675" cy="29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060"/>
              </a:lnSpc>
              <a:spcBef>
                <a:spcPts val="100"/>
              </a:spcBef>
            </a:pPr>
            <a:r>
              <a:rPr dirty="0" sz="90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r>
              <a:rPr dirty="0" sz="9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dirty="0" sz="9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404040"/>
                </a:solidFill>
                <a:latin typeface="Trebuchet MS"/>
                <a:cs typeface="Trebuchet MS"/>
              </a:rPr>
              <a:t>Unassiged</a:t>
            </a:r>
            <a:endParaRPr sz="900">
              <a:latin typeface="Trebuchet MS"/>
              <a:cs typeface="Trebuchet MS"/>
            </a:endParaRPr>
          </a:p>
          <a:p>
            <a:pPr algn="ctr">
              <a:lnSpc>
                <a:spcPts val="1060"/>
              </a:lnSpc>
            </a:pPr>
            <a:r>
              <a:rPr dirty="0" sz="900" spc="-25">
                <a:solidFill>
                  <a:srgbClr val="404040"/>
                </a:solidFill>
                <a:latin typeface="Trebuchet MS"/>
                <a:cs typeface="Trebuchet MS"/>
              </a:rPr>
              <a:t>30%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24402" y="5291073"/>
            <a:ext cx="400685" cy="29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060"/>
              </a:lnSpc>
              <a:spcBef>
                <a:spcPts val="100"/>
              </a:spcBef>
            </a:pPr>
            <a:r>
              <a:rPr dirty="0" sz="90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r>
              <a:rPr dirty="0" sz="9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dirty="0" sz="9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Trebuchet MS"/>
                <a:cs typeface="Trebuchet MS"/>
              </a:rPr>
              <a:t>Low</a:t>
            </a:r>
            <a:endParaRPr sz="900">
              <a:latin typeface="Trebuchet MS"/>
              <a:cs typeface="Trebuchet MS"/>
            </a:endParaRPr>
          </a:p>
          <a:p>
            <a:pPr algn="ctr">
              <a:lnSpc>
                <a:spcPts val="1060"/>
              </a:lnSpc>
            </a:pPr>
            <a:r>
              <a:rPr dirty="0" sz="900" spc="-25">
                <a:solidFill>
                  <a:srgbClr val="404040"/>
                </a:solidFill>
                <a:latin typeface="Trebuchet MS"/>
                <a:cs typeface="Trebuchet MS"/>
              </a:rPr>
              <a:t>17%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86355" y="5513323"/>
            <a:ext cx="374015" cy="29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060"/>
              </a:lnSpc>
              <a:spcBef>
                <a:spcPts val="100"/>
              </a:spcBef>
            </a:pPr>
            <a:r>
              <a:rPr dirty="0" sz="900">
                <a:solidFill>
                  <a:srgbClr val="404040"/>
                </a:solidFill>
                <a:latin typeface="Trebuchet MS"/>
                <a:cs typeface="Trebuchet MS"/>
              </a:rPr>
              <a:t>2</a:t>
            </a:r>
            <a:r>
              <a:rPr dirty="0" sz="9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dirty="0" sz="9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Trebuchet MS"/>
                <a:cs typeface="Trebuchet MS"/>
              </a:rPr>
              <a:t>Mid</a:t>
            </a:r>
            <a:endParaRPr sz="900">
              <a:latin typeface="Trebuchet MS"/>
              <a:cs typeface="Trebuchet MS"/>
            </a:endParaRPr>
          </a:p>
          <a:p>
            <a:pPr algn="ctr" marL="635">
              <a:lnSpc>
                <a:spcPts val="1060"/>
              </a:lnSpc>
            </a:pPr>
            <a:r>
              <a:rPr dirty="0" sz="900" spc="-25">
                <a:solidFill>
                  <a:srgbClr val="404040"/>
                </a:solidFill>
                <a:latin typeface="Trebuchet MS"/>
                <a:cs typeface="Trebuchet MS"/>
              </a:rPr>
              <a:t>16%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9944" y="3649471"/>
            <a:ext cx="423545" cy="29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060"/>
              </a:lnSpc>
              <a:spcBef>
                <a:spcPts val="100"/>
              </a:spcBef>
            </a:pPr>
            <a:r>
              <a:rPr dirty="0" sz="900">
                <a:solidFill>
                  <a:srgbClr val="404040"/>
                </a:solidFill>
                <a:latin typeface="Trebuchet MS"/>
                <a:cs typeface="Trebuchet MS"/>
              </a:rPr>
              <a:t>3</a:t>
            </a:r>
            <a:r>
              <a:rPr dirty="0" sz="9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dirty="0" sz="900" spc="-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404040"/>
                </a:solidFill>
                <a:latin typeface="Trebuchet MS"/>
                <a:cs typeface="Trebuchet MS"/>
              </a:rPr>
              <a:t>High</a:t>
            </a:r>
            <a:endParaRPr sz="900">
              <a:latin typeface="Trebuchet MS"/>
              <a:cs typeface="Trebuchet MS"/>
            </a:endParaRPr>
          </a:p>
          <a:p>
            <a:pPr algn="ctr">
              <a:lnSpc>
                <a:spcPts val="1060"/>
              </a:lnSpc>
            </a:pPr>
            <a:r>
              <a:rPr dirty="0" sz="900" spc="-25">
                <a:solidFill>
                  <a:srgbClr val="404040"/>
                </a:solidFill>
                <a:latin typeface="Trebuchet MS"/>
                <a:cs typeface="Trebuchet MS"/>
              </a:rPr>
              <a:t>37%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56611" y="2624836"/>
            <a:ext cx="203009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Ticket</a:t>
            </a:r>
            <a:r>
              <a:rPr dirty="0" sz="1400" spc="-5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rebuchet MS"/>
                <a:cs typeface="Trebuchet MS"/>
              </a:rPr>
              <a:t>Volume</a:t>
            </a:r>
            <a:r>
              <a:rPr dirty="0" sz="1400" spc="-6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by</a:t>
            </a:r>
            <a:r>
              <a:rPr dirty="0" sz="1400" spc="-6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rebuchet MS"/>
                <a:cs typeface="Trebuchet MS"/>
              </a:rPr>
              <a:t>Priority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749165" y="4029075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60198" y="0"/>
                </a:moveTo>
                <a:lnTo>
                  <a:pt x="0" y="0"/>
                </a:lnTo>
                <a:lnTo>
                  <a:pt x="0" y="60198"/>
                </a:lnTo>
                <a:lnTo>
                  <a:pt x="60198" y="60198"/>
                </a:lnTo>
                <a:lnTo>
                  <a:pt x="60198" y="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821935" y="3898646"/>
            <a:ext cx="701675" cy="855980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106680" indent="-93980">
              <a:lnSpc>
                <a:spcPct val="100000"/>
              </a:lnSpc>
              <a:spcBef>
                <a:spcPts val="650"/>
              </a:spcBef>
              <a:buAutoNum type="arabicPlain"/>
              <a:tabLst>
                <a:tab pos="106680" algn="l"/>
              </a:tabLst>
            </a:pP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Unassiged</a:t>
            </a:r>
            <a:endParaRPr sz="900">
              <a:latin typeface="Trebuchet MS"/>
              <a:cs typeface="Trebuchet MS"/>
            </a:endParaRPr>
          </a:p>
          <a:p>
            <a:pPr marL="106680" indent="-93980">
              <a:lnSpc>
                <a:spcPct val="100000"/>
              </a:lnSpc>
              <a:spcBef>
                <a:spcPts val="555"/>
              </a:spcBef>
              <a:buAutoNum type="arabicPlain"/>
              <a:tabLst>
                <a:tab pos="106680" algn="l"/>
              </a:tabLst>
            </a:pP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Low</a:t>
            </a:r>
            <a:endParaRPr sz="900">
              <a:latin typeface="Trebuchet MS"/>
              <a:cs typeface="Trebuchet MS"/>
            </a:endParaRPr>
          </a:p>
          <a:p>
            <a:pPr marL="106680" indent="-93980">
              <a:lnSpc>
                <a:spcPct val="100000"/>
              </a:lnSpc>
              <a:spcBef>
                <a:spcPts val="555"/>
              </a:spcBef>
              <a:buAutoNum type="arabicPlain"/>
              <a:tabLst>
                <a:tab pos="106680" algn="l"/>
              </a:tabLst>
            </a:pP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585858"/>
                </a:solidFill>
                <a:latin typeface="Trebuchet MS"/>
                <a:cs typeface="Trebuchet MS"/>
              </a:rPr>
              <a:t>Mid</a:t>
            </a:r>
            <a:endParaRPr sz="900">
              <a:latin typeface="Trebuchet MS"/>
              <a:cs typeface="Trebuchet MS"/>
            </a:endParaRPr>
          </a:p>
          <a:p>
            <a:pPr marL="106680" indent="-93980">
              <a:lnSpc>
                <a:spcPct val="100000"/>
              </a:lnSpc>
              <a:spcBef>
                <a:spcPts val="555"/>
              </a:spcBef>
              <a:buAutoNum type="arabicPlain"/>
              <a:tabLst>
                <a:tab pos="106680" algn="l"/>
              </a:tabLst>
            </a:pP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 spc="-20">
                <a:solidFill>
                  <a:srgbClr val="585858"/>
                </a:solidFill>
                <a:latin typeface="Trebuchet MS"/>
                <a:cs typeface="Trebuchet MS"/>
              </a:rPr>
              <a:t>High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49165" y="4237101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198" y="0"/>
                </a:moveTo>
                <a:lnTo>
                  <a:pt x="0" y="0"/>
                </a:lnTo>
                <a:lnTo>
                  <a:pt x="0" y="59436"/>
                </a:lnTo>
                <a:lnTo>
                  <a:pt x="60198" y="59436"/>
                </a:lnTo>
                <a:lnTo>
                  <a:pt x="60198" y="0"/>
                </a:lnTo>
                <a:close/>
              </a:path>
            </a:pathLst>
          </a:custGeom>
          <a:solidFill>
            <a:srgbClr val="539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49165" y="4444365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198" y="0"/>
                </a:moveTo>
                <a:lnTo>
                  <a:pt x="0" y="0"/>
                </a:lnTo>
                <a:lnTo>
                  <a:pt x="0" y="59436"/>
                </a:lnTo>
                <a:lnTo>
                  <a:pt x="60198" y="59436"/>
                </a:lnTo>
                <a:lnTo>
                  <a:pt x="60198" y="0"/>
                </a:lnTo>
                <a:close/>
              </a:path>
            </a:pathLst>
          </a:custGeom>
          <a:solidFill>
            <a:srgbClr val="E6B8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49165" y="4651628"/>
            <a:ext cx="60325" cy="60325"/>
          </a:xfrm>
          <a:custGeom>
            <a:avLst/>
            <a:gdLst/>
            <a:ahLst/>
            <a:cxnLst/>
            <a:rect l="l" t="t" r="r" b="b"/>
            <a:pathLst>
              <a:path w="60325" h="60325">
                <a:moveTo>
                  <a:pt x="60198" y="0"/>
                </a:moveTo>
                <a:lnTo>
                  <a:pt x="0" y="0"/>
                </a:lnTo>
                <a:lnTo>
                  <a:pt x="0" y="60198"/>
                </a:lnTo>
                <a:lnTo>
                  <a:pt x="60198" y="60198"/>
                </a:lnTo>
                <a:lnTo>
                  <a:pt x="60198" y="0"/>
                </a:lnTo>
                <a:close/>
              </a:path>
            </a:pathLst>
          </a:custGeom>
          <a:solidFill>
            <a:srgbClr val="E7661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569" y="1019555"/>
            <a:ext cx="10293858" cy="133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22425" y="1190497"/>
            <a:ext cx="952944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Ticket</a:t>
            </a:r>
            <a:r>
              <a:rPr dirty="0" spc="-235"/>
              <a:t> </a:t>
            </a:r>
            <a:r>
              <a:rPr dirty="0"/>
              <a:t>Volume</a:t>
            </a:r>
            <a:r>
              <a:rPr dirty="0" spc="-235"/>
              <a:t> </a:t>
            </a:r>
            <a:r>
              <a:rPr dirty="0"/>
              <a:t>by</a:t>
            </a:r>
            <a:r>
              <a:rPr dirty="0" spc="-225"/>
              <a:t> </a:t>
            </a:r>
            <a:r>
              <a:rPr dirty="0"/>
              <a:t>Satisfaction</a:t>
            </a:r>
            <a:r>
              <a:rPr dirty="0" spc="-220"/>
              <a:t> </a:t>
            </a:r>
            <a:r>
              <a:rPr dirty="0" spc="-20"/>
              <a:t>Rate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72961" y="2855468"/>
            <a:ext cx="473456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Customer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Satisfaction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largely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positive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—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Rating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5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accounts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~52%</a:t>
            </a:r>
            <a:r>
              <a:rPr dirty="0" sz="14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(50,770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tickets)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showing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than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half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users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highly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satisfied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support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services.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2961" y="3622802"/>
            <a:ext cx="458978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4965" marR="5080" indent="-342900">
              <a:lnSpc>
                <a:spcPct val="100000"/>
              </a:lnSpc>
              <a:spcBef>
                <a:spcPts val="95"/>
              </a:spcBef>
            </a:pPr>
            <a:r>
              <a:rPr dirty="0" sz="1100" spc="10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 spc="434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Rating</a:t>
            </a:r>
            <a:r>
              <a:rPr dirty="0" sz="14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4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contributes</a:t>
            </a:r>
            <a:r>
              <a:rPr dirty="0" sz="14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~28%</a:t>
            </a:r>
            <a:r>
              <a:rPr dirty="0" sz="1400" spc="-1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(27,562</a:t>
            </a:r>
            <a:r>
              <a:rPr dirty="0" sz="1400" spc="-1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tickets),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meaning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~80%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users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(4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dirty="0" sz="14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5)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satisfied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overall,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indicating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strong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service performance.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72961" y="4390135"/>
            <a:ext cx="4639945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Low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satisfaction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(Rating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2)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together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~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12%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(11,884 tickets)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signaling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small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important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segment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where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service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quality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communication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needs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improvement.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2961" y="5156961"/>
            <a:ext cx="474472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Neutral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rating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(3)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~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7.5%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(7,282</a:t>
            </a:r>
            <a:r>
              <a:rPr dirty="0" sz="14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tickets)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suggesting opportunities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convert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neutral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experiences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into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positive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by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faster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resolution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clearer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updates.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28191" y="3721608"/>
            <a:ext cx="3392170" cy="1786255"/>
            <a:chOff x="1528191" y="3721608"/>
            <a:chExt cx="3392170" cy="1786255"/>
          </a:xfrm>
        </p:grpSpPr>
        <p:sp>
          <p:nvSpPr>
            <p:cNvPr id="9" name="object 9"/>
            <p:cNvSpPr/>
            <p:nvPr/>
          </p:nvSpPr>
          <p:spPr>
            <a:xfrm>
              <a:off x="1528191" y="3748659"/>
              <a:ext cx="3392170" cy="1403985"/>
            </a:xfrm>
            <a:custGeom>
              <a:avLst/>
              <a:gdLst/>
              <a:ahLst/>
              <a:cxnLst/>
              <a:rect l="l" t="t" r="r" b="b"/>
              <a:pathLst>
                <a:path w="3392170" h="1403985">
                  <a:moveTo>
                    <a:pt x="0" y="1403604"/>
                  </a:moveTo>
                  <a:lnTo>
                    <a:pt x="2267331" y="1403604"/>
                  </a:lnTo>
                </a:path>
                <a:path w="3392170" h="1403985">
                  <a:moveTo>
                    <a:pt x="2480691" y="1403604"/>
                  </a:moveTo>
                  <a:lnTo>
                    <a:pt x="2946273" y="1403604"/>
                  </a:lnTo>
                </a:path>
                <a:path w="3392170" h="1403985">
                  <a:moveTo>
                    <a:pt x="3158871" y="1403604"/>
                  </a:moveTo>
                  <a:lnTo>
                    <a:pt x="3391662" y="1403604"/>
                  </a:lnTo>
                </a:path>
                <a:path w="3392170" h="1403985">
                  <a:moveTo>
                    <a:pt x="0" y="1052322"/>
                  </a:moveTo>
                  <a:lnTo>
                    <a:pt x="2267331" y="1052322"/>
                  </a:lnTo>
                </a:path>
                <a:path w="3392170" h="1403985">
                  <a:moveTo>
                    <a:pt x="2480691" y="1052322"/>
                  </a:moveTo>
                  <a:lnTo>
                    <a:pt x="2946273" y="1052322"/>
                  </a:lnTo>
                </a:path>
                <a:path w="3392170" h="1403985">
                  <a:moveTo>
                    <a:pt x="3158871" y="1052322"/>
                  </a:moveTo>
                  <a:lnTo>
                    <a:pt x="3391662" y="1052322"/>
                  </a:lnTo>
                </a:path>
                <a:path w="3392170" h="1403985">
                  <a:moveTo>
                    <a:pt x="0" y="701802"/>
                  </a:moveTo>
                  <a:lnTo>
                    <a:pt x="2946273" y="701802"/>
                  </a:lnTo>
                </a:path>
                <a:path w="3392170" h="1403985">
                  <a:moveTo>
                    <a:pt x="3158871" y="701802"/>
                  </a:moveTo>
                  <a:lnTo>
                    <a:pt x="3391662" y="701802"/>
                  </a:lnTo>
                </a:path>
                <a:path w="3392170" h="1403985">
                  <a:moveTo>
                    <a:pt x="0" y="350520"/>
                  </a:moveTo>
                  <a:lnTo>
                    <a:pt x="2946273" y="350520"/>
                  </a:lnTo>
                </a:path>
                <a:path w="3392170" h="1403985">
                  <a:moveTo>
                    <a:pt x="3158871" y="350520"/>
                  </a:moveTo>
                  <a:lnTo>
                    <a:pt x="3391662" y="350520"/>
                  </a:lnTo>
                </a:path>
                <a:path w="3392170" h="1403985">
                  <a:moveTo>
                    <a:pt x="0" y="0"/>
                  </a:moveTo>
                  <a:lnTo>
                    <a:pt x="2946273" y="0"/>
                  </a:lnTo>
                </a:path>
                <a:path w="3392170" h="1403985">
                  <a:moveTo>
                    <a:pt x="3158871" y="0"/>
                  </a:moveTo>
                  <a:lnTo>
                    <a:pt x="3391662" y="0"/>
                  </a:lnTo>
                </a:path>
              </a:pathLst>
            </a:custGeom>
            <a:ln w="990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60982" y="3721607"/>
              <a:ext cx="2926080" cy="1781810"/>
            </a:xfrm>
            <a:custGeom>
              <a:avLst/>
              <a:gdLst/>
              <a:ahLst/>
              <a:cxnLst/>
              <a:rect l="l" t="t" r="r" b="b"/>
              <a:pathLst>
                <a:path w="2926079" h="1781810">
                  <a:moveTo>
                    <a:pt x="212598" y="1433322"/>
                  </a:moveTo>
                  <a:lnTo>
                    <a:pt x="0" y="1433322"/>
                  </a:lnTo>
                  <a:lnTo>
                    <a:pt x="0" y="1781556"/>
                  </a:lnTo>
                  <a:lnTo>
                    <a:pt x="212598" y="1781556"/>
                  </a:lnTo>
                  <a:lnTo>
                    <a:pt x="212598" y="1433322"/>
                  </a:lnTo>
                  <a:close/>
                </a:path>
                <a:path w="2926079" h="1781810">
                  <a:moveTo>
                    <a:pt x="890778" y="1712214"/>
                  </a:moveTo>
                  <a:lnTo>
                    <a:pt x="678180" y="1712214"/>
                  </a:lnTo>
                  <a:lnTo>
                    <a:pt x="678180" y="1781556"/>
                  </a:lnTo>
                  <a:lnTo>
                    <a:pt x="890778" y="1781556"/>
                  </a:lnTo>
                  <a:lnTo>
                    <a:pt x="890778" y="1712214"/>
                  </a:lnTo>
                  <a:close/>
                </a:path>
                <a:path w="2926079" h="1781810">
                  <a:moveTo>
                    <a:pt x="1568958" y="1525524"/>
                  </a:moveTo>
                  <a:lnTo>
                    <a:pt x="1356360" y="1525524"/>
                  </a:lnTo>
                  <a:lnTo>
                    <a:pt x="1356360" y="1781556"/>
                  </a:lnTo>
                  <a:lnTo>
                    <a:pt x="1568958" y="1781556"/>
                  </a:lnTo>
                  <a:lnTo>
                    <a:pt x="1568958" y="1525524"/>
                  </a:lnTo>
                  <a:close/>
                </a:path>
                <a:path w="2926079" h="1781810">
                  <a:moveTo>
                    <a:pt x="2247900" y="814578"/>
                  </a:moveTo>
                  <a:lnTo>
                    <a:pt x="2034540" y="814578"/>
                  </a:lnTo>
                  <a:lnTo>
                    <a:pt x="2034540" y="1781556"/>
                  </a:lnTo>
                  <a:lnTo>
                    <a:pt x="2247900" y="1781556"/>
                  </a:lnTo>
                  <a:lnTo>
                    <a:pt x="2247900" y="814578"/>
                  </a:lnTo>
                  <a:close/>
                </a:path>
                <a:path w="2926079" h="1781810">
                  <a:moveTo>
                    <a:pt x="2926080" y="0"/>
                  </a:moveTo>
                  <a:lnTo>
                    <a:pt x="2713482" y="0"/>
                  </a:lnTo>
                  <a:lnTo>
                    <a:pt x="2713482" y="1781556"/>
                  </a:lnTo>
                  <a:lnTo>
                    <a:pt x="2926080" y="1781556"/>
                  </a:lnTo>
                  <a:lnTo>
                    <a:pt x="2926080" y="0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28191" y="5502783"/>
              <a:ext cx="3392170" cy="0"/>
            </a:xfrm>
            <a:custGeom>
              <a:avLst/>
              <a:gdLst/>
              <a:ahLst/>
              <a:cxnLst/>
              <a:rect l="l" t="t" r="r" b="b"/>
              <a:pathLst>
                <a:path w="3392170" h="0">
                  <a:moveTo>
                    <a:pt x="0" y="0"/>
                  </a:moveTo>
                  <a:lnTo>
                    <a:pt x="3391662" y="0"/>
                  </a:lnTo>
                </a:path>
              </a:pathLst>
            </a:custGeom>
            <a:ln w="990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1528191" y="3398139"/>
            <a:ext cx="3392170" cy="0"/>
          </a:xfrm>
          <a:custGeom>
            <a:avLst/>
            <a:gdLst/>
            <a:ahLst/>
            <a:cxnLst/>
            <a:rect l="l" t="t" r="r" b="b"/>
            <a:pathLst>
              <a:path w="3392170" h="0">
                <a:moveTo>
                  <a:pt x="0" y="0"/>
                </a:moveTo>
                <a:lnTo>
                  <a:pt x="3391662" y="0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353311" y="5412740"/>
            <a:ext cx="857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13536" y="5061966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10000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3536" y="4711192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20000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13536" y="4360164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30000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13536" y="4009390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40000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13536" y="3658616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50000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3536" y="3307588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60000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24735" y="5554979"/>
            <a:ext cx="857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Trebuchet MS"/>
                <a:cs typeface="Trebuchet MS"/>
              </a:rPr>
              <a:t>1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03170" y="5554979"/>
            <a:ext cx="857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Trebuchet MS"/>
                <a:cs typeface="Trebuchet MS"/>
              </a:rPr>
              <a:t>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81350" y="5554979"/>
            <a:ext cx="857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Trebuchet MS"/>
                <a:cs typeface="Trebuchet MS"/>
              </a:rPr>
              <a:t>3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59784" y="5554979"/>
            <a:ext cx="857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Trebuchet MS"/>
                <a:cs typeface="Trebuchet MS"/>
              </a:rPr>
              <a:t>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538217" y="5554979"/>
            <a:ext cx="857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Trebuchet MS"/>
                <a:cs typeface="Trebuchet MS"/>
              </a:rPr>
              <a:t>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22272" y="3009645"/>
            <a:ext cx="2797175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Ticket</a:t>
            </a:r>
            <a:r>
              <a:rPr dirty="0" sz="1400" spc="-6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rebuchet MS"/>
                <a:cs typeface="Trebuchet MS"/>
              </a:rPr>
              <a:t>Volume</a:t>
            </a:r>
            <a:r>
              <a:rPr dirty="0" sz="1400" spc="-6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by</a:t>
            </a:r>
            <a:r>
              <a:rPr dirty="0" sz="1400" spc="-7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Satisfaction</a:t>
            </a:r>
            <a:r>
              <a:rPr dirty="0" sz="1400" spc="-4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 spc="-20">
                <a:solidFill>
                  <a:srgbClr val="585858"/>
                </a:solidFill>
                <a:latin typeface="Trebuchet MS"/>
                <a:cs typeface="Trebuchet MS"/>
              </a:rPr>
              <a:t>Rate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117591" y="4494276"/>
            <a:ext cx="60325" cy="59690"/>
          </a:xfrm>
          <a:custGeom>
            <a:avLst/>
            <a:gdLst/>
            <a:ahLst/>
            <a:cxnLst/>
            <a:rect l="l" t="t" r="r" b="b"/>
            <a:pathLst>
              <a:path w="60325" h="59689">
                <a:moveTo>
                  <a:pt x="60198" y="0"/>
                </a:moveTo>
                <a:lnTo>
                  <a:pt x="0" y="0"/>
                </a:lnTo>
                <a:lnTo>
                  <a:pt x="0" y="59436"/>
                </a:lnTo>
                <a:lnTo>
                  <a:pt x="60198" y="59436"/>
                </a:lnTo>
                <a:lnTo>
                  <a:pt x="60198" y="0"/>
                </a:lnTo>
                <a:close/>
              </a:path>
            </a:pathLst>
          </a:custGeom>
          <a:solidFill>
            <a:srgbClr val="90C2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5190235" y="4433823"/>
            <a:ext cx="2927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Total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0729" y="947552"/>
            <a:ext cx="7121107" cy="62108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92430">
              <a:lnSpc>
                <a:spcPct val="100000"/>
              </a:lnSpc>
              <a:spcBef>
                <a:spcPts val="100"/>
              </a:spcBef>
            </a:pPr>
            <a:r>
              <a:rPr dirty="0"/>
              <a:t>Ticket</a:t>
            </a:r>
            <a:r>
              <a:rPr dirty="0" spc="-220"/>
              <a:t> </a:t>
            </a:r>
            <a:r>
              <a:rPr dirty="0"/>
              <a:t>Volume</a:t>
            </a:r>
            <a:r>
              <a:rPr dirty="0" spc="-215"/>
              <a:t> </a:t>
            </a:r>
            <a:r>
              <a:rPr dirty="0"/>
              <a:t>by</a:t>
            </a:r>
            <a:r>
              <a:rPr dirty="0" spc="-215"/>
              <a:t> </a:t>
            </a:r>
            <a:r>
              <a:rPr dirty="0" spc="-10"/>
              <a:t>Severity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09944" y="2159000"/>
            <a:ext cx="4641215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Normal</a:t>
            </a:r>
            <a:r>
              <a:rPr dirty="0" sz="1400" spc="-5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severity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dirty="0" sz="1400" spc="-6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~91%</a:t>
            </a:r>
            <a:r>
              <a:rPr dirty="0" sz="14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(88,656)</a:t>
            </a:r>
            <a:r>
              <a:rPr dirty="0" sz="14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14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total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tickets,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indicating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issues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routine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manageable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within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standard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support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workflows.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9944" y="2926333"/>
            <a:ext cx="4685665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Major</a:t>
            </a:r>
            <a:r>
              <a:rPr dirty="0" sz="1400" spc="-5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severity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account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14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~5%</a:t>
            </a:r>
            <a:r>
              <a:rPr dirty="0" sz="14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(4,836)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which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require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timely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handling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prevent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escalation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operational impact.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9944" y="3693414"/>
            <a:ext cx="431419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dirty="0" sz="1100" spc="10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 spc="440">
                <a:solidFill>
                  <a:srgbClr val="90C225"/>
                </a:solidFill>
                <a:latin typeface="Lucida Sans Unicode"/>
                <a:cs typeface="Lucida Sans Unicode"/>
              </a:rPr>
              <a:t> 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Urgent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severity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 tickets</a:t>
            </a:r>
            <a:r>
              <a:rPr dirty="0" sz="14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~1.4%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(1,392)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representing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critical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issues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immediate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attention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ensure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service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continuity.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09944" y="4460494"/>
            <a:ext cx="4674870" cy="665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Minor</a:t>
            </a:r>
            <a:r>
              <a:rPr dirty="0" sz="14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Unclassified</a:t>
            </a:r>
            <a:r>
              <a:rPr dirty="0" sz="14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together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up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~2.7%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(2,614)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showing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scope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improve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ticket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categorization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prioritization</a:t>
            </a:r>
            <a:r>
              <a:rPr dirty="0" sz="1400" spc="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quality.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8126" y="2580894"/>
            <a:ext cx="3314700" cy="2458720"/>
            <a:chOff x="1778126" y="2580894"/>
            <a:chExt cx="3314700" cy="2458720"/>
          </a:xfrm>
        </p:grpSpPr>
        <p:sp>
          <p:nvSpPr>
            <p:cNvPr id="9" name="object 9"/>
            <p:cNvSpPr/>
            <p:nvPr/>
          </p:nvSpPr>
          <p:spPr>
            <a:xfrm>
              <a:off x="1778126" y="2585847"/>
              <a:ext cx="3314700" cy="2448560"/>
            </a:xfrm>
            <a:custGeom>
              <a:avLst/>
              <a:gdLst/>
              <a:ahLst/>
              <a:cxnLst/>
              <a:rect l="l" t="t" r="r" b="b"/>
              <a:pathLst>
                <a:path w="3314700" h="2448560">
                  <a:moveTo>
                    <a:pt x="0" y="2176272"/>
                  </a:moveTo>
                  <a:lnTo>
                    <a:pt x="3314700" y="2176272"/>
                  </a:lnTo>
                </a:path>
                <a:path w="3314700" h="2448560">
                  <a:moveTo>
                    <a:pt x="0" y="1904238"/>
                  </a:moveTo>
                  <a:lnTo>
                    <a:pt x="3314700" y="1904238"/>
                  </a:lnTo>
                </a:path>
                <a:path w="3314700" h="2448560">
                  <a:moveTo>
                    <a:pt x="0" y="1632203"/>
                  </a:moveTo>
                  <a:lnTo>
                    <a:pt x="3314700" y="1632203"/>
                  </a:lnTo>
                </a:path>
                <a:path w="3314700" h="2448560">
                  <a:moveTo>
                    <a:pt x="0" y="1360170"/>
                  </a:moveTo>
                  <a:lnTo>
                    <a:pt x="3314700" y="1360170"/>
                  </a:lnTo>
                </a:path>
                <a:path w="3314700" h="2448560">
                  <a:moveTo>
                    <a:pt x="0" y="1088135"/>
                  </a:moveTo>
                  <a:lnTo>
                    <a:pt x="3314700" y="1088135"/>
                  </a:lnTo>
                </a:path>
                <a:path w="3314700" h="2448560">
                  <a:moveTo>
                    <a:pt x="0" y="816101"/>
                  </a:moveTo>
                  <a:lnTo>
                    <a:pt x="3314700" y="816101"/>
                  </a:lnTo>
                </a:path>
                <a:path w="3314700" h="2448560">
                  <a:moveTo>
                    <a:pt x="0" y="544067"/>
                  </a:moveTo>
                  <a:lnTo>
                    <a:pt x="3314700" y="544067"/>
                  </a:lnTo>
                </a:path>
                <a:path w="3314700" h="2448560">
                  <a:moveTo>
                    <a:pt x="0" y="272033"/>
                  </a:moveTo>
                  <a:lnTo>
                    <a:pt x="3314700" y="272033"/>
                  </a:lnTo>
                </a:path>
                <a:path w="3314700" h="2448560">
                  <a:moveTo>
                    <a:pt x="0" y="0"/>
                  </a:moveTo>
                  <a:lnTo>
                    <a:pt x="3314700" y="0"/>
                  </a:lnTo>
                </a:path>
                <a:path w="3314700" h="2448560">
                  <a:moveTo>
                    <a:pt x="0" y="2448305"/>
                  </a:moveTo>
                  <a:lnTo>
                    <a:pt x="3314700" y="2448305"/>
                  </a:lnTo>
                </a:path>
              </a:pathLst>
            </a:custGeom>
            <a:ln w="990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09215" y="2622804"/>
              <a:ext cx="2653030" cy="2402205"/>
            </a:xfrm>
            <a:custGeom>
              <a:avLst/>
              <a:gdLst/>
              <a:ahLst/>
              <a:cxnLst/>
              <a:rect l="l" t="t" r="r" b="b"/>
              <a:pathLst>
                <a:path w="2653029" h="2402204">
                  <a:moveTo>
                    <a:pt x="0" y="2401824"/>
                  </a:moveTo>
                  <a:lnTo>
                    <a:pt x="662939" y="2350008"/>
                  </a:lnTo>
                  <a:lnTo>
                    <a:pt x="1326642" y="0"/>
                  </a:lnTo>
                  <a:lnTo>
                    <a:pt x="1989582" y="2279904"/>
                  </a:lnTo>
                  <a:lnTo>
                    <a:pt x="2652522" y="2373630"/>
                  </a:lnTo>
                </a:path>
              </a:pathLst>
            </a:custGeom>
            <a:ln w="28956">
              <a:solidFill>
                <a:srgbClr val="90C2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1778126" y="2313813"/>
            <a:ext cx="3314700" cy="0"/>
          </a:xfrm>
          <a:custGeom>
            <a:avLst/>
            <a:gdLst/>
            <a:ahLst/>
            <a:cxnLst/>
            <a:rect l="l" t="t" r="r" b="b"/>
            <a:pathLst>
              <a:path w="3314700" h="0">
                <a:moveTo>
                  <a:pt x="0" y="0"/>
                </a:moveTo>
                <a:lnTo>
                  <a:pt x="3314700" y="0"/>
                </a:lnTo>
              </a:path>
            </a:pathLst>
          </a:custGeom>
          <a:ln w="9906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603247" y="4943602"/>
            <a:ext cx="857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3472" y="4671567"/>
            <a:ext cx="32512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10000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3472" y="4400042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20000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63472" y="4128007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30000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63472" y="3855973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40000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63472" y="3583940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50000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63472" y="3311905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60000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63472" y="3039871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70000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63472" y="2767838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80000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63472" y="2495803"/>
            <a:ext cx="325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90000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03527" y="2223770"/>
            <a:ext cx="3848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100000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13560" y="5086604"/>
            <a:ext cx="591820" cy="295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06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 spc="-50">
                <a:solidFill>
                  <a:srgbClr val="585858"/>
                </a:solidFill>
                <a:latin typeface="Trebuchet MS"/>
                <a:cs typeface="Trebuchet MS"/>
              </a:rPr>
              <a:t>-</a:t>
            </a:r>
            <a:endParaRPr sz="900">
              <a:latin typeface="Trebuchet MS"/>
              <a:cs typeface="Trebuchet MS"/>
            </a:endParaRPr>
          </a:p>
          <a:p>
            <a:pPr algn="ctr">
              <a:lnSpc>
                <a:spcPts val="1060"/>
              </a:lnSpc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Unclasified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33650" y="5086604"/>
            <a:ext cx="4787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1</a:t>
            </a: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Minor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53917" y="5086604"/>
            <a:ext cx="5638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2</a:t>
            </a: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Normal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849115" y="5086604"/>
            <a:ext cx="4997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3</a:t>
            </a: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Mayor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90720" y="5086604"/>
            <a:ext cx="5422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4</a:t>
            </a: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>
                <a:solidFill>
                  <a:srgbClr val="585858"/>
                </a:solidFill>
                <a:latin typeface="Trebuchet MS"/>
                <a:cs typeface="Trebuchet MS"/>
              </a:rPr>
              <a:t>-</a:t>
            </a:r>
            <a:r>
              <a:rPr dirty="0" sz="900" spc="-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Urgent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49905" y="1925574"/>
            <a:ext cx="209042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Ticket</a:t>
            </a:r>
            <a:r>
              <a:rPr dirty="0" sz="1400" spc="-5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rebuchet MS"/>
                <a:cs typeface="Trebuchet MS"/>
              </a:rPr>
              <a:t>Volume</a:t>
            </a:r>
            <a:r>
              <a:rPr dirty="0" sz="1400" spc="-6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585858"/>
                </a:solidFill>
                <a:latin typeface="Trebuchet MS"/>
                <a:cs typeface="Trebuchet MS"/>
              </a:rPr>
              <a:t>by</a:t>
            </a:r>
            <a:r>
              <a:rPr dirty="0" sz="1400" spc="-6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585858"/>
                </a:solidFill>
                <a:latin typeface="Trebuchet MS"/>
                <a:cs typeface="Trebuchet MS"/>
              </a:rPr>
              <a:t>Severity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292090" y="3813809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28956">
            <a:solidFill>
              <a:srgbClr val="90C22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549138" y="3723385"/>
            <a:ext cx="29273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585858"/>
                </a:solidFill>
                <a:latin typeface="Trebuchet MS"/>
                <a:cs typeface="Trebuchet MS"/>
              </a:rPr>
              <a:t>Total</a:t>
            </a:r>
            <a:endParaRPr sz="9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2346" y="5237975"/>
            <a:ext cx="3622548" cy="13335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64709" y="5409691"/>
            <a:ext cx="28625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0">
                <a:solidFill>
                  <a:srgbClr val="90C225"/>
                </a:solidFill>
                <a:latin typeface="Trebuchet MS"/>
                <a:cs typeface="Trebuchet MS"/>
              </a:rPr>
              <a:t>Dashboard</a:t>
            </a:r>
            <a:endParaRPr sz="4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7105" y="128015"/>
            <a:ext cx="11372850" cy="52730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34617" y="1635638"/>
            <a:ext cx="3252470" cy="1736725"/>
            <a:chOff x="934617" y="1635638"/>
            <a:chExt cx="3252470" cy="1736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4617" y="1635638"/>
              <a:ext cx="3252315" cy="62108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5464" y="2038349"/>
              <a:ext cx="3011424" cy="13335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13891" y="1478026"/>
            <a:ext cx="3259454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16255" marR="5080" indent="-504190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  <a:r>
              <a:rPr dirty="0" spc="-220"/>
              <a:t> </a:t>
            </a:r>
            <a:r>
              <a:rPr dirty="0" spc="-25"/>
              <a:t>of </a:t>
            </a:r>
            <a:r>
              <a:rPr dirty="0" spc="-10"/>
              <a:t>Findings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35320" y="1594103"/>
            <a:ext cx="51142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Average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resolution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shows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moderate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variation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among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agents,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indicating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differences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efficiency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workload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handling.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35320" y="2148077"/>
            <a:ext cx="53333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Satisfaction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levels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consistently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high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(avg.</a:t>
            </a:r>
            <a:r>
              <a:rPr dirty="0" sz="14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≈</a:t>
            </a:r>
            <a:r>
              <a:rPr dirty="0" sz="14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4.1/5)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demonstrating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strong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overall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service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quality.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35320" y="2702051"/>
            <a:ext cx="52457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Login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Access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issues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form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~70%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—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revealing key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focus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areas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preventive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solutions.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35320" y="3255263"/>
            <a:ext cx="5050155" cy="19869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186055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tickets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low-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to-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medium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severity,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high-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priority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unassigned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cases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closer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monitoring.</a:t>
            </a:r>
            <a:endParaRPr sz="1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Weak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correlation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observed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between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Resolution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Satisfaction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Rate,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suggesting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employee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satisfaction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depends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service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quality</a:t>
            </a:r>
            <a:r>
              <a:rPr dirty="0" sz="14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communication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than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ticket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speed alone.</a:t>
            </a:r>
            <a:endParaRPr sz="1400">
              <a:latin typeface="Calibri"/>
              <a:cs typeface="Calibri"/>
            </a:endParaRPr>
          </a:p>
          <a:p>
            <a:pPr marL="355600" marR="276225" indent="-3429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Ticket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volumes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steadily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increased,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showing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dirty="0" sz="14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scalable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support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infrastructure.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5968" y="1602872"/>
            <a:ext cx="4646295" cy="1736725"/>
            <a:chOff x="245968" y="1602872"/>
            <a:chExt cx="4646295" cy="1736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968" y="1602872"/>
              <a:ext cx="4646078" cy="50234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2160" y="2005584"/>
              <a:ext cx="1031735" cy="1333500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85165" y="1445259"/>
            <a:ext cx="4727575" cy="1489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41550" marR="5080" indent="-2229485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Recommendation </a:t>
            </a:r>
            <a:r>
              <a:rPr dirty="0" spc="-50"/>
              <a:t>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735320" y="1530603"/>
            <a:ext cx="51568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94970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	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Agent</a:t>
            </a:r>
            <a:r>
              <a:rPr dirty="0" sz="14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Training</a:t>
            </a:r>
            <a:r>
              <a:rPr dirty="0" sz="14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dirty="0" sz="14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Support:</a:t>
            </a:r>
            <a:r>
              <a:rPr dirty="0" sz="14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Provide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coaching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agents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higher resolution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times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balance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team</a:t>
            </a:r>
            <a:r>
              <a:rPr dirty="0" sz="14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performance.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35320" y="2084577"/>
            <a:ext cx="52603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Automated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Ticket</a:t>
            </a:r>
            <a:r>
              <a:rPr dirty="0" sz="14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Routing: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Implement</a:t>
            </a:r>
            <a:r>
              <a:rPr dirty="0" sz="14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category-</a:t>
            </a:r>
            <a:r>
              <a:rPr dirty="0" sz="14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priority-based auto-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assignment</a:t>
            </a:r>
            <a:r>
              <a:rPr dirty="0" sz="14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minimize</a:t>
            </a:r>
            <a:r>
              <a:rPr dirty="0" sz="14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unassigned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tickets.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35320" y="2638551"/>
            <a:ext cx="51276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SLA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Tracking:</a:t>
            </a:r>
            <a:r>
              <a:rPr dirty="0" sz="1400" spc="-1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Strengthen</a:t>
            </a:r>
            <a:r>
              <a:rPr dirty="0" sz="14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monitoring</a:t>
            </a:r>
            <a:r>
              <a:rPr dirty="0" sz="1400" spc="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high-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severity and</a:t>
            </a:r>
            <a:r>
              <a:rPr dirty="0" sz="14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overdue tickets</a:t>
            </a:r>
            <a:r>
              <a:rPr dirty="0" sz="14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14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ensure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04040"/>
                </a:solidFill>
                <a:latin typeface="Calibri"/>
                <a:cs typeface="Calibri"/>
              </a:rPr>
              <a:t>timely</a:t>
            </a:r>
            <a:r>
              <a:rPr dirty="0" sz="14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404040"/>
                </a:solidFill>
                <a:latin typeface="Calibri"/>
                <a:cs typeface="Calibri"/>
              </a:rPr>
              <a:t>resolution.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spc="-10" b="1">
                <a:latin typeface="Calibri"/>
                <a:cs typeface="Calibri"/>
              </a:rPr>
              <a:t>Preventive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Measures:</a:t>
            </a:r>
            <a:r>
              <a:rPr dirty="0" spc="-20" b="1">
                <a:latin typeface="Calibri"/>
                <a:cs typeface="Calibri"/>
              </a:rPr>
              <a:t> </a:t>
            </a:r>
            <a:r>
              <a:rPr dirty="0"/>
              <a:t>Reduce</a:t>
            </a:r>
            <a:r>
              <a:rPr dirty="0" spc="-25"/>
              <a:t> </a:t>
            </a:r>
            <a:r>
              <a:rPr dirty="0" spc="-10"/>
              <a:t>repetitive</a:t>
            </a:r>
            <a:r>
              <a:rPr dirty="0" spc="-15"/>
              <a:t> </a:t>
            </a:r>
            <a:r>
              <a:rPr dirty="0" spc="-10"/>
              <a:t>System</a:t>
            </a:r>
            <a:r>
              <a:rPr dirty="0" spc="-20"/>
              <a:t> </a:t>
            </a:r>
            <a:r>
              <a:rPr dirty="0"/>
              <a:t>/</a:t>
            </a:r>
            <a:r>
              <a:rPr dirty="0" spc="-45"/>
              <a:t> </a:t>
            </a:r>
            <a:r>
              <a:rPr dirty="0"/>
              <a:t>Login</a:t>
            </a:r>
            <a:r>
              <a:rPr dirty="0" spc="-25"/>
              <a:t> </a:t>
            </a:r>
            <a:r>
              <a:rPr dirty="0"/>
              <a:t>Access</a:t>
            </a:r>
            <a:r>
              <a:rPr dirty="0" spc="-35"/>
              <a:t> </a:t>
            </a:r>
            <a:r>
              <a:rPr dirty="0" spc="-10"/>
              <a:t>issues </a:t>
            </a:r>
            <a:r>
              <a:rPr dirty="0"/>
              <a:t>via</a:t>
            </a:r>
            <a:r>
              <a:rPr dirty="0" spc="-15"/>
              <a:t> </a:t>
            </a:r>
            <a:r>
              <a:rPr dirty="0" spc="-10"/>
              <a:t>proactive</a:t>
            </a:r>
            <a:r>
              <a:rPr dirty="0" spc="-5"/>
              <a:t> </a:t>
            </a:r>
            <a:r>
              <a:rPr dirty="0" spc="-10"/>
              <a:t>maintenance</a:t>
            </a:r>
            <a:r>
              <a:rPr dirty="0"/>
              <a:t> and</a:t>
            </a:r>
            <a:r>
              <a:rPr dirty="0" spc="-20"/>
              <a:t> </a:t>
            </a:r>
            <a:r>
              <a:rPr dirty="0" spc="-10"/>
              <a:t>access-management</a:t>
            </a:r>
            <a:r>
              <a:rPr dirty="0" spc="-5"/>
              <a:t> </a:t>
            </a:r>
            <a:r>
              <a:rPr dirty="0" spc="-10"/>
              <a:t>policies.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b="1">
                <a:latin typeface="Calibri"/>
                <a:cs typeface="Calibri"/>
              </a:rPr>
              <a:t>Recognition</a:t>
            </a:r>
            <a:r>
              <a:rPr dirty="0" spc="-3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Program:</a:t>
            </a:r>
            <a:r>
              <a:rPr dirty="0" spc="-35" b="1">
                <a:latin typeface="Calibri"/>
                <a:cs typeface="Calibri"/>
              </a:rPr>
              <a:t> </a:t>
            </a:r>
            <a:r>
              <a:rPr dirty="0" spc="-10"/>
              <a:t>Introduce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/>
              <a:t>quarterly</a:t>
            </a:r>
            <a:r>
              <a:rPr dirty="0" spc="-25"/>
              <a:t> </a:t>
            </a:r>
            <a:r>
              <a:rPr dirty="0" spc="-10"/>
              <a:t>rewards</a:t>
            </a:r>
            <a:r>
              <a:rPr dirty="0" spc="-35"/>
              <a:t> </a:t>
            </a:r>
            <a:r>
              <a:rPr dirty="0" spc="-10"/>
              <a:t>system</a:t>
            </a:r>
            <a:r>
              <a:rPr dirty="0" spc="-35"/>
              <a:t> </a:t>
            </a:r>
            <a:r>
              <a:rPr dirty="0"/>
              <a:t>for</a:t>
            </a:r>
            <a:r>
              <a:rPr dirty="0" spc="-40"/>
              <a:t> </a:t>
            </a:r>
            <a:r>
              <a:rPr dirty="0" spc="-20"/>
              <a:t>top-</a:t>
            </a:r>
            <a:endParaRPr sz="11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pc="-10"/>
              <a:t>performing</a:t>
            </a:r>
            <a:r>
              <a:rPr dirty="0" spc="-45"/>
              <a:t> </a:t>
            </a:r>
            <a:r>
              <a:rPr dirty="0"/>
              <a:t>agents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sustain</a:t>
            </a:r>
            <a:r>
              <a:rPr dirty="0" spc="-35"/>
              <a:t> </a:t>
            </a:r>
            <a:r>
              <a:rPr dirty="0" spc="-10"/>
              <a:t>motivation.</a:t>
            </a:r>
          </a:p>
          <a:p>
            <a:pPr marL="355600" marR="20320" indent="-3429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dirty="0" sz="1100" spc="55">
                <a:solidFill>
                  <a:srgbClr val="90C225"/>
                </a:solidFill>
                <a:latin typeface="Lucida Sans Unicode"/>
                <a:cs typeface="Lucida Sans Unicode"/>
              </a:rPr>
              <a:t>▶</a:t>
            </a:r>
            <a:r>
              <a:rPr dirty="0" sz="1100">
                <a:solidFill>
                  <a:srgbClr val="90C225"/>
                </a:solidFill>
                <a:latin typeface="Lucida Sans Unicode"/>
                <a:cs typeface="Lucida Sans Unicode"/>
              </a:rPr>
              <a:t>	</a:t>
            </a:r>
            <a:r>
              <a:rPr dirty="0" b="1">
                <a:latin typeface="Calibri"/>
                <a:cs typeface="Calibri"/>
              </a:rPr>
              <a:t>Focus</a:t>
            </a:r>
            <a:r>
              <a:rPr dirty="0" spc="-4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on</a:t>
            </a:r>
            <a:r>
              <a:rPr dirty="0" spc="-3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Quality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of</a:t>
            </a:r>
            <a:r>
              <a:rPr dirty="0" spc="-4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Interaction:</a:t>
            </a:r>
            <a:r>
              <a:rPr dirty="0" spc="-25" b="1">
                <a:latin typeface="Calibri"/>
                <a:cs typeface="Calibri"/>
              </a:rPr>
              <a:t> </a:t>
            </a:r>
            <a:r>
              <a:rPr dirty="0"/>
              <a:t>Since</a:t>
            </a:r>
            <a:r>
              <a:rPr dirty="0" spc="-30"/>
              <a:t> </a:t>
            </a:r>
            <a:r>
              <a:rPr dirty="0" spc="-10"/>
              <a:t>satisfaction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not</a:t>
            </a:r>
            <a:r>
              <a:rPr dirty="0" spc="-25"/>
              <a:t> </a:t>
            </a:r>
            <a:r>
              <a:rPr dirty="0"/>
              <a:t>strongly</a:t>
            </a:r>
            <a:r>
              <a:rPr dirty="0" spc="-10"/>
              <a:t> </a:t>
            </a:r>
            <a:r>
              <a:rPr dirty="0" spc="-20"/>
              <a:t>tied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 spc="-10"/>
              <a:t>resolution</a:t>
            </a:r>
            <a:r>
              <a:rPr dirty="0" spc="-15"/>
              <a:t> </a:t>
            </a:r>
            <a:r>
              <a:rPr dirty="0"/>
              <a:t>speed,</a:t>
            </a:r>
            <a:r>
              <a:rPr dirty="0" spc="-25"/>
              <a:t> </a:t>
            </a:r>
            <a:r>
              <a:rPr dirty="0"/>
              <a:t>train</a:t>
            </a:r>
            <a:r>
              <a:rPr dirty="0" spc="-30"/>
              <a:t> </a:t>
            </a:r>
            <a:r>
              <a:rPr dirty="0"/>
              <a:t>agents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 spc="-10"/>
              <a:t>improve</a:t>
            </a:r>
            <a:r>
              <a:rPr dirty="0" spc="-30"/>
              <a:t> </a:t>
            </a:r>
            <a:r>
              <a:rPr dirty="0" spc="-10"/>
              <a:t>communication</a:t>
            </a:r>
            <a:r>
              <a:rPr dirty="0" spc="-30"/>
              <a:t> </a:t>
            </a:r>
            <a:r>
              <a:rPr dirty="0" spc="-25"/>
              <a:t>and </a:t>
            </a:r>
            <a:r>
              <a:rPr dirty="0" spc="-20"/>
              <a:t>problem-</a:t>
            </a:r>
            <a:r>
              <a:rPr dirty="0"/>
              <a:t>solving</a:t>
            </a:r>
            <a:r>
              <a:rPr dirty="0" spc="55"/>
              <a:t> </a:t>
            </a:r>
            <a:r>
              <a:rPr dirty="0" spc="-10"/>
              <a:t>clarity.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13453"/>
            <a:ext cx="448945" cy="2844800"/>
          </a:xfrm>
          <a:custGeom>
            <a:avLst/>
            <a:gdLst/>
            <a:ahLst/>
            <a:cxnLst/>
            <a:rect l="l" t="t" r="r" b="b"/>
            <a:pathLst>
              <a:path w="448945" h="2844800">
                <a:moveTo>
                  <a:pt x="0" y="0"/>
                </a:moveTo>
                <a:lnTo>
                  <a:pt x="0" y="2844546"/>
                </a:lnTo>
                <a:lnTo>
                  <a:pt x="448818" y="2844546"/>
                </a:lnTo>
                <a:lnTo>
                  <a:pt x="0" y="0"/>
                </a:lnTo>
                <a:close/>
              </a:path>
            </a:pathLst>
          </a:custGeom>
          <a:solidFill>
            <a:srgbClr val="90C225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587501" y="-9525"/>
            <a:ext cx="11017885" cy="5634990"/>
            <a:chOff x="587501" y="-9525"/>
            <a:chExt cx="11017885" cy="5634990"/>
          </a:xfrm>
        </p:grpSpPr>
        <p:sp>
          <p:nvSpPr>
            <p:cNvPr id="4" name="object 4"/>
            <p:cNvSpPr/>
            <p:nvPr/>
          </p:nvSpPr>
          <p:spPr>
            <a:xfrm>
              <a:off x="597026" y="0"/>
              <a:ext cx="10998835" cy="5615940"/>
            </a:xfrm>
            <a:custGeom>
              <a:avLst/>
              <a:gdLst/>
              <a:ahLst/>
              <a:cxnLst/>
              <a:rect l="l" t="t" r="r" b="b"/>
              <a:pathLst>
                <a:path w="10998835" h="5615940">
                  <a:moveTo>
                    <a:pt x="1925574" y="0"/>
                  </a:moveTo>
                  <a:lnTo>
                    <a:pt x="1925574" y="5615559"/>
                  </a:lnTo>
                  <a:lnTo>
                    <a:pt x="9067038" y="5615559"/>
                  </a:lnTo>
                  <a:lnTo>
                    <a:pt x="9067038" y="0"/>
                  </a:lnTo>
                </a:path>
                <a:path w="10998835" h="5615940">
                  <a:moveTo>
                    <a:pt x="0" y="4414647"/>
                  </a:moveTo>
                  <a:lnTo>
                    <a:pt x="10998708" y="4414647"/>
                  </a:lnTo>
                  <a:lnTo>
                    <a:pt x="10998708" y="1055751"/>
                  </a:lnTo>
                  <a:lnTo>
                    <a:pt x="0" y="1055751"/>
                  </a:lnTo>
                  <a:lnTo>
                    <a:pt x="0" y="4414647"/>
                  </a:lnTo>
                  <a:close/>
                </a:path>
              </a:pathLst>
            </a:custGeom>
            <a:ln w="19050">
              <a:solidFill>
                <a:srgbClr val="39500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83557" y="2555722"/>
              <a:ext cx="4024122" cy="6637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76318" y="2544572"/>
              <a:ext cx="3991610" cy="634365"/>
            </a:xfrm>
            <a:custGeom>
              <a:avLst/>
              <a:gdLst/>
              <a:ahLst/>
              <a:cxnLst/>
              <a:rect l="l" t="t" r="r" b="b"/>
              <a:pathLst>
                <a:path w="3991609" h="634364">
                  <a:moveTo>
                    <a:pt x="1247520" y="336423"/>
                  </a:moveTo>
                  <a:lnTo>
                    <a:pt x="1197943" y="339111"/>
                  </a:lnTo>
                  <a:lnTo>
                    <a:pt x="1154366" y="347170"/>
                  </a:lnTo>
                  <a:lnTo>
                    <a:pt x="1116790" y="360586"/>
                  </a:lnTo>
                  <a:lnTo>
                    <a:pt x="1060211" y="402927"/>
                  </a:lnTo>
                  <a:lnTo>
                    <a:pt x="1031636" y="462466"/>
                  </a:lnTo>
                  <a:lnTo>
                    <a:pt x="1028064" y="498475"/>
                  </a:lnTo>
                  <a:lnTo>
                    <a:pt x="1030610" y="529173"/>
                  </a:lnTo>
                  <a:lnTo>
                    <a:pt x="1050942" y="579377"/>
                  </a:lnTo>
                  <a:lnTo>
                    <a:pt x="1090802" y="614433"/>
                  </a:lnTo>
                  <a:lnTo>
                    <a:pt x="1146428" y="632150"/>
                  </a:lnTo>
                  <a:lnTo>
                    <a:pt x="1179956" y="634364"/>
                  </a:lnTo>
                  <a:lnTo>
                    <a:pt x="1198606" y="633458"/>
                  </a:lnTo>
                  <a:lnTo>
                    <a:pt x="1251916" y="619871"/>
                  </a:lnTo>
                  <a:lnTo>
                    <a:pt x="1292475" y="593328"/>
                  </a:lnTo>
                  <a:lnTo>
                    <a:pt x="1300733" y="582422"/>
                  </a:lnTo>
                  <a:lnTo>
                    <a:pt x="1410589" y="582422"/>
                  </a:lnTo>
                  <a:lnTo>
                    <a:pt x="1401587" y="563213"/>
                  </a:lnTo>
                  <a:lnTo>
                    <a:pt x="1399450" y="552957"/>
                  </a:lnTo>
                  <a:lnTo>
                    <a:pt x="1198752" y="552957"/>
                  </a:lnTo>
                  <a:lnTo>
                    <a:pt x="1168896" y="549267"/>
                  </a:lnTo>
                  <a:lnTo>
                    <a:pt x="1147540" y="538194"/>
                  </a:lnTo>
                  <a:lnTo>
                    <a:pt x="1134709" y="519739"/>
                  </a:lnTo>
                  <a:lnTo>
                    <a:pt x="1130427" y="493902"/>
                  </a:lnTo>
                  <a:lnTo>
                    <a:pt x="1137999" y="459212"/>
                  </a:lnTo>
                  <a:lnTo>
                    <a:pt x="1160716" y="434403"/>
                  </a:lnTo>
                  <a:lnTo>
                    <a:pt x="1198578" y="419500"/>
                  </a:lnTo>
                  <a:lnTo>
                    <a:pt x="1251584" y="414527"/>
                  </a:lnTo>
                  <a:lnTo>
                    <a:pt x="1392808" y="414527"/>
                  </a:lnTo>
                  <a:lnTo>
                    <a:pt x="1392808" y="398144"/>
                  </a:lnTo>
                  <a:lnTo>
                    <a:pt x="1390027" y="342518"/>
                  </a:lnTo>
                  <a:lnTo>
                    <a:pt x="1290065" y="342518"/>
                  </a:lnTo>
                  <a:lnTo>
                    <a:pt x="1278185" y="339851"/>
                  </a:lnTo>
                  <a:lnTo>
                    <a:pt x="1267126" y="337946"/>
                  </a:lnTo>
                  <a:lnTo>
                    <a:pt x="1256901" y="336803"/>
                  </a:lnTo>
                  <a:lnTo>
                    <a:pt x="1247520" y="336423"/>
                  </a:lnTo>
                  <a:close/>
                </a:path>
                <a:path w="3991609" h="634364">
                  <a:moveTo>
                    <a:pt x="1410589" y="582422"/>
                  </a:moveTo>
                  <a:lnTo>
                    <a:pt x="1300733" y="582422"/>
                  </a:lnTo>
                  <a:lnTo>
                    <a:pt x="1304498" y="591853"/>
                  </a:lnTo>
                  <a:lnTo>
                    <a:pt x="1333531" y="625149"/>
                  </a:lnTo>
                  <a:lnTo>
                    <a:pt x="1353732" y="633458"/>
                  </a:lnTo>
                  <a:lnTo>
                    <a:pt x="1354574" y="633458"/>
                  </a:lnTo>
                  <a:lnTo>
                    <a:pt x="1364106" y="634364"/>
                  </a:lnTo>
                  <a:lnTo>
                    <a:pt x="1407342" y="625643"/>
                  </a:lnTo>
                  <a:lnTo>
                    <a:pt x="1427988" y="601979"/>
                  </a:lnTo>
                  <a:lnTo>
                    <a:pt x="1412579" y="586668"/>
                  </a:lnTo>
                  <a:lnTo>
                    <a:pt x="1410589" y="582422"/>
                  </a:lnTo>
                  <a:close/>
                </a:path>
                <a:path w="3991609" h="634364">
                  <a:moveTo>
                    <a:pt x="1392808" y="414527"/>
                  </a:moveTo>
                  <a:lnTo>
                    <a:pt x="1251584" y="414527"/>
                  </a:lnTo>
                  <a:lnTo>
                    <a:pt x="1258966" y="414861"/>
                  </a:lnTo>
                  <a:lnTo>
                    <a:pt x="1267967" y="415861"/>
                  </a:lnTo>
                  <a:lnTo>
                    <a:pt x="1278588" y="417528"/>
                  </a:lnTo>
                  <a:lnTo>
                    <a:pt x="1290827" y="419862"/>
                  </a:lnTo>
                  <a:lnTo>
                    <a:pt x="1290827" y="460755"/>
                  </a:lnTo>
                  <a:lnTo>
                    <a:pt x="1285085" y="501094"/>
                  </a:lnTo>
                  <a:lnTo>
                    <a:pt x="1267840" y="529907"/>
                  </a:lnTo>
                  <a:lnTo>
                    <a:pt x="1239071" y="547195"/>
                  </a:lnTo>
                  <a:lnTo>
                    <a:pt x="1198752" y="552957"/>
                  </a:lnTo>
                  <a:lnTo>
                    <a:pt x="1399450" y="552957"/>
                  </a:lnTo>
                  <a:lnTo>
                    <a:pt x="1395001" y="531614"/>
                  </a:lnTo>
                  <a:lnTo>
                    <a:pt x="1392921" y="493902"/>
                  </a:lnTo>
                  <a:lnTo>
                    <a:pt x="1392808" y="414527"/>
                  </a:lnTo>
                  <a:close/>
                </a:path>
                <a:path w="3991609" h="634364">
                  <a:moveTo>
                    <a:pt x="1371099" y="265175"/>
                  </a:moveTo>
                  <a:lnTo>
                    <a:pt x="1192276" y="265175"/>
                  </a:lnTo>
                  <a:lnTo>
                    <a:pt x="1235041" y="270009"/>
                  </a:lnTo>
                  <a:lnTo>
                    <a:pt x="1265602" y="284511"/>
                  </a:lnTo>
                  <a:lnTo>
                    <a:pt x="1283948" y="308681"/>
                  </a:lnTo>
                  <a:lnTo>
                    <a:pt x="1290065" y="342518"/>
                  </a:lnTo>
                  <a:lnTo>
                    <a:pt x="1390027" y="342518"/>
                  </a:lnTo>
                  <a:lnTo>
                    <a:pt x="1389893" y="339851"/>
                  </a:lnTo>
                  <a:lnTo>
                    <a:pt x="1389790" y="339111"/>
                  </a:lnTo>
                  <a:lnTo>
                    <a:pt x="1381109" y="291290"/>
                  </a:lnTo>
                  <a:lnTo>
                    <a:pt x="1371099" y="265175"/>
                  </a:lnTo>
                  <a:close/>
                </a:path>
                <a:path w="3991609" h="634364">
                  <a:moveTo>
                    <a:pt x="1199260" y="179577"/>
                  </a:moveTo>
                  <a:lnTo>
                    <a:pt x="1164042" y="181171"/>
                  </a:lnTo>
                  <a:lnTo>
                    <a:pt x="1131347" y="185943"/>
                  </a:lnTo>
                  <a:lnTo>
                    <a:pt x="1101177" y="193883"/>
                  </a:lnTo>
                  <a:lnTo>
                    <a:pt x="1073530" y="204977"/>
                  </a:lnTo>
                  <a:lnTo>
                    <a:pt x="1095628" y="284352"/>
                  </a:lnTo>
                  <a:lnTo>
                    <a:pt x="1116248" y="275945"/>
                  </a:lnTo>
                  <a:lnTo>
                    <a:pt x="1139024" y="270009"/>
                  </a:lnTo>
                  <a:lnTo>
                    <a:pt x="1138844" y="270009"/>
                  </a:lnTo>
                  <a:lnTo>
                    <a:pt x="1164584" y="266368"/>
                  </a:lnTo>
                  <a:lnTo>
                    <a:pt x="1192276" y="265175"/>
                  </a:lnTo>
                  <a:lnTo>
                    <a:pt x="1371099" y="265175"/>
                  </a:lnTo>
                  <a:lnTo>
                    <a:pt x="1366502" y="253180"/>
                  </a:lnTo>
                  <a:lnTo>
                    <a:pt x="1346072" y="225298"/>
                  </a:lnTo>
                  <a:lnTo>
                    <a:pt x="1319454" y="205295"/>
                  </a:lnTo>
                  <a:lnTo>
                    <a:pt x="1286097" y="191008"/>
                  </a:lnTo>
                  <a:lnTo>
                    <a:pt x="1246024" y="182435"/>
                  </a:lnTo>
                  <a:lnTo>
                    <a:pt x="1199260" y="179577"/>
                  </a:lnTo>
                  <a:close/>
                </a:path>
                <a:path w="3991609" h="634364">
                  <a:moveTo>
                    <a:pt x="3313810" y="179577"/>
                  </a:moveTo>
                  <a:lnTo>
                    <a:pt x="3268666" y="183528"/>
                  </a:lnTo>
                  <a:lnTo>
                    <a:pt x="3228117" y="195373"/>
                  </a:lnTo>
                  <a:lnTo>
                    <a:pt x="3192188" y="215100"/>
                  </a:lnTo>
                  <a:lnTo>
                    <a:pt x="3160903" y="242697"/>
                  </a:lnTo>
                  <a:lnTo>
                    <a:pt x="3135566" y="276538"/>
                  </a:lnTo>
                  <a:lnTo>
                    <a:pt x="3117468" y="315023"/>
                  </a:lnTo>
                  <a:lnTo>
                    <a:pt x="3106610" y="358175"/>
                  </a:lnTo>
                  <a:lnTo>
                    <a:pt x="3102990" y="406018"/>
                  </a:lnTo>
                  <a:lnTo>
                    <a:pt x="3106465" y="455187"/>
                  </a:lnTo>
                  <a:lnTo>
                    <a:pt x="3116881" y="499236"/>
                  </a:lnTo>
                  <a:lnTo>
                    <a:pt x="3134227" y="538142"/>
                  </a:lnTo>
                  <a:lnTo>
                    <a:pt x="3158489" y="571880"/>
                  </a:lnTo>
                  <a:lnTo>
                    <a:pt x="3188991" y="599217"/>
                  </a:lnTo>
                  <a:lnTo>
                    <a:pt x="3225053" y="618743"/>
                  </a:lnTo>
                  <a:lnTo>
                    <a:pt x="3266826" y="630505"/>
                  </a:lnTo>
                  <a:lnTo>
                    <a:pt x="3267215" y="630505"/>
                  </a:lnTo>
                  <a:lnTo>
                    <a:pt x="3313810" y="634364"/>
                  </a:lnTo>
                  <a:lnTo>
                    <a:pt x="3360152" y="630505"/>
                  </a:lnTo>
                  <a:lnTo>
                    <a:pt x="3401266" y="618918"/>
                  </a:lnTo>
                  <a:lnTo>
                    <a:pt x="3437165" y="599592"/>
                  </a:lnTo>
                  <a:lnTo>
                    <a:pt x="3467861" y="572515"/>
                  </a:lnTo>
                  <a:lnTo>
                    <a:pt x="3483829" y="550799"/>
                  </a:lnTo>
                  <a:lnTo>
                    <a:pt x="3313810" y="550799"/>
                  </a:lnTo>
                  <a:lnTo>
                    <a:pt x="3268138" y="541750"/>
                  </a:lnTo>
                  <a:lnTo>
                    <a:pt x="3235515" y="514603"/>
                  </a:lnTo>
                  <a:lnTo>
                    <a:pt x="3215941" y="469360"/>
                  </a:lnTo>
                  <a:lnTo>
                    <a:pt x="3209416" y="406018"/>
                  </a:lnTo>
                  <a:lnTo>
                    <a:pt x="3211181" y="374084"/>
                  </a:lnTo>
                  <a:lnTo>
                    <a:pt x="3225329" y="321454"/>
                  </a:lnTo>
                  <a:lnTo>
                    <a:pt x="3253071" y="284307"/>
                  </a:lnTo>
                  <a:lnTo>
                    <a:pt x="3291119" y="265499"/>
                  </a:lnTo>
                  <a:lnTo>
                    <a:pt x="3313810" y="263143"/>
                  </a:lnTo>
                  <a:lnTo>
                    <a:pt x="3485801" y="263143"/>
                  </a:lnTo>
                  <a:lnTo>
                    <a:pt x="3469004" y="240156"/>
                  </a:lnTo>
                  <a:lnTo>
                    <a:pt x="3438523" y="213653"/>
                  </a:lnTo>
                  <a:lnTo>
                    <a:pt x="3402504" y="194722"/>
                  </a:lnTo>
                  <a:lnTo>
                    <a:pt x="3360937" y="183364"/>
                  </a:lnTo>
                  <a:lnTo>
                    <a:pt x="3313810" y="179577"/>
                  </a:lnTo>
                  <a:close/>
                </a:path>
                <a:path w="3991609" h="634364">
                  <a:moveTo>
                    <a:pt x="2754122" y="26542"/>
                  </a:moveTo>
                  <a:lnTo>
                    <a:pt x="2641091" y="26542"/>
                  </a:lnTo>
                  <a:lnTo>
                    <a:pt x="2843276" y="380238"/>
                  </a:lnTo>
                  <a:lnTo>
                    <a:pt x="2843276" y="626110"/>
                  </a:lnTo>
                  <a:lnTo>
                    <a:pt x="2949702" y="626110"/>
                  </a:lnTo>
                  <a:lnTo>
                    <a:pt x="2949702" y="380238"/>
                  </a:lnTo>
                  <a:lnTo>
                    <a:pt x="3005463" y="282320"/>
                  </a:lnTo>
                  <a:lnTo>
                    <a:pt x="2896107" y="282320"/>
                  </a:lnTo>
                  <a:lnTo>
                    <a:pt x="2754122" y="26542"/>
                  </a:lnTo>
                  <a:close/>
                </a:path>
                <a:path w="3991609" h="634364">
                  <a:moveTo>
                    <a:pt x="3485801" y="263143"/>
                  </a:moveTo>
                  <a:lnTo>
                    <a:pt x="3313810" y="263143"/>
                  </a:lnTo>
                  <a:lnTo>
                    <a:pt x="3359316" y="272073"/>
                  </a:lnTo>
                  <a:lnTo>
                    <a:pt x="3391820" y="298862"/>
                  </a:lnTo>
                  <a:lnTo>
                    <a:pt x="3411323" y="343511"/>
                  </a:lnTo>
                  <a:lnTo>
                    <a:pt x="3417824" y="406018"/>
                  </a:lnTo>
                  <a:lnTo>
                    <a:pt x="3416063" y="438786"/>
                  </a:lnTo>
                  <a:lnTo>
                    <a:pt x="3402018" y="492369"/>
                  </a:lnTo>
                  <a:lnTo>
                    <a:pt x="3374515" y="529689"/>
                  </a:lnTo>
                  <a:lnTo>
                    <a:pt x="3336553" y="548461"/>
                  </a:lnTo>
                  <a:lnTo>
                    <a:pt x="3313810" y="550799"/>
                  </a:lnTo>
                  <a:lnTo>
                    <a:pt x="3483829" y="550799"/>
                  </a:lnTo>
                  <a:lnTo>
                    <a:pt x="3492531" y="538964"/>
                  </a:lnTo>
                  <a:lnTo>
                    <a:pt x="3510153" y="500030"/>
                  </a:lnTo>
                  <a:lnTo>
                    <a:pt x="3520725" y="455715"/>
                  </a:lnTo>
                  <a:lnTo>
                    <a:pt x="3524250" y="406018"/>
                  </a:lnTo>
                  <a:lnTo>
                    <a:pt x="3520797" y="356153"/>
                  </a:lnTo>
                  <a:lnTo>
                    <a:pt x="3510438" y="311896"/>
                  </a:lnTo>
                  <a:lnTo>
                    <a:pt x="3493174" y="273234"/>
                  </a:lnTo>
                  <a:lnTo>
                    <a:pt x="3485801" y="263143"/>
                  </a:lnTo>
                  <a:close/>
                </a:path>
                <a:path w="3991609" h="634364">
                  <a:moveTo>
                    <a:pt x="3151124" y="26542"/>
                  </a:moveTo>
                  <a:lnTo>
                    <a:pt x="3038475" y="26542"/>
                  </a:lnTo>
                  <a:lnTo>
                    <a:pt x="2896107" y="282320"/>
                  </a:lnTo>
                  <a:lnTo>
                    <a:pt x="3005463" y="282320"/>
                  </a:lnTo>
                  <a:lnTo>
                    <a:pt x="3151124" y="26542"/>
                  </a:lnTo>
                  <a:close/>
                </a:path>
                <a:path w="3991609" h="634364">
                  <a:moveTo>
                    <a:pt x="3708780" y="187832"/>
                  </a:moveTo>
                  <a:lnTo>
                    <a:pt x="3606419" y="187832"/>
                  </a:lnTo>
                  <a:lnTo>
                    <a:pt x="3606419" y="472313"/>
                  </a:lnTo>
                  <a:lnTo>
                    <a:pt x="3610632" y="521456"/>
                  </a:lnTo>
                  <a:lnTo>
                    <a:pt x="3623389" y="562304"/>
                  </a:lnTo>
                  <a:lnTo>
                    <a:pt x="3674284" y="616340"/>
                  </a:lnTo>
                  <a:lnTo>
                    <a:pt x="3712443" y="629857"/>
                  </a:lnTo>
                  <a:lnTo>
                    <a:pt x="3759073" y="634364"/>
                  </a:lnTo>
                  <a:lnTo>
                    <a:pt x="3775436" y="633535"/>
                  </a:lnTo>
                  <a:lnTo>
                    <a:pt x="3829050" y="621283"/>
                  </a:lnTo>
                  <a:lnTo>
                    <a:pt x="3876984" y="598620"/>
                  </a:lnTo>
                  <a:lnTo>
                    <a:pt x="3888866" y="589788"/>
                  </a:lnTo>
                  <a:lnTo>
                    <a:pt x="3991102" y="589788"/>
                  </a:lnTo>
                  <a:lnTo>
                    <a:pt x="3991102" y="548766"/>
                  </a:lnTo>
                  <a:lnTo>
                    <a:pt x="3784473" y="548766"/>
                  </a:lnTo>
                  <a:lnTo>
                    <a:pt x="3751322" y="543502"/>
                  </a:lnTo>
                  <a:lnTo>
                    <a:pt x="3727672" y="527700"/>
                  </a:lnTo>
                  <a:lnTo>
                    <a:pt x="3713499" y="501350"/>
                  </a:lnTo>
                  <a:lnTo>
                    <a:pt x="3708780" y="464438"/>
                  </a:lnTo>
                  <a:lnTo>
                    <a:pt x="3708780" y="187832"/>
                  </a:lnTo>
                  <a:close/>
                </a:path>
                <a:path w="3991609" h="634364">
                  <a:moveTo>
                    <a:pt x="3991102" y="589788"/>
                  </a:moveTo>
                  <a:lnTo>
                    <a:pt x="3888866" y="589788"/>
                  </a:lnTo>
                  <a:lnTo>
                    <a:pt x="3888866" y="626617"/>
                  </a:lnTo>
                  <a:lnTo>
                    <a:pt x="3991102" y="626617"/>
                  </a:lnTo>
                  <a:lnTo>
                    <a:pt x="3991102" y="589788"/>
                  </a:lnTo>
                  <a:close/>
                </a:path>
                <a:path w="3991609" h="634364">
                  <a:moveTo>
                    <a:pt x="3991102" y="187832"/>
                  </a:moveTo>
                  <a:lnTo>
                    <a:pt x="3888866" y="187832"/>
                  </a:lnTo>
                  <a:lnTo>
                    <a:pt x="3888866" y="489076"/>
                  </a:lnTo>
                  <a:lnTo>
                    <a:pt x="3882673" y="500552"/>
                  </a:lnTo>
                  <a:lnTo>
                    <a:pt x="3849115" y="530860"/>
                  </a:lnTo>
                  <a:lnTo>
                    <a:pt x="3801574" y="547647"/>
                  </a:lnTo>
                  <a:lnTo>
                    <a:pt x="3784473" y="548766"/>
                  </a:lnTo>
                  <a:lnTo>
                    <a:pt x="3991102" y="548766"/>
                  </a:lnTo>
                  <a:lnTo>
                    <a:pt x="3991102" y="187832"/>
                  </a:lnTo>
                  <a:close/>
                </a:path>
                <a:path w="3991609" h="634364">
                  <a:moveTo>
                    <a:pt x="1576958" y="187832"/>
                  </a:moveTo>
                  <a:lnTo>
                    <a:pt x="1503298" y="187832"/>
                  </a:lnTo>
                  <a:lnTo>
                    <a:pt x="1503298" y="626110"/>
                  </a:lnTo>
                  <a:lnTo>
                    <a:pt x="1605660" y="626110"/>
                  </a:lnTo>
                  <a:lnTo>
                    <a:pt x="1605660" y="309372"/>
                  </a:lnTo>
                  <a:lnTo>
                    <a:pt x="1613517" y="300343"/>
                  </a:lnTo>
                  <a:lnTo>
                    <a:pt x="1645539" y="277875"/>
                  </a:lnTo>
                  <a:lnTo>
                    <a:pt x="1682168" y="265963"/>
                  </a:lnTo>
                  <a:lnTo>
                    <a:pt x="1693671" y="265175"/>
                  </a:lnTo>
                  <a:lnTo>
                    <a:pt x="1868181" y="265175"/>
                  </a:lnTo>
                  <a:lnTo>
                    <a:pt x="1862151" y="252202"/>
                  </a:lnTo>
                  <a:lnTo>
                    <a:pt x="1844142" y="228726"/>
                  </a:lnTo>
                  <a:lnTo>
                    <a:pt x="1595754" y="228726"/>
                  </a:lnTo>
                  <a:lnTo>
                    <a:pt x="1576958" y="187832"/>
                  </a:lnTo>
                  <a:close/>
                </a:path>
                <a:path w="3991609" h="634364">
                  <a:moveTo>
                    <a:pt x="1868181" y="265175"/>
                  </a:moveTo>
                  <a:lnTo>
                    <a:pt x="1693671" y="265175"/>
                  </a:lnTo>
                  <a:lnTo>
                    <a:pt x="1716270" y="266793"/>
                  </a:lnTo>
                  <a:lnTo>
                    <a:pt x="1735486" y="271637"/>
                  </a:lnTo>
                  <a:lnTo>
                    <a:pt x="1773183" y="305720"/>
                  </a:lnTo>
                  <a:lnTo>
                    <a:pt x="1783903" y="346678"/>
                  </a:lnTo>
                  <a:lnTo>
                    <a:pt x="1785239" y="372872"/>
                  </a:lnTo>
                  <a:lnTo>
                    <a:pt x="1785239" y="626110"/>
                  </a:lnTo>
                  <a:lnTo>
                    <a:pt x="1887601" y="626110"/>
                  </a:lnTo>
                  <a:lnTo>
                    <a:pt x="1887601" y="357250"/>
                  </a:lnTo>
                  <a:lnTo>
                    <a:pt x="1884769" y="317630"/>
                  </a:lnTo>
                  <a:lnTo>
                    <a:pt x="1876282" y="282606"/>
                  </a:lnTo>
                  <a:lnTo>
                    <a:pt x="1868181" y="265175"/>
                  </a:lnTo>
                  <a:close/>
                </a:path>
                <a:path w="3991609" h="634364">
                  <a:moveTo>
                    <a:pt x="1718944" y="179577"/>
                  </a:moveTo>
                  <a:lnTo>
                    <a:pt x="1680747" y="182649"/>
                  </a:lnTo>
                  <a:lnTo>
                    <a:pt x="1647491" y="191865"/>
                  </a:lnTo>
                  <a:lnTo>
                    <a:pt x="1619164" y="207224"/>
                  </a:lnTo>
                  <a:lnTo>
                    <a:pt x="1595754" y="228726"/>
                  </a:lnTo>
                  <a:lnTo>
                    <a:pt x="1844142" y="228726"/>
                  </a:lnTo>
                  <a:lnTo>
                    <a:pt x="1788953" y="191293"/>
                  </a:lnTo>
                  <a:lnTo>
                    <a:pt x="1718944" y="179577"/>
                  </a:lnTo>
                  <a:close/>
                </a:path>
                <a:path w="3991609" h="634364">
                  <a:moveTo>
                    <a:pt x="297179" y="121157"/>
                  </a:moveTo>
                  <a:lnTo>
                    <a:pt x="190753" y="121157"/>
                  </a:lnTo>
                  <a:lnTo>
                    <a:pt x="190753" y="626110"/>
                  </a:lnTo>
                  <a:lnTo>
                    <a:pt x="297179" y="626110"/>
                  </a:lnTo>
                  <a:lnTo>
                    <a:pt x="297179" y="121157"/>
                  </a:lnTo>
                  <a:close/>
                </a:path>
                <a:path w="3991609" h="634364">
                  <a:moveTo>
                    <a:pt x="496569" y="26542"/>
                  </a:moveTo>
                  <a:lnTo>
                    <a:pt x="0" y="26542"/>
                  </a:lnTo>
                  <a:lnTo>
                    <a:pt x="0" y="121157"/>
                  </a:lnTo>
                  <a:lnTo>
                    <a:pt x="496569" y="121157"/>
                  </a:lnTo>
                  <a:lnTo>
                    <a:pt x="496569" y="26542"/>
                  </a:lnTo>
                  <a:close/>
                </a:path>
                <a:path w="3991609" h="634364">
                  <a:moveTo>
                    <a:pt x="2100198" y="0"/>
                  </a:moveTo>
                  <a:lnTo>
                    <a:pt x="1997836" y="24511"/>
                  </a:lnTo>
                  <a:lnTo>
                    <a:pt x="1997836" y="626110"/>
                  </a:lnTo>
                  <a:lnTo>
                    <a:pt x="2100198" y="626110"/>
                  </a:lnTo>
                  <a:lnTo>
                    <a:pt x="2100198" y="479678"/>
                  </a:lnTo>
                  <a:lnTo>
                    <a:pt x="2149220" y="427608"/>
                  </a:lnTo>
                  <a:lnTo>
                    <a:pt x="2269650" y="427608"/>
                  </a:lnTo>
                  <a:lnTo>
                    <a:pt x="2222689" y="355980"/>
                  </a:lnTo>
                  <a:lnTo>
                    <a:pt x="2100198" y="355980"/>
                  </a:lnTo>
                  <a:lnTo>
                    <a:pt x="2100198" y="0"/>
                  </a:lnTo>
                  <a:close/>
                </a:path>
                <a:path w="3991609" h="634364">
                  <a:moveTo>
                    <a:pt x="2269650" y="427608"/>
                  </a:moveTo>
                  <a:lnTo>
                    <a:pt x="2149220" y="427608"/>
                  </a:lnTo>
                  <a:lnTo>
                    <a:pt x="2278253" y="626110"/>
                  </a:lnTo>
                  <a:lnTo>
                    <a:pt x="2399791" y="626110"/>
                  </a:lnTo>
                  <a:lnTo>
                    <a:pt x="2269650" y="427608"/>
                  </a:lnTo>
                  <a:close/>
                </a:path>
                <a:path w="3991609" h="634364">
                  <a:moveTo>
                    <a:pt x="2369439" y="187832"/>
                  </a:moveTo>
                  <a:lnTo>
                    <a:pt x="2246248" y="187832"/>
                  </a:lnTo>
                  <a:lnTo>
                    <a:pt x="2100198" y="355980"/>
                  </a:lnTo>
                  <a:lnTo>
                    <a:pt x="2222689" y="355980"/>
                  </a:lnTo>
                  <a:lnTo>
                    <a:pt x="2221356" y="353949"/>
                  </a:lnTo>
                  <a:lnTo>
                    <a:pt x="2369439" y="187832"/>
                  </a:lnTo>
                  <a:close/>
                </a:path>
                <a:path w="3991609" h="634364">
                  <a:moveTo>
                    <a:pt x="663955" y="0"/>
                  </a:moveTo>
                  <a:lnTo>
                    <a:pt x="559942" y="24511"/>
                  </a:lnTo>
                  <a:lnTo>
                    <a:pt x="559942" y="626110"/>
                  </a:lnTo>
                  <a:lnTo>
                    <a:pt x="663955" y="626110"/>
                  </a:lnTo>
                  <a:lnTo>
                    <a:pt x="663955" y="311403"/>
                  </a:lnTo>
                  <a:lnTo>
                    <a:pt x="670389" y="302879"/>
                  </a:lnTo>
                  <a:lnTo>
                    <a:pt x="713620" y="274161"/>
                  </a:lnTo>
                  <a:lnTo>
                    <a:pt x="751839" y="266445"/>
                  </a:lnTo>
                  <a:lnTo>
                    <a:pt x="928222" y="266445"/>
                  </a:lnTo>
                  <a:lnTo>
                    <a:pt x="920773" y="250557"/>
                  </a:lnTo>
                  <a:lnTo>
                    <a:pt x="900938" y="225298"/>
                  </a:lnTo>
                  <a:lnTo>
                    <a:pt x="888849" y="215645"/>
                  </a:lnTo>
                  <a:lnTo>
                    <a:pt x="663955" y="215645"/>
                  </a:lnTo>
                  <a:lnTo>
                    <a:pt x="663955" y="0"/>
                  </a:lnTo>
                  <a:close/>
                </a:path>
                <a:path w="3991609" h="634364">
                  <a:moveTo>
                    <a:pt x="928222" y="266445"/>
                  </a:moveTo>
                  <a:lnTo>
                    <a:pt x="751839" y="266445"/>
                  </a:lnTo>
                  <a:lnTo>
                    <a:pt x="771344" y="267971"/>
                  </a:lnTo>
                  <a:lnTo>
                    <a:pt x="788908" y="272557"/>
                  </a:lnTo>
                  <a:lnTo>
                    <a:pt x="829335" y="304242"/>
                  </a:lnTo>
                  <a:lnTo>
                    <a:pt x="843533" y="355980"/>
                  </a:lnTo>
                  <a:lnTo>
                    <a:pt x="843533" y="626110"/>
                  </a:lnTo>
                  <a:lnTo>
                    <a:pt x="946276" y="626110"/>
                  </a:lnTo>
                  <a:lnTo>
                    <a:pt x="946276" y="355980"/>
                  </a:lnTo>
                  <a:lnTo>
                    <a:pt x="943443" y="315934"/>
                  </a:lnTo>
                  <a:lnTo>
                    <a:pt x="934942" y="280781"/>
                  </a:lnTo>
                  <a:lnTo>
                    <a:pt x="928222" y="266445"/>
                  </a:lnTo>
                  <a:close/>
                </a:path>
                <a:path w="3991609" h="634364">
                  <a:moveTo>
                    <a:pt x="773176" y="179577"/>
                  </a:moveTo>
                  <a:lnTo>
                    <a:pt x="740269" y="181838"/>
                  </a:lnTo>
                  <a:lnTo>
                    <a:pt x="711088" y="188610"/>
                  </a:lnTo>
                  <a:lnTo>
                    <a:pt x="685647" y="199884"/>
                  </a:lnTo>
                  <a:lnTo>
                    <a:pt x="663955" y="215645"/>
                  </a:lnTo>
                  <a:lnTo>
                    <a:pt x="888849" y="215645"/>
                  </a:lnTo>
                  <a:lnTo>
                    <a:pt x="875885" y="205295"/>
                  </a:lnTo>
                  <a:lnTo>
                    <a:pt x="846248" y="191008"/>
                  </a:lnTo>
                  <a:lnTo>
                    <a:pt x="812016" y="182435"/>
                  </a:lnTo>
                  <a:lnTo>
                    <a:pt x="773176" y="179577"/>
                  </a:lnTo>
                  <a:close/>
                </a:path>
              </a:pathLst>
            </a:custGeom>
            <a:solidFill>
              <a:srgbClr val="90C2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01792" y="2954147"/>
              <a:ext cx="170306" cy="14833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76318" y="2544572"/>
              <a:ext cx="3991610" cy="634365"/>
            </a:xfrm>
            <a:custGeom>
              <a:avLst/>
              <a:gdLst/>
              <a:ahLst/>
              <a:cxnLst/>
              <a:rect l="l" t="t" r="r" b="b"/>
              <a:pathLst>
                <a:path w="3991609" h="634364">
                  <a:moveTo>
                    <a:pt x="3313810" y="263143"/>
                  </a:moveTo>
                  <a:lnTo>
                    <a:pt x="3270869" y="272557"/>
                  </a:lnTo>
                  <a:lnTo>
                    <a:pt x="3237737" y="300736"/>
                  </a:lnTo>
                  <a:lnTo>
                    <a:pt x="3216481" y="345900"/>
                  </a:lnTo>
                  <a:lnTo>
                    <a:pt x="3209416" y="406018"/>
                  </a:lnTo>
                  <a:lnTo>
                    <a:pt x="3215941" y="469360"/>
                  </a:lnTo>
                  <a:lnTo>
                    <a:pt x="3235515" y="514603"/>
                  </a:lnTo>
                  <a:lnTo>
                    <a:pt x="3268138" y="541750"/>
                  </a:lnTo>
                  <a:lnTo>
                    <a:pt x="3313810" y="550799"/>
                  </a:lnTo>
                  <a:lnTo>
                    <a:pt x="3336553" y="548461"/>
                  </a:lnTo>
                  <a:lnTo>
                    <a:pt x="3374515" y="529689"/>
                  </a:lnTo>
                  <a:lnTo>
                    <a:pt x="3402018" y="492369"/>
                  </a:lnTo>
                  <a:lnTo>
                    <a:pt x="3416063" y="438786"/>
                  </a:lnTo>
                  <a:lnTo>
                    <a:pt x="3417824" y="406018"/>
                  </a:lnTo>
                  <a:lnTo>
                    <a:pt x="3411323" y="343511"/>
                  </a:lnTo>
                  <a:lnTo>
                    <a:pt x="3391820" y="298862"/>
                  </a:lnTo>
                  <a:lnTo>
                    <a:pt x="3359316" y="272073"/>
                  </a:lnTo>
                  <a:lnTo>
                    <a:pt x="3313810" y="263143"/>
                  </a:lnTo>
                  <a:close/>
                </a:path>
                <a:path w="3991609" h="634364">
                  <a:moveTo>
                    <a:pt x="3606419" y="187832"/>
                  </a:moveTo>
                  <a:lnTo>
                    <a:pt x="3708780" y="187832"/>
                  </a:lnTo>
                  <a:lnTo>
                    <a:pt x="3708780" y="464438"/>
                  </a:lnTo>
                  <a:lnTo>
                    <a:pt x="3713499" y="501350"/>
                  </a:lnTo>
                  <a:lnTo>
                    <a:pt x="3727672" y="527700"/>
                  </a:lnTo>
                  <a:lnTo>
                    <a:pt x="3751322" y="543502"/>
                  </a:lnTo>
                  <a:lnTo>
                    <a:pt x="3784473" y="548766"/>
                  </a:lnTo>
                  <a:lnTo>
                    <a:pt x="3801574" y="547647"/>
                  </a:lnTo>
                  <a:lnTo>
                    <a:pt x="3849115" y="530860"/>
                  </a:lnTo>
                  <a:lnTo>
                    <a:pt x="3882673" y="500552"/>
                  </a:lnTo>
                  <a:lnTo>
                    <a:pt x="3888866" y="489076"/>
                  </a:lnTo>
                  <a:lnTo>
                    <a:pt x="3888866" y="187832"/>
                  </a:lnTo>
                  <a:lnTo>
                    <a:pt x="3991102" y="187832"/>
                  </a:lnTo>
                  <a:lnTo>
                    <a:pt x="3991102" y="626617"/>
                  </a:lnTo>
                  <a:lnTo>
                    <a:pt x="3888866" y="626617"/>
                  </a:lnTo>
                  <a:lnTo>
                    <a:pt x="3888866" y="589788"/>
                  </a:lnTo>
                  <a:lnTo>
                    <a:pt x="3876984" y="598620"/>
                  </a:lnTo>
                  <a:lnTo>
                    <a:pt x="3829050" y="621283"/>
                  </a:lnTo>
                  <a:lnTo>
                    <a:pt x="3775436" y="633535"/>
                  </a:lnTo>
                  <a:lnTo>
                    <a:pt x="3759073" y="634364"/>
                  </a:lnTo>
                  <a:lnTo>
                    <a:pt x="3712443" y="629857"/>
                  </a:lnTo>
                  <a:lnTo>
                    <a:pt x="3674284" y="616340"/>
                  </a:lnTo>
                  <a:lnTo>
                    <a:pt x="3623389" y="562304"/>
                  </a:lnTo>
                  <a:lnTo>
                    <a:pt x="3610662" y="521799"/>
                  </a:lnTo>
                  <a:lnTo>
                    <a:pt x="3606419" y="472313"/>
                  </a:lnTo>
                  <a:lnTo>
                    <a:pt x="3606419" y="187832"/>
                  </a:lnTo>
                  <a:close/>
                </a:path>
                <a:path w="3991609" h="634364">
                  <a:moveTo>
                    <a:pt x="3313810" y="179577"/>
                  </a:moveTo>
                  <a:lnTo>
                    <a:pt x="3360937" y="183364"/>
                  </a:lnTo>
                  <a:lnTo>
                    <a:pt x="3402504" y="194722"/>
                  </a:lnTo>
                  <a:lnTo>
                    <a:pt x="3438523" y="213653"/>
                  </a:lnTo>
                  <a:lnTo>
                    <a:pt x="3469004" y="240156"/>
                  </a:lnTo>
                  <a:lnTo>
                    <a:pt x="3493174" y="273234"/>
                  </a:lnTo>
                  <a:lnTo>
                    <a:pt x="3510438" y="311896"/>
                  </a:lnTo>
                  <a:lnTo>
                    <a:pt x="3520797" y="356153"/>
                  </a:lnTo>
                  <a:lnTo>
                    <a:pt x="3524250" y="406018"/>
                  </a:lnTo>
                  <a:lnTo>
                    <a:pt x="3520725" y="455715"/>
                  </a:lnTo>
                  <a:lnTo>
                    <a:pt x="3510153" y="500030"/>
                  </a:lnTo>
                  <a:lnTo>
                    <a:pt x="3492531" y="538964"/>
                  </a:lnTo>
                  <a:lnTo>
                    <a:pt x="3467861" y="572515"/>
                  </a:lnTo>
                  <a:lnTo>
                    <a:pt x="3437165" y="599592"/>
                  </a:lnTo>
                  <a:lnTo>
                    <a:pt x="3401266" y="618918"/>
                  </a:lnTo>
                  <a:lnTo>
                    <a:pt x="3360152" y="630505"/>
                  </a:lnTo>
                  <a:lnTo>
                    <a:pt x="3313810" y="634364"/>
                  </a:lnTo>
                  <a:lnTo>
                    <a:pt x="3266664" y="630459"/>
                  </a:lnTo>
                  <a:lnTo>
                    <a:pt x="3225053" y="618743"/>
                  </a:lnTo>
                  <a:lnTo>
                    <a:pt x="3188991" y="599217"/>
                  </a:lnTo>
                  <a:lnTo>
                    <a:pt x="3158489" y="571880"/>
                  </a:lnTo>
                  <a:lnTo>
                    <a:pt x="3134227" y="538142"/>
                  </a:lnTo>
                  <a:lnTo>
                    <a:pt x="3116881" y="499236"/>
                  </a:lnTo>
                  <a:lnTo>
                    <a:pt x="3106465" y="455187"/>
                  </a:lnTo>
                  <a:lnTo>
                    <a:pt x="3102990" y="406018"/>
                  </a:lnTo>
                  <a:lnTo>
                    <a:pt x="3106610" y="358175"/>
                  </a:lnTo>
                  <a:lnTo>
                    <a:pt x="3117468" y="315023"/>
                  </a:lnTo>
                  <a:lnTo>
                    <a:pt x="3135566" y="276538"/>
                  </a:lnTo>
                  <a:lnTo>
                    <a:pt x="3160903" y="242697"/>
                  </a:lnTo>
                  <a:lnTo>
                    <a:pt x="3192188" y="215100"/>
                  </a:lnTo>
                  <a:lnTo>
                    <a:pt x="3228117" y="195373"/>
                  </a:lnTo>
                  <a:lnTo>
                    <a:pt x="3268666" y="183528"/>
                  </a:lnTo>
                  <a:lnTo>
                    <a:pt x="3313810" y="179577"/>
                  </a:lnTo>
                  <a:close/>
                </a:path>
                <a:path w="3991609" h="634364">
                  <a:moveTo>
                    <a:pt x="1718944" y="179577"/>
                  </a:moveTo>
                  <a:lnTo>
                    <a:pt x="1788953" y="191293"/>
                  </a:lnTo>
                  <a:lnTo>
                    <a:pt x="1842389" y="226440"/>
                  </a:lnTo>
                  <a:lnTo>
                    <a:pt x="1876282" y="282606"/>
                  </a:lnTo>
                  <a:lnTo>
                    <a:pt x="1887601" y="357250"/>
                  </a:lnTo>
                  <a:lnTo>
                    <a:pt x="1887601" y="626110"/>
                  </a:lnTo>
                  <a:lnTo>
                    <a:pt x="1785239" y="626110"/>
                  </a:lnTo>
                  <a:lnTo>
                    <a:pt x="1785239" y="372872"/>
                  </a:lnTo>
                  <a:lnTo>
                    <a:pt x="1783903" y="346678"/>
                  </a:lnTo>
                  <a:lnTo>
                    <a:pt x="1773183" y="305720"/>
                  </a:lnTo>
                  <a:lnTo>
                    <a:pt x="1735486" y="271637"/>
                  </a:lnTo>
                  <a:lnTo>
                    <a:pt x="1693671" y="265175"/>
                  </a:lnTo>
                  <a:lnTo>
                    <a:pt x="1682168" y="265963"/>
                  </a:lnTo>
                  <a:lnTo>
                    <a:pt x="1645539" y="277875"/>
                  </a:lnTo>
                  <a:lnTo>
                    <a:pt x="1613517" y="300343"/>
                  </a:lnTo>
                  <a:lnTo>
                    <a:pt x="1605660" y="309372"/>
                  </a:lnTo>
                  <a:lnTo>
                    <a:pt x="1605660" y="626110"/>
                  </a:lnTo>
                  <a:lnTo>
                    <a:pt x="1503298" y="626110"/>
                  </a:lnTo>
                  <a:lnTo>
                    <a:pt x="1503298" y="187832"/>
                  </a:lnTo>
                  <a:lnTo>
                    <a:pt x="1576958" y="187832"/>
                  </a:lnTo>
                  <a:lnTo>
                    <a:pt x="1595754" y="228726"/>
                  </a:lnTo>
                  <a:lnTo>
                    <a:pt x="1619164" y="207224"/>
                  </a:lnTo>
                  <a:lnTo>
                    <a:pt x="1647491" y="191865"/>
                  </a:lnTo>
                  <a:lnTo>
                    <a:pt x="1680747" y="182649"/>
                  </a:lnTo>
                  <a:lnTo>
                    <a:pt x="1718944" y="179577"/>
                  </a:lnTo>
                  <a:close/>
                </a:path>
                <a:path w="3991609" h="634364">
                  <a:moveTo>
                    <a:pt x="1199260" y="179577"/>
                  </a:moveTo>
                  <a:lnTo>
                    <a:pt x="1246024" y="182435"/>
                  </a:lnTo>
                  <a:lnTo>
                    <a:pt x="1286097" y="191008"/>
                  </a:lnTo>
                  <a:lnTo>
                    <a:pt x="1346072" y="225298"/>
                  </a:lnTo>
                  <a:lnTo>
                    <a:pt x="1381109" y="291290"/>
                  </a:lnTo>
                  <a:lnTo>
                    <a:pt x="1389882" y="339615"/>
                  </a:lnTo>
                  <a:lnTo>
                    <a:pt x="1392808" y="398144"/>
                  </a:lnTo>
                  <a:lnTo>
                    <a:pt x="1392808" y="491870"/>
                  </a:lnTo>
                  <a:lnTo>
                    <a:pt x="1395001" y="531614"/>
                  </a:lnTo>
                  <a:lnTo>
                    <a:pt x="1401587" y="563213"/>
                  </a:lnTo>
                  <a:lnTo>
                    <a:pt x="1412579" y="586668"/>
                  </a:lnTo>
                  <a:lnTo>
                    <a:pt x="1427988" y="601979"/>
                  </a:lnTo>
                  <a:lnTo>
                    <a:pt x="1421439" y="611979"/>
                  </a:lnTo>
                  <a:lnTo>
                    <a:pt x="1383093" y="633063"/>
                  </a:lnTo>
                  <a:lnTo>
                    <a:pt x="1364106" y="634364"/>
                  </a:lnTo>
                  <a:lnTo>
                    <a:pt x="1353343" y="633341"/>
                  </a:lnTo>
                  <a:lnTo>
                    <a:pt x="1316360" y="609621"/>
                  </a:lnTo>
                  <a:lnTo>
                    <a:pt x="1300733" y="582422"/>
                  </a:lnTo>
                  <a:lnTo>
                    <a:pt x="1292475" y="593328"/>
                  </a:lnTo>
                  <a:lnTo>
                    <a:pt x="1252219" y="619760"/>
                  </a:lnTo>
                  <a:lnTo>
                    <a:pt x="1198606" y="633458"/>
                  </a:lnTo>
                  <a:lnTo>
                    <a:pt x="1179956" y="634364"/>
                  </a:lnTo>
                  <a:lnTo>
                    <a:pt x="1146428" y="632150"/>
                  </a:lnTo>
                  <a:lnTo>
                    <a:pt x="1090802" y="614433"/>
                  </a:lnTo>
                  <a:lnTo>
                    <a:pt x="1050942" y="579377"/>
                  </a:lnTo>
                  <a:lnTo>
                    <a:pt x="1030610" y="529173"/>
                  </a:lnTo>
                  <a:lnTo>
                    <a:pt x="1028064" y="498475"/>
                  </a:lnTo>
                  <a:lnTo>
                    <a:pt x="1031636" y="462466"/>
                  </a:lnTo>
                  <a:lnTo>
                    <a:pt x="1060211" y="402927"/>
                  </a:lnTo>
                  <a:lnTo>
                    <a:pt x="1116790" y="360586"/>
                  </a:lnTo>
                  <a:lnTo>
                    <a:pt x="1154366" y="347170"/>
                  </a:lnTo>
                  <a:lnTo>
                    <a:pt x="1197943" y="339111"/>
                  </a:lnTo>
                  <a:lnTo>
                    <a:pt x="1247520" y="336423"/>
                  </a:lnTo>
                  <a:lnTo>
                    <a:pt x="1256901" y="336803"/>
                  </a:lnTo>
                  <a:lnTo>
                    <a:pt x="1267126" y="337946"/>
                  </a:lnTo>
                  <a:lnTo>
                    <a:pt x="1278185" y="339851"/>
                  </a:lnTo>
                  <a:lnTo>
                    <a:pt x="1290065" y="342518"/>
                  </a:lnTo>
                  <a:lnTo>
                    <a:pt x="1283948" y="308681"/>
                  </a:lnTo>
                  <a:lnTo>
                    <a:pt x="1265602" y="284511"/>
                  </a:lnTo>
                  <a:lnTo>
                    <a:pt x="1235041" y="270009"/>
                  </a:lnTo>
                  <a:lnTo>
                    <a:pt x="1192276" y="265175"/>
                  </a:lnTo>
                  <a:lnTo>
                    <a:pt x="1164584" y="266368"/>
                  </a:lnTo>
                  <a:lnTo>
                    <a:pt x="1139237" y="269954"/>
                  </a:lnTo>
                  <a:lnTo>
                    <a:pt x="1116248" y="275945"/>
                  </a:lnTo>
                  <a:lnTo>
                    <a:pt x="1095628" y="284352"/>
                  </a:lnTo>
                  <a:lnTo>
                    <a:pt x="1073530" y="204977"/>
                  </a:lnTo>
                  <a:lnTo>
                    <a:pt x="1101177" y="193883"/>
                  </a:lnTo>
                  <a:lnTo>
                    <a:pt x="1131347" y="185943"/>
                  </a:lnTo>
                  <a:lnTo>
                    <a:pt x="1164042" y="181171"/>
                  </a:lnTo>
                  <a:lnTo>
                    <a:pt x="1199260" y="179577"/>
                  </a:lnTo>
                  <a:close/>
                </a:path>
                <a:path w="3991609" h="634364">
                  <a:moveTo>
                    <a:pt x="2641091" y="26542"/>
                  </a:moveTo>
                  <a:lnTo>
                    <a:pt x="2754122" y="26542"/>
                  </a:lnTo>
                  <a:lnTo>
                    <a:pt x="2896107" y="282320"/>
                  </a:lnTo>
                  <a:lnTo>
                    <a:pt x="3038475" y="26542"/>
                  </a:lnTo>
                  <a:lnTo>
                    <a:pt x="3151124" y="26542"/>
                  </a:lnTo>
                  <a:lnTo>
                    <a:pt x="2949702" y="380238"/>
                  </a:lnTo>
                  <a:lnTo>
                    <a:pt x="2949702" y="626110"/>
                  </a:lnTo>
                  <a:lnTo>
                    <a:pt x="2843276" y="626110"/>
                  </a:lnTo>
                  <a:lnTo>
                    <a:pt x="2843276" y="380238"/>
                  </a:lnTo>
                  <a:lnTo>
                    <a:pt x="2641091" y="26542"/>
                  </a:lnTo>
                  <a:close/>
                </a:path>
                <a:path w="3991609" h="634364">
                  <a:moveTo>
                    <a:pt x="0" y="26542"/>
                  </a:moveTo>
                  <a:lnTo>
                    <a:pt x="496569" y="26542"/>
                  </a:lnTo>
                  <a:lnTo>
                    <a:pt x="496569" y="121157"/>
                  </a:lnTo>
                  <a:lnTo>
                    <a:pt x="297179" y="121157"/>
                  </a:lnTo>
                  <a:lnTo>
                    <a:pt x="297179" y="626110"/>
                  </a:lnTo>
                  <a:lnTo>
                    <a:pt x="190753" y="626110"/>
                  </a:lnTo>
                  <a:lnTo>
                    <a:pt x="190753" y="121157"/>
                  </a:lnTo>
                  <a:lnTo>
                    <a:pt x="0" y="121157"/>
                  </a:lnTo>
                  <a:lnTo>
                    <a:pt x="0" y="26542"/>
                  </a:lnTo>
                  <a:close/>
                </a:path>
                <a:path w="3991609" h="634364">
                  <a:moveTo>
                    <a:pt x="2100198" y="0"/>
                  </a:moveTo>
                  <a:lnTo>
                    <a:pt x="2100198" y="355980"/>
                  </a:lnTo>
                  <a:lnTo>
                    <a:pt x="2246248" y="187832"/>
                  </a:lnTo>
                  <a:lnTo>
                    <a:pt x="2369439" y="187832"/>
                  </a:lnTo>
                  <a:lnTo>
                    <a:pt x="2221356" y="353949"/>
                  </a:lnTo>
                  <a:lnTo>
                    <a:pt x="2399791" y="626110"/>
                  </a:lnTo>
                  <a:lnTo>
                    <a:pt x="2278253" y="626110"/>
                  </a:lnTo>
                  <a:lnTo>
                    <a:pt x="2149220" y="427608"/>
                  </a:lnTo>
                  <a:lnTo>
                    <a:pt x="2100198" y="479678"/>
                  </a:lnTo>
                  <a:lnTo>
                    <a:pt x="2100198" y="626110"/>
                  </a:lnTo>
                  <a:lnTo>
                    <a:pt x="1997836" y="626110"/>
                  </a:lnTo>
                  <a:lnTo>
                    <a:pt x="1997836" y="24511"/>
                  </a:lnTo>
                  <a:lnTo>
                    <a:pt x="2100198" y="0"/>
                  </a:lnTo>
                  <a:close/>
                </a:path>
                <a:path w="3991609" h="634364">
                  <a:moveTo>
                    <a:pt x="663955" y="0"/>
                  </a:moveTo>
                  <a:lnTo>
                    <a:pt x="663955" y="215645"/>
                  </a:lnTo>
                  <a:lnTo>
                    <a:pt x="685647" y="199884"/>
                  </a:lnTo>
                  <a:lnTo>
                    <a:pt x="711088" y="188610"/>
                  </a:lnTo>
                  <a:lnTo>
                    <a:pt x="740269" y="181838"/>
                  </a:lnTo>
                  <a:lnTo>
                    <a:pt x="773176" y="179577"/>
                  </a:lnTo>
                  <a:lnTo>
                    <a:pt x="812016" y="182435"/>
                  </a:lnTo>
                  <a:lnTo>
                    <a:pt x="875885" y="205295"/>
                  </a:lnTo>
                  <a:lnTo>
                    <a:pt x="920773" y="250557"/>
                  </a:lnTo>
                  <a:lnTo>
                    <a:pt x="943443" y="315934"/>
                  </a:lnTo>
                  <a:lnTo>
                    <a:pt x="946276" y="355980"/>
                  </a:lnTo>
                  <a:lnTo>
                    <a:pt x="946276" y="626110"/>
                  </a:lnTo>
                  <a:lnTo>
                    <a:pt x="843533" y="626110"/>
                  </a:lnTo>
                  <a:lnTo>
                    <a:pt x="843533" y="355980"/>
                  </a:lnTo>
                  <a:lnTo>
                    <a:pt x="841960" y="336766"/>
                  </a:lnTo>
                  <a:lnTo>
                    <a:pt x="818260" y="290956"/>
                  </a:lnTo>
                  <a:lnTo>
                    <a:pt x="771344" y="267971"/>
                  </a:lnTo>
                  <a:lnTo>
                    <a:pt x="751839" y="266445"/>
                  </a:lnTo>
                  <a:lnTo>
                    <a:pt x="739147" y="267303"/>
                  </a:lnTo>
                  <a:lnTo>
                    <a:pt x="700785" y="280162"/>
                  </a:lnTo>
                  <a:lnTo>
                    <a:pt x="663955" y="311403"/>
                  </a:lnTo>
                  <a:lnTo>
                    <a:pt x="663955" y="626110"/>
                  </a:lnTo>
                  <a:lnTo>
                    <a:pt x="559942" y="626110"/>
                  </a:lnTo>
                  <a:lnTo>
                    <a:pt x="559942" y="24511"/>
                  </a:lnTo>
                  <a:lnTo>
                    <a:pt x="663955" y="0"/>
                  </a:lnTo>
                  <a:close/>
                </a:path>
              </a:pathLst>
            </a:custGeom>
            <a:ln w="990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/>
          <p:nvPr/>
        </p:nvSpPr>
        <p:spPr>
          <a:xfrm>
            <a:off x="2522601" y="5803010"/>
            <a:ext cx="7141845" cy="131445"/>
          </a:xfrm>
          <a:custGeom>
            <a:avLst/>
            <a:gdLst/>
            <a:ahLst/>
            <a:cxnLst/>
            <a:rect l="l" t="t" r="r" b="b"/>
            <a:pathLst>
              <a:path w="7141845" h="131445">
                <a:moveTo>
                  <a:pt x="0" y="131063"/>
                </a:moveTo>
                <a:lnTo>
                  <a:pt x="7141464" y="131063"/>
                </a:lnTo>
                <a:lnTo>
                  <a:pt x="7141464" y="0"/>
                </a:lnTo>
                <a:lnTo>
                  <a:pt x="0" y="0"/>
                </a:lnTo>
                <a:lnTo>
                  <a:pt x="0" y="131063"/>
                </a:lnTo>
                <a:close/>
              </a:path>
            </a:pathLst>
          </a:custGeom>
          <a:ln w="19050">
            <a:solidFill>
              <a:srgbClr val="395009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Prakamya Verma</dc:creator>
  <dcterms:created xsi:type="dcterms:W3CDTF">2026-02-15T15:43:09Z</dcterms:created>
  <dcterms:modified xsi:type="dcterms:W3CDTF">2026-02-15T15:43:09Z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Created" pid="2">
    <vt:filetime>2026-02-15T00:00:00Z</vt:filetime>
  </property>
  <property fmtid="{D5CDD505-2E9C-101B-9397-08002B2CF9AE}" name="Creator" pid="3">
    <vt:lpwstr>Microsoft® PowerPoint® 2019</vt:lpwstr>
  </property>
  <property fmtid="{D5CDD505-2E9C-101B-9397-08002B2CF9AE}" name="LastSaved" pid="4">
    <vt:filetime>2026-02-15T00:00:00Z</vt:filetime>
  </property>
  <property fmtid="{D5CDD505-2E9C-101B-9397-08002B2CF9AE}" name="NXPowerLiteLastOptimized" pid="5">
    <vt:lpwstr>562570</vt:lpwstr>
  </property>
  <property fmtid="{D5CDD505-2E9C-101B-9397-08002B2CF9AE}" name="NXPowerLiteSettings" pid="6">
    <vt:lpwstr>F7000400038000</vt:lpwstr>
  </property>
  <property fmtid="{D5CDD505-2E9C-101B-9397-08002B2CF9AE}" name="NXPowerLiteVersion" pid="7">
    <vt:lpwstr>S10.9.5</vt:lpwstr>
  </property>
  <property fmtid="{D5CDD505-2E9C-101B-9397-08002B2CF9AE}" name="Producer" pid="8">
    <vt:lpwstr>Adobe PDF Services</vt:lpwstr>
  </property>
</Properties>
</file>